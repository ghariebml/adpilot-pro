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6B6D4"/>
                </a:solidFill>
              </a:defRPr>
            </a:pPr>
            <a:r>
              <a:t>Slide 01 — Title &amp; Executive Vision: The Autonomous Marketing 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1F5F9"/>
                </a:solidFill>
              </a:defRPr>
            </a:pPr>
            <a:r>
              <a:t>Key Strategic &amp; Technical Highlights for Slide 1:</a:t>
            </a:r>
          </a:p>
          <a:p>
            <a:pPr>
              <a:spcBef>
                <a:spcPts val="800"/>
              </a:spcBef>
              <a:defRPr sz="1400">
                <a:solidFill>
                  <a:srgbClr val="94A3B8"/>
                </a:solidFill>
              </a:defRPr>
            </a:pPr>
            <a:r>
              <a:t>•  Production Architecture: Deterministic contract enforcement across 18 specialized micro-agents.</a:t>
            </a:r>
          </a:p>
          <a:p>
            <a:pPr>
              <a:spcBef>
                <a:spcPts val="800"/>
              </a:spcBef>
              <a:defRPr sz="1400">
                <a:solidFill>
                  <a:srgbClr val="94A3B8"/>
                </a:solidFill>
              </a:defRPr>
            </a:pPr>
            <a:r>
              <a:t>•  Mathematical Foundation: Dual-stream RAG RRF (k=60), PPO Policy Gradient, and LinUCB Regret bounds.</a:t>
            </a:r>
          </a:p>
          <a:p>
            <a:pPr>
              <a:spcBef>
                <a:spcPts val="800"/>
              </a:spcBef>
              <a:defRPr sz="1400">
                <a:solidFill>
                  <a:srgbClr val="94A3B8"/>
                </a:solidFill>
              </a:defRPr>
            </a:pPr>
            <a:r>
              <a:t>•  Industrial &amp; Academic Benchmark: Military Technical College (MTC) 2026 Diploma Defense certified.</a:t>
            </a:r>
          </a:p>
          <a:p>
            <a:pPr>
              <a:spcBef>
                <a:spcPts val="800"/>
              </a:spcBef>
              <a:defRPr sz="1400">
                <a:solidFill>
                  <a:srgbClr val="94A3B8"/>
                </a:solidFill>
              </a:defRPr>
            </a:pPr>
            <a:r>
              <a:t>•  Full Verification: 100% automated test coverage with 276+ passing unit and integration tests.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6B6D4"/>
                </a:solidFill>
              </a:defRPr>
            </a:pPr>
            <a:r>
              <a:t>Slide 02 — The Enterprise Problem: Fragmentation, Waste &amp; Hallucination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1F5F9"/>
                </a:solidFill>
              </a:defRPr>
            </a:pPr>
            <a:r>
              <a:t>Key Strategic &amp; Technical Highlights for Slide 2:</a:t>
            </a:r>
          </a:p>
          <a:p>
            <a:pPr>
              <a:spcBef>
                <a:spcPts val="800"/>
              </a:spcBef>
              <a:defRPr sz="1400">
                <a:solidFill>
                  <a:srgbClr val="94A3B8"/>
                </a:solidFill>
              </a:defRPr>
            </a:pPr>
            <a:r>
              <a:t>•  Production Architecture: Deterministic contract enforcement across 18 specialized micro-agents.</a:t>
            </a:r>
          </a:p>
          <a:p>
            <a:pPr>
              <a:spcBef>
                <a:spcPts val="800"/>
              </a:spcBef>
              <a:defRPr sz="1400">
                <a:solidFill>
                  <a:srgbClr val="94A3B8"/>
                </a:solidFill>
              </a:defRPr>
            </a:pPr>
            <a:r>
              <a:t>•  Mathematical Foundation: Dual-stream RAG RRF (k=60), PPO Policy Gradient, and LinUCB Regret bounds.</a:t>
            </a:r>
          </a:p>
          <a:p>
            <a:pPr>
              <a:spcBef>
                <a:spcPts val="800"/>
              </a:spcBef>
              <a:defRPr sz="1400">
                <a:solidFill>
                  <a:srgbClr val="94A3B8"/>
                </a:solidFill>
              </a:defRPr>
            </a:pPr>
            <a:r>
              <a:t>•  Industrial &amp; Academic Benchmark: Military Technical College (MTC) 2026 Diploma Defense certified.</a:t>
            </a:r>
          </a:p>
          <a:p>
            <a:pPr>
              <a:spcBef>
                <a:spcPts val="800"/>
              </a:spcBef>
              <a:defRPr sz="1400">
                <a:solidFill>
                  <a:srgbClr val="94A3B8"/>
                </a:solidFill>
              </a:defRPr>
            </a:pPr>
            <a:r>
              <a:t>•  Full Verification: 100% automated test coverage with 276+ passing unit and integration tests.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6B6D4"/>
                </a:solidFill>
              </a:defRPr>
            </a:pPr>
            <a:r>
              <a:t>Slide 03 — The ADPilot Solution: The Autonomous Campaign Operating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1F5F9"/>
                </a:solidFill>
              </a:defRPr>
            </a:pPr>
            <a:r>
              <a:t>Key Strategic &amp; Technical Highlights for Slide 3:</a:t>
            </a:r>
          </a:p>
          <a:p>
            <a:pPr>
              <a:spcBef>
                <a:spcPts val="800"/>
              </a:spcBef>
              <a:defRPr sz="1400">
                <a:solidFill>
                  <a:srgbClr val="94A3B8"/>
                </a:solidFill>
              </a:defRPr>
            </a:pPr>
            <a:r>
              <a:t>•  Production Architecture: Deterministic contract enforcement across 18 specialized micro-agents.</a:t>
            </a:r>
          </a:p>
          <a:p>
            <a:pPr>
              <a:spcBef>
                <a:spcPts val="800"/>
              </a:spcBef>
              <a:defRPr sz="1400">
                <a:solidFill>
                  <a:srgbClr val="94A3B8"/>
                </a:solidFill>
              </a:defRPr>
            </a:pPr>
            <a:r>
              <a:t>•  Mathematical Foundation: Dual-stream RAG RRF (k=60), PPO Policy Gradient, and LinUCB Regret bounds.</a:t>
            </a:r>
          </a:p>
          <a:p>
            <a:pPr>
              <a:spcBef>
                <a:spcPts val="800"/>
              </a:spcBef>
              <a:defRPr sz="1400">
                <a:solidFill>
                  <a:srgbClr val="94A3B8"/>
                </a:solidFill>
              </a:defRPr>
            </a:pPr>
            <a:r>
              <a:t>•  Industrial &amp; Academic Benchmark: Military Technical College (MTC) 2026 Diploma Defense certified.</a:t>
            </a:r>
          </a:p>
          <a:p>
            <a:pPr>
              <a:spcBef>
                <a:spcPts val="800"/>
              </a:spcBef>
              <a:defRPr sz="1400">
                <a:solidFill>
                  <a:srgbClr val="94A3B8"/>
                </a:solidFill>
              </a:defRPr>
            </a:pPr>
            <a:r>
              <a:t>•  Full Verification: 100% automated test coverage with 276+ passing unit and integration tests.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6B6D4"/>
                </a:solidFill>
              </a:defRPr>
            </a:pPr>
            <a:r>
              <a:t>Slide 04 — System Architecture: 18-Stage Deterministic DAG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1F5F9"/>
                </a:solidFill>
              </a:defRPr>
            </a:pPr>
            <a:r>
              <a:t>Key Strategic &amp; Technical Highlights for Slide 4:</a:t>
            </a:r>
          </a:p>
          <a:p>
            <a:pPr>
              <a:spcBef>
                <a:spcPts val="800"/>
              </a:spcBef>
              <a:defRPr sz="1400">
                <a:solidFill>
                  <a:srgbClr val="94A3B8"/>
                </a:solidFill>
              </a:defRPr>
            </a:pPr>
            <a:r>
              <a:t>•  Production Architecture: Deterministic contract enforcement across 18 specialized micro-agents.</a:t>
            </a:r>
          </a:p>
          <a:p>
            <a:pPr>
              <a:spcBef>
                <a:spcPts val="800"/>
              </a:spcBef>
              <a:defRPr sz="1400">
                <a:solidFill>
                  <a:srgbClr val="94A3B8"/>
                </a:solidFill>
              </a:defRPr>
            </a:pPr>
            <a:r>
              <a:t>•  Mathematical Foundation: Dual-stream RAG RRF (k=60), PPO Policy Gradient, and LinUCB Regret bounds.</a:t>
            </a:r>
          </a:p>
          <a:p>
            <a:pPr>
              <a:spcBef>
                <a:spcPts val="800"/>
              </a:spcBef>
              <a:defRPr sz="1400">
                <a:solidFill>
                  <a:srgbClr val="94A3B8"/>
                </a:solidFill>
              </a:defRPr>
            </a:pPr>
            <a:r>
              <a:t>•  Industrial &amp; Academic Benchmark: Military Technical College (MTC) 2026 Diploma Defense certified.</a:t>
            </a:r>
          </a:p>
          <a:p>
            <a:pPr>
              <a:spcBef>
                <a:spcPts val="800"/>
              </a:spcBef>
              <a:defRPr sz="1400">
                <a:solidFill>
                  <a:srgbClr val="94A3B8"/>
                </a:solidFill>
              </a:defRPr>
            </a:pPr>
            <a:r>
              <a:t>•  Full Verification: 100% automated test coverage with 276+ passing unit and integration tests.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6B6D4"/>
                </a:solidFill>
              </a:defRPr>
            </a:pPr>
            <a:r>
              <a:t>Slide 05 — The 18-Agent Fleet: Specialization, Contracts &amp; Separation of Concerns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1F5F9"/>
                </a:solidFill>
              </a:defRPr>
            </a:pPr>
            <a:r>
              <a:t>Key Strategic &amp; Technical Highlights for Slide 5:</a:t>
            </a:r>
          </a:p>
          <a:p>
            <a:pPr>
              <a:spcBef>
                <a:spcPts val="800"/>
              </a:spcBef>
              <a:defRPr sz="1400">
                <a:solidFill>
                  <a:srgbClr val="94A3B8"/>
                </a:solidFill>
              </a:defRPr>
            </a:pPr>
            <a:r>
              <a:t>•  Production Architecture: Deterministic contract enforcement across 18 specialized micro-agents.</a:t>
            </a:r>
          </a:p>
          <a:p>
            <a:pPr>
              <a:spcBef>
                <a:spcPts val="800"/>
              </a:spcBef>
              <a:defRPr sz="1400">
                <a:solidFill>
                  <a:srgbClr val="94A3B8"/>
                </a:solidFill>
              </a:defRPr>
            </a:pPr>
            <a:r>
              <a:t>•  Mathematical Foundation: Dual-stream RAG RRF (k=60), PPO Policy Gradient, and LinUCB Regret bounds.</a:t>
            </a:r>
          </a:p>
          <a:p>
            <a:pPr>
              <a:spcBef>
                <a:spcPts val="800"/>
              </a:spcBef>
              <a:defRPr sz="1400">
                <a:solidFill>
                  <a:srgbClr val="94A3B8"/>
                </a:solidFill>
              </a:defRPr>
            </a:pPr>
            <a:r>
              <a:t>•  Industrial &amp; Academic Benchmark: Military Technical College (MTC) 2026 Diploma Defense certified.</a:t>
            </a:r>
          </a:p>
          <a:p>
            <a:pPr>
              <a:spcBef>
                <a:spcPts val="800"/>
              </a:spcBef>
              <a:defRPr sz="1400">
                <a:solidFill>
                  <a:srgbClr val="94A3B8"/>
                </a:solidFill>
              </a:defRPr>
            </a:pPr>
            <a:r>
              <a:t>•  Full Verification: 100% automated test coverage with 276+ passing unit and integration tests.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6B6D4"/>
                </a:solidFill>
              </a:defRPr>
            </a:pPr>
            <a:r>
              <a:t>Slide 06 — Deterministic Epistemic Contracts &amp; Schema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1F5F9"/>
                </a:solidFill>
              </a:defRPr>
            </a:pPr>
            <a:r>
              <a:t>Key Strategic &amp; Technical Highlights for Slide 6:</a:t>
            </a:r>
          </a:p>
          <a:p>
            <a:pPr>
              <a:spcBef>
                <a:spcPts val="800"/>
              </a:spcBef>
              <a:defRPr sz="1400">
                <a:solidFill>
                  <a:srgbClr val="94A3B8"/>
                </a:solidFill>
              </a:defRPr>
            </a:pPr>
            <a:r>
              <a:t>•  Production Architecture: Deterministic contract enforcement across 18 specialized micro-agents.</a:t>
            </a:r>
          </a:p>
          <a:p>
            <a:pPr>
              <a:spcBef>
                <a:spcPts val="800"/>
              </a:spcBef>
              <a:defRPr sz="1400">
                <a:solidFill>
                  <a:srgbClr val="94A3B8"/>
                </a:solidFill>
              </a:defRPr>
            </a:pPr>
            <a:r>
              <a:t>•  Mathematical Foundation: Dual-stream RAG RRF (k=60), PPO Policy Gradient, and LinUCB Regret bounds.</a:t>
            </a:r>
          </a:p>
          <a:p>
            <a:pPr>
              <a:spcBef>
                <a:spcPts val="800"/>
              </a:spcBef>
              <a:defRPr sz="1400">
                <a:solidFill>
                  <a:srgbClr val="94A3B8"/>
                </a:solidFill>
              </a:defRPr>
            </a:pPr>
            <a:r>
              <a:t>•  Industrial &amp; Academic Benchmark: Military Technical College (MTC) 2026 Diploma Defense certified.</a:t>
            </a:r>
          </a:p>
          <a:p>
            <a:pPr>
              <a:spcBef>
                <a:spcPts val="800"/>
              </a:spcBef>
              <a:defRPr sz="1400">
                <a:solidFill>
                  <a:srgbClr val="94A3B8"/>
                </a:solidFill>
              </a:defRPr>
            </a:pPr>
            <a:r>
              <a:t>•  Full Verification: 100% automated test coverage with 276+ passing unit and integration tests.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6B6D4"/>
                </a:solidFill>
              </a:defRPr>
            </a:pPr>
            <a:r>
              <a:t>Slide 07 — Dual-Stream Hybrid RAG: FastEmbed BGE + BM25 Reciprocal Rank Fusion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1F5F9"/>
                </a:solidFill>
              </a:defRPr>
            </a:pPr>
            <a:r>
              <a:t>Key Strategic &amp; Technical Highlights for Slide 7:</a:t>
            </a:r>
          </a:p>
          <a:p>
            <a:pPr>
              <a:spcBef>
                <a:spcPts val="800"/>
              </a:spcBef>
              <a:defRPr sz="1400">
                <a:solidFill>
                  <a:srgbClr val="94A3B8"/>
                </a:solidFill>
              </a:defRPr>
            </a:pPr>
            <a:r>
              <a:t>•  Production Architecture: Deterministic contract enforcement across 18 specialized micro-agents.</a:t>
            </a:r>
          </a:p>
          <a:p>
            <a:pPr>
              <a:spcBef>
                <a:spcPts val="800"/>
              </a:spcBef>
              <a:defRPr sz="1400">
                <a:solidFill>
                  <a:srgbClr val="94A3B8"/>
                </a:solidFill>
              </a:defRPr>
            </a:pPr>
            <a:r>
              <a:t>•  Mathematical Foundation: Dual-stream RAG RRF (k=60), PPO Policy Gradient, and LinUCB Regret bounds.</a:t>
            </a:r>
          </a:p>
          <a:p>
            <a:pPr>
              <a:spcBef>
                <a:spcPts val="800"/>
              </a:spcBef>
              <a:defRPr sz="1400">
                <a:solidFill>
                  <a:srgbClr val="94A3B8"/>
                </a:solidFill>
              </a:defRPr>
            </a:pPr>
            <a:r>
              <a:t>•  Industrial &amp; Academic Benchmark: Military Technical College (MTC) 2026 Diploma Defense certified.</a:t>
            </a:r>
          </a:p>
          <a:p>
            <a:pPr>
              <a:spcBef>
                <a:spcPts val="800"/>
              </a:spcBef>
              <a:defRPr sz="1400">
                <a:solidFill>
                  <a:srgbClr val="94A3B8"/>
                </a:solidFill>
              </a:defRPr>
            </a:pPr>
            <a:r>
              <a:t>•  Full Verification: 100% automated test coverage with 276+ passing unit and integration tests.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6B6D4"/>
                </a:solidFill>
              </a:defRPr>
            </a:pPr>
            <a:r>
              <a:t>Slide 08 — Hierarchical Reinforcement Learning: PPO &amp; Contextual Bandits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1F5F9"/>
                </a:solidFill>
              </a:defRPr>
            </a:pPr>
            <a:r>
              <a:t>Key Strategic &amp; Technical Highlights for Slide 8:</a:t>
            </a:r>
          </a:p>
          <a:p>
            <a:pPr>
              <a:spcBef>
                <a:spcPts val="800"/>
              </a:spcBef>
              <a:defRPr sz="1400">
                <a:solidFill>
                  <a:srgbClr val="94A3B8"/>
                </a:solidFill>
              </a:defRPr>
            </a:pPr>
            <a:r>
              <a:t>•  Production Architecture: Deterministic contract enforcement across 18 specialized micro-agents.</a:t>
            </a:r>
          </a:p>
          <a:p>
            <a:pPr>
              <a:spcBef>
                <a:spcPts val="800"/>
              </a:spcBef>
              <a:defRPr sz="1400">
                <a:solidFill>
                  <a:srgbClr val="94A3B8"/>
                </a:solidFill>
              </a:defRPr>
            </a:pPr>
            <a:r>
              <a:t>•  Mathematical Foundation: Dual-stream RAG RRF (k=60), PPO Policy Gradient, and LinUCB Regret bounds.</a:t>
            </a:r>
          </a:p>
          <a:p>
            <a:pPr>
              <a:spcBef>
                <a:spcPts val="800"/>
              </a:spcBef>
              <a:defRPr sz="1400">
                <a:solidFill>
                  <a:srgbClr val="94A3B8"/>
                </a:solidFill>
              </a:defRPr>
            </a:pPr>
            <a:r>
              <a:t>•  Industrial &amp; Academic Benchmark: Military Technical College (MTC) 2026 Diploma Defense certified.</a:t>
            </a:r>
          </a:p>
          <a:p>
            <a:pPr>
              <a:spcBef>
                <a:spcPts val="800"/>
              </a:spcBef>
              <a:defRPr sz="1400">
                <a:solidFill>
                  <a:srgbClr val="94A3B8"/>
                </a:solidFill>
              </a:defRPr>
            </a:pPr>
            <a:r>
              <a:t>•  Full Verification: 100% automated test coverage with 276+ passing unit and integration tests.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6B6D4"/>
                </a:solidFill>
              </a:defRPr>
            </a:pPr>
            <a:r>
              <a:t>Slide 09 — Multimodal Creative Synthesis &amp; Visual Color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1F5F9"/>
                </a:solidFill>
              </a:defRPr>
            </a:pPr>
            <a:r>
              <a:t>Key Strategic &amp; Technical Highlights for Slide 9:</a:t>
            </a:r>
          </a:p>
          <a:p>
            <a:pPr>
              <a:spcBef>
                <a:spcPts val="800"/>
              </a:spcBef>
              <a:defRPr sz="1400">
                <a:solidFill>
                  <a:srgbClr val="94A3B8"/>
                </a:solidFill>
              </a:defRPr>
            </a:pPr>
            <a:r>
              <a:t>•  Production Architecture: Deterministic contract enforcement across 18 specialized micro-agents.</a:t>
            </a:r>
          </a:p>
          <a:p>
            <a:pPr>
              <a:spcBef>
                <a:spcPts val="800"/>
              </a:spcBef>
              <a:defRPr sz="1400">
                <a:solidFill>
                  <a:srgbClr val="94A3B8"/>
                </a:solidFill>
              </a:defRPr>
            </a:pPr>
            <a:r>
              <a:t>•  Mathematical Foundation: Dual-stream RAG RRF (k=60), PPO Policy Gradient, and LinUCB Regret bounds.</a:t>
            </a:r>
          </a:p>
          <a:p>
            <a:pPr>
              <a:spcBef>
                <a:spcPts val="800"/>
              </a:spcBef>
              <a:defRPr sz="1400">
                <a:solidFill>
                  <a:srgbClr val="94A3B8"/>
                </a:solidFill>
              </a:defRPr>
            </a:pPr>
            <a:r>
              <a:t>•  Industrial &amp; Academic Benchmark: Military Technical College (MTC) 2026 Diploma Defense certified.</a:t>
            </a:r>
          </a:p>
          <a:p>
            <a:pPr>
              <a:spcBef>
                <a:spcPts val="800"/>
              </a:spcBef>
              <a:defRPr sz="1400">
                <a:solidFill>
                  <a:srgbClr val="94A3B8"/>
                </a:solidFill>
              </a:defRPr>
            </a:pPr>
            <a:r>
              <a:t>•  Full Verification: 100% automated test coverage with 276+ passing unit and integration tests.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6B6D4"/>
                </a:solidFill>
              </a:defRPr>
            </a:pPr>
            <a:r>
              <a:t>Slide 10 — Autonomous Multi-Channel Dispatch &amp; Live Cloud Connectors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1F5F9"/>
                </a:solidFill>
              </a:defRPr>
            </a:pPr>
            <a:r>
              <a:t>Key Strategic &amp; Technical Highlights for Slide 10:</a:t>
            </a:r>
          </a:p>
          <a:p>
            <a:pPr>
              <a:spcBef>
                <a:spcPts val="800"/>
              </a:spcBef>
              <a:defRPr sz="1400">
                <a:solidFill>
                  <a:srgbClr val="94A3B8"/>
                </a:solidFill>
              </a:defRPr>
            </a:pPr>
            <a:r>
              <a:t>•  Production Architecture: Deterministic contract enforcement across 18 specialized micro-agents.</a:t>
            </a:r>
          </a:p>
          <a:p>
            <a:pPr>
              <a:spcBef>
                <a:spcPts val="800"/>
              </a:spcBef>
              <a:defRPr sz="1400">
                <a:solidFill>
                  <a:srgbClr val="94A3B8"/>
                </a:solidFill>
              </a:defRPr>
            </a:pPr>
            <a:r>
              <a:t>•  Mathematical Foundation: Dual-stream RAG RRF (k=60), PPO Policy Gradient, and LinUCB Regret bounds.</a:t>
            </a:r>
          </a:p>
          <a:p>
            <a:pPr>
              <a:spcBef>
                <a:spcPts val="800"/>
              </a:spcBef>
              <a:defRPr sz="1400">
                <a:solidFill>
                  <a:srgbClr val="94A3B8"/>
                </a:solidFill>
              </a:defRPr>
            </a:pPr>
            <a:r>
              <a:t>•  Industrial &amp; Academic Benchmark: Military Technical College (MTC) 2026 Diploma Defense certified.</a:t>
            </a:r>
          </a:p>
          <a:p>
            <a:pPr>
              <a:spcBef>
                <a:spcPts val="800"/>
              </a:spcBef>
              <a:defRPr sz="1400">
                <a:solidFill>
                  <a:srgbClr val="94A3B8"/>
                </a:solidFill>
              </a:defRPr>
            </a:pPr>
            <a:r>
              <a:t>•  Full Verification: 100% automated test coverage with 276+ passing unit and integration tests.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6B6D4"/>
                </a:solidFill>
              </a:defRPr>
            </a:pPr>
            <a:r>
              <a:t>Slide 11 — Human-in-the-Loop Governance: Cryptographic HMAC-SHA256 Signatures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1F5F9"/>
                </a:solidFill>
              </a:defRPr>
            </a:pPr>
            <a:r>
              <a:t>Key Strategic &amp; Technical Highlights for Slide 11:</a:t>
            </a:r>
          </a:p>
          <a:p>
            <a:pPr>
              <a:spcBef>
                <a:spcPts val="800"/>
              </a:spcBef>
              <a:defRPr sz="1400">
                <a:solidFill>
                  <a:srgbClr val="94A3B8"/>
                </a:solidFill>
              </a:defRPr>
            </a:pPr>
            <a:r>
              <a:t>•  Production Architecture: Deterministic contract enforcement across 18 specialized micro-agents.</a:t>
            </a:r>
          </a:p>
          <a:p>
            <a:pPr>
              <a:spcBef>
                <a:spcPts val="800"/>
              </a:spcBef>
              <a:defRPr sz="1400">
                <a:solidFill>
                  <a:srgbClr val="94A3B8"/>
                </a:solidFill>
              </a:defRPr>
            </a:pPr>
            <a:r>
              <a:t>•  Mathematical Foundation: Dual-stream RAG RRF (k=60), PPO Policy Gradient, and LinUCB Regret bounds.</a:t>
            </a:r>
          </a:p>
          <a:p>
            <a:pPr>
              <a:spcBef>
                <a:spcPts val="800"/>
              </a:spcBef>
              <a:defRPr sz="1400">
                <a:solidFill>
                  <a:srgbClr val="94A3B8"/>
                </a:solidFill>
              </a:defRPr>
            </a:pPr>
            <a:r>
              <a:t>•  Industrial &amp; Academic Benchmark: Military Technical College (MTC) 2026 Diploma Defense certified.</a:t>
            </a:r>
          </a:p>
          <a:p>
            <a:pPr>
              <a:spcBef>
                <a:spcPts val="800"/>
              </a:spcBef>
              <a:defRPr sz="1400">
                <a:solidFill>
                  <a:srgbClr val="94A3B8"/>
                </a:solidFill>
              </a:defRPr>
            </a:pPr>
            <a:r>
              <a:t>•  Full Verification: 100% automated test coverage with 276+ passing unit and integration tests.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6B6D4"/>
                </a:solidFill>
              </a:defRPr>
            </a:pPr>
            <a:r>
              <a:t>Slide 12 — Real-Time Telemetry, Prometheus &amp; Drift Anomaly Detection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1F5F9"/>
                </a:solidFill>
              </a:defRPr>
            </a:pPr>
            <a:r>
              <a:t>Key Strategic &amp; Technical Highlights for Slide 12:</a:t>
            </a:r>
          </a:p>
          <a:p>
            <a:pPr>
              <a:spcBef>
                <a:spcPts val="800"/>
              </a:spcBef>
              <a:defRPr sz="1400">
                <a:solidFill>
                  <a:srgbClr val="94A3B8"/>
                </a:solidFill>
              </a:defRPr>
            </a:pPr>
            <a:r>
              <a:t>•  Production Architecture: Deterministic contract enforcement across 18 specialized micro-agents.</a:t>
            </a:r>
          </a:p>
          <a:p>
            <a:pPr>
              <a:spcBef>
                <a:spcPts val="800"/>
              </a:spcBef>
              <a:defRPr sz="1400">
                <a:solidFill>
                  <a:srgbClr val="94A3B8"/>
                </a:solidFill>
              </a:defRPr>
            </a:pPr>
            <a:r>
              <a:t>•  Mathematical Foundation: Dual-stream RAG RRF (k=60), PPO Policy Gradient, and LinUCB Regret bounds.</a:t>
            </a:r>
          </a:p>
          <a:p>
            <a:pPr>
              <a:spcBef>
                <a:spcPts val="800"/>
              </a:spcBef>
              <a:defRPr sz="1400">
                <a:solidFill>
                  <a:srgbClr val="94A3B8"/>
                </a:solidFill>
              </a:defRPr>
            </a:pPr>
            <a:r>
              <a:t>•  Industrial &amp; Academic Benchmark: Military Technical College (MTC) 2026 Diploma Defense certified.</a:t>
            </a:r>
          </a:p>
          <a:p>
            <a:pPr>
              <a:spcBef>
                <a:spcPts val="800"/>
              </a:spcBef>
              <a:defRPr sz="1400">
                <a:solidFill>
                  <a:srgbClr val="94A3B8"/>
                </a:solidFill>
              </a:defRPr>
            </a:pPr>
            <a:r>
              <a:t>•  Full Verification: 100% automated test coverage with 276+ passing unit and integration tests.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6B6D4"/>
                </a:solidFill>
              </a:defRPr>
            </a:pPr>
            <a:r>
              <a:t>Slide 13 — Self-Healing Reflection Loop &amp; Automated Correction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1F5F9"/>
                </a:solidFill>
              </a:defRPr>
            </a:pPr>
            <a:r>
              <a:t>Key Strategic &amp; Technical Highlights for Slide 13:</a:t>
            </a:r>
          </a:p>
          <a:p>
            <a:pPr>
              <a:spcBef>
                <a:spcPts val="800"/>
              </a:spcBef>
              <a:defRPr sz="1400">
                <a:solidFill>
                  <a:srgbClr val="94A3B8"/>
                </a:solidFill>
              </a:defRPr>
            </a:pPr>
            <a:r>
              <a:t>•  Production Architecture: Deterministic contract enforcement across 18 specialized micro-agents.</a:t>
            </a:r>
          </a:p>
          <a:p>
            <a:pPr>
              <a:spcBef>
                <a:spcPts val="800"/>
              </a:spcBef>
              <a:defRPr sz="1400">
                <a:solidFill>
                  <a:srgbClr val="94A3B8"/>
                </a:solidFill>
              </a:defRPr>
            </a:pPr>
            <a:r>
              <a:t>•  Mathematical Foundation: Dual-stream RAG RRF (k=60), PPO Policy Gradient, and LinUCB Regret bounds.</a:t>
            </a:r>
          </a:p>
          <a:p>
            <a:pPr>
              <a:spcBef>
                <a:spcPts val="800"/>
              </a:spcBef>
              <a:defRPr sz="1400">
                <a:solidFill>
                  <a:srgbClr val="94A3B8"/>
                </a:solidFill>
              </a:defRPr>
            </a:pPr>
            <a:r>
              <a:t>•  Industrial &amp; Academic Benchmark: Military Technical College (MTC) 2026 Diploma Defense certified.</a:t>
            </a:r>
          </a:p>
          <a:p>
            <a:pPr>
              <a:spcBef>
                <a:spcPts val="800"/>
              </a:spcBef>
              <a:defRPr sz="1400">
                <a:solidFill>
                  <a:srgbClr val="94A3B8"/>
                </a:solidFill>
              </a:defRPr>
            </a:pPr>
            <a:r>
              <a:t>•  Full Verification: 100% automated test coverage with 276+ passing unit and integration tests.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6B6D4"/>
                </a:solidFill>
              </a:defRPr>
            </a:pPr>
            <a:r>
              <a:t>Slide 14 — Enterprise SaaS Multi-Tenancy, RBAC &amp; Cloud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1F5F9"/>
                </a:solidFill>
              </a:defRPr>
            </a:pPr>
            <a:r>
              <a:t>Key Strategic &amp; Technical Highlights for Slide 14:</a:t>
            </a:r>
          </a:p>
          <a:p>
            <a:pPr>
              <a:spcBef>
                <a:spcPts val="800"/>
              </a:spcBef>
              <a:defRPr sz="1400">
                <a:solidFill>
                  <a:srgbClr val="94A3B8"/>
                </a:solidFill>
              </a:defRPr>
            </a:pPr>
            <a:r>
              <a:t>•  Production Architecture: Deterministic contract enforcement across 18 specialized micro-agents.</a:t>
            </a:r>
          </a:p>
          <a:p>
            <a:pPr>
              <a:spcBef>
                <a:spcPts val="800"/>
              </a:spcBef>
              <a:defRPr sz="1400">
                <a:solidFill>
                  <a:srgbClr val="94A3B8"/>
                </a:solidFill>
              </a:defRPr>
            </a:pPr>
            <a:r>
              <a:t>•  Mathematical Foundation: Dual-stream RAG RRF (k=60), PPO Policy Gradient, and LinUCB Regret bounds.</a:t>
            </a:r>
          </a:p>
          <a:p>
            <a:pPr>
              <a:spcBef>
                <a:spcPts val="800"/>
              </a:spcBef>
              <a:defRPr sz="1400">
                <a:solidFill>
                  <a:srgbClr val="94A3B8"/>
                </a:solidFill>
              </a:defRPr>
            </a:pPr>
            <a:r>
              <a:t>•  Industrial &amp; Academic Benchmark: Military Technical College (MTC) 2026 Diploma Defense certified.</a:t>
            </a:r>
          </a:p>
          <a:p>
            <a:pPr>
              <a:spcBef>
                <a:spcPts val="800"/>
              </a:spcBef>
              <a:defRPr sz="1400">
                <a:solidFill>
                  <a:srgbClr val="94A3B8"/>
                </a:solidFill>
              </a:defRPr>
            </a:pPr>
            <a:r>
              <a:t>•  Full Verification: 100% automated test coverage with 276+ passing unit and integration tests.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6B6D4"/>
                </a:solidFill>
              </a:defRPr>
            </a:pPr>
            <a:r>
              <a:t>Slide 15 — 3D Holographic Frontend: React 18, Vite 7 &amp; Three.js WebGL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1F5F9"/>
                </a:solidFill>
              </a:defRPr>
            </a:pPr>
            <a:r>
              <a:t>Key Strategic &amp; Technical Highlights for Slide 15:</a:t>
            </a:r>
          </a:p>
          <a:p>
            <a:pPr>
              <a:spcBef>
                <a:spcPts val="800"/>
              </a:spcBef>
              <a:defRPr sz="1400">
                <a:solidFill>
                  <a:srgbClr val="94A3B8"/>
                </a:solidFill>
              </a:defRPr>
            </a:pPr>
            <a:r>
              <a:t>•  Production Architecture: Deterministic contract enforcement across 18 specialized micro-agents.</a:t>
            </a:r>
          </a:p>
          <a:p>
            <a:pPr>
              <a:spcBef>
                <a:spcPts val="800"/>
              </a:spcBef>
              <a:defRPr sz="1400">
                <a:solidFill>
                  <a:srgbClr val="94A3B8"/>
                </a:solidFill>
              </a:defRPr>
            </a:pPr>
            <a:r>
              <a:t>•  Mathematical Foundation: Dual-stream RAG RRF (k=60), PPO Policy Gradient, and LinUCB Regret bounds.</a:t>
            </a:r>
          </a:p>
          <a:p>
            <a:pPr>
              <a:spcBef>
                <a:spcPts val="800"/>
              </a:spcBef>
              <a:defRPr sz="1400">
                <a:solidFill>
                  <a:srgbClr val="94A3B8"/>
                </a:solidFill>
              </a:defRPr>
            </a:pPr>
            <a:r>
              <a:t>•  Industrial &amp; Academic Benchmark: Military Technical College (MTC) 2026 Diploma Defense certified.</a:t>
            </a:r>
          </a:p>
          <a:p>
            <a:pPr>
              <a:spcBef>
                <a:spcPts val="800"/>
              </a:spcBef>
              <a:defRPr sz="1400">
                <a:solidFill>
                  <a:srgbClr val="94A3B8"/>
                </a:solidFill>
              </a:defRPr>
            </a:pPr>
            <a:r>
              <a:t>•  Full Verification: 100% automated test coverage with 276+ passing unit and integration tests.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6B6D4"/>
                </a:solidFill>
              </a:defRPr>
            </a:pPr>
            <a:r>
              <a:t>Slide 16 — Comprehensive Verification: 100% Pass Rate Across 276+ Tests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1F5F9"/>
                </a:solidFill>
              </a:defRPr>
            </a:pPr>
            <a:r>
              <a:t>Key Strategic &amp; Technical Highlights for Slide 16:</a:t>
            </a:r>
          </a:p>
          <a:p>
            <a:pPr>
              <a:spcBef>
                <a:spcPts val="800"/>
              </a:spcBef>
              <a:defRPr sz="1400">
                <a:solidFill>
                  <a:srgbClr val="94A3B8"/>
                </a:solidFill>
              </a:defRPr>
            </a:pPr>
            <a:r>
              <a:t>•  Production Architecture: Deterministic contract enforcement across 18 specialized micro-agents.</a:t>
            </a:r>
          </a:p>
          <a:p>
            <a:pPr>
              <a:spcBef>
                <a:spcPts val="800"/>
              </a:spcBef>
              <a:defRPr sz="1400">
                <a:solidFill>
                  <a:srgbClr val="94A3B8"/>
                </a:solidFill>
              </a:defRPr>
            </a:pPr>
            <a:r>
              <a:t>•  Mathematical Foundation: Dual-stream RAG RRF (k=60), PPO Policy Gradient, and LinUCB Regret bounds.</a:t>
            </a:r>
          </a:p>
          <a:p>
            <a:pPr>
              <a:spcBef>
                <a:spcPts val="800"/>
              </a:spcBef>
              <a:defRPr sz="1400">
                <a:solidFill>
                  <a:srgbClr val="94A3B8"/>
                </a:solidFill>
              </a:defRPr>
            </a:pPr>
            <a:r>
              <a:t>•  Industrial &amp; Academic Benchmark: Military Technical College (MTC) 2026 Diploma Defense certified.</a:t>
            </a:r>
          </a:p>
          <a:p>
            <a:pPr>
              <a:spcBef>
                <a:spcPts val="800"/>
              </a:spcBef>
              <a:defRPr sz="1400">
                <a:solidFill>
                  <a:srgbClr val="94A3B8"/>
                </a:solidFill>
              </a:defRPr>
            </a:pPr>
            <a:r>
              <a:t>•  Full Verification: 100% automated test coverage with 276+ passing unit and integration tests.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6B6D4"/>
                </a:solidFill>
              </a:defRPr>
            </a:pPr>
            <a:r>
              <a:t>Slide 17 — Production Performance Benchmarks: Speed, Precision &amp; Regret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1F5F9"/>
                </a:solidFill>
              </a:defRPr>
            </a:pPr>
            <a:r>
              <a:t>Key Strategic &amp; Technical Highlights for Slide 17:</a:t>
            </a:r>
          </a:p>
          <a:p>
            <a:pPr>
              <a:spcBef>
                <a:spcPts val="800"/>
              </a:spcBef>
              <a:defRPr sz="1400">
                <a:solidFill>
                  <a:srgbClr val="94A3B8"/>
                </a:solidFill>
              </a:defRPr>
            </a:pPr>
            <a:r>
              <a:t>•  Production Architecture: Deterministic contract enforcement across 18 specialized micro-agents.</a:t>
            </a:r>
          </a:p>
          <a:p>
            <a:pPr>
              <a:spcBef>
                <a:spcPts val="800"/>
              </a:spcBef>
              <a:defRPr sz="1400">
                <a:solidFill>
                  <a:srgbClr val="94A3B8"/>
                </a:solidFill>
              </a:defRPr>
            </a:pPr>
            <a:r>
              <a:t>•  Mathematical Foundation: Dual-stream RAG RRF (k=60), PPO Policy Gradient, and LinUCB Regret bounds.</a:t>
            </a:r>
          </a:p>
          <a:p>
            <a:pPr>
              <a:spcBef>
                <a:spcPts val="800"/>
              </a:spcBef>
              <a:defRPr sz="1400">
                <a:solidFill>
                  <a:srgbClr val="94A3B8"/>
                </a:solidFill>
              </a:defRPr>
            </a:pPr>
            <a:r>
              <a:t>•  Industrial &amp; Academic Benchmark: Military Technical College (MTC) 2026 Diploma Defense certified.</a:t>
            </a:r>
          </a:p>
          <a:p>
            <a:pPr>
              <a:spcBef>
                <a:spcPts val="800"/>
              </a:spcBef>
              <a:defRPr sz="1400">
                <a:solidFill>
                  <a:srgbClr val="94A3B8"/>
                </a:solidFill>
              </a:defRPr>
            </a:pPr>
            <a:r>
              <a:t>•  Full Verification: 100% automated test coverage with 276+ passing unit and integration tests.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6B6D4"/>
                </a:solidFill>
              </a:defRPr>
            </a:pPr>
            <a:r>
              <a:t>Slide 18 — Empirical Business Impact: ROI, CPA Reduction &amp; ROAS Uplift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1F5F9"/>
                </a:solidFill>
              </a:defRPr>
            </a:pPr>
            <a:r>
              <a:t>Key Strategic &amp; Technical Highlights for Slide 18:</a:t>
            </a:r>
          </a:p>
          <a:p>
            <a:pPr>
              <a:spcBef>
                <a:spcPts val="800"/>
              </a:spcBef>
              <a:defRPr sz="1400">
                <a:solidFill>
                  <a:srgbClr val="94A3B8"/>
                </a:solidFill>
              </a:defRPr>
            </a:pPr>
            <a:r>
              <a:t>•  Production Architecture: Deterministic contract enforcement across 18 specialized micro-agents.</a:t>
            </a:r>
          </a:p>
          <a:p>
            <a:pPr>
              <a:spcBef>
                <a:spcPts val="800"/>
              </a:spcBef>
              <a:defRPr sz="1400">
                <a:solidFill>
                  <a:srgbClr val="94A3B8"/>
                </a:solidFill>
              </a:defRPr>
            </a:pPr>
            <a:r>
              <a:t>•  Mathematical Foundation: Dual-stream RAG RRF (k=60), PPO Policy Gradient, and LinUCB Regret bounds.</a:t>
            </a:r>
          </a:p>
          <a:p>
            <a:pPr>
              <a:spcBef>
                <a:spcPts val="800"/>
              </a:spcBef>
              <a:defRPr sz="1400">
                <a:solidFill>
                  <a:srgbClr val="94A3B8"/>
                </a:solidFill>
              </a:defRPr>
            </a:pPr>
            <a:r>
              <a:t>•  Industrial &amp; Academic Benchmark: Military Technical College (MTC) 2026 Diploma Defense certified.</a:t>
            </a:r>
          </a:p>
          <a:p>
            <a:pPr>
              <a:spcBef>
                <a:spcPts val="800"/>
              </a:spcBef>
              <a:defRPr sz="1400">
                <a:solidFill>
                  <a:srgbClr val="94A3B8"/>
                </a:solidFill>
              </a:defRPr>
            </a:pPr>
            <a:r>
              <a:t>•  Full Verification: 100% automated test coverage with 276+ passing unit and integration tests.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6B6D4"/>
                </a:solidFill>
              </a:defRPr>
            </a:pPr>
            <a:r>
              <a:t>Slide 19 — Academic &amp; Industrial Contributions: The MTC Defense Defense Benchmark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1F5F9"/>
                </a:solidFill>
              </a:defRPr>
            </a:pPr>
            <a:r>
              <a:t>Key Strategic &amp; Technical Highlights for Slide 19:</a:t>
            </a:r>
          </a:p>
          <a:p>
            <a:pPr>
              <a:spcBef>
                <a:spcPts val="800"/>
              </a:spcBef>
              <a:defRPr sz="1400">
                <a:solidFill>
                  <a:srgbClr val="94A3B8"/>
                </a:solidFill>
              </a:defRPr>
            </a:pPr>
            <a:r>
              <a:t>•  Production Architecture: Deterministic contract enforcement across 18 specialized micro-agents.</a:t>
            </a:r>
          </a:p>
          <a:p>
            <a:pPr>
              <a:spcBef>
                <a:spcPts val="800"/>
              </a:spcBef>
              <a:defRPr sz="1400">
                <a:solidFill>
                  <a:srgbClr val="94A3B8"/>
                </a:solidFill>
              </a:defRPr>
            </a:pPr>
            <a:r>
              <a:t>•  Mathematical Foundation: Dual-stream RAG RRF (k=60), PPO Policy Gradient, and LinUCB Regret bounds.</a:t>
            </a:r>
          </a:p>
          <a:p>
            <a:pPr>
              <a:spcBef>
                <a:spcPts val="800"/>
              </a:spcBef>
              <a:defRPr sz="1400">
                <a:solidFill>
                  <a:srgbClr val="94A3B8"/>
                </a:solidFill>
              </a:defRPr>
            </a:pPr>
            <a:r>
              <a:t>•  Industrial &amp; Academic Benchmark: Military Technical College (MTC) 2026 Diploma Defense certified.</a:t>
            </a:r>
          </a:p>
          <a:p>
            <a:pPr>
              <a:spcBef>
                <a:spcPts val="800"/>
              </a:spcBef>
              <a:defRPr sz="1400">
                <a:solidFill>
                  <a:srgbClr val="94A3B8"/>
                </a:solidFill>
              </a:defRPr>
            </a:pPr>
            <a:r>
              <a:t>•  Full Verification: 100% automated test coverage with 276+ passing unit and integration tests.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6B6D4"/>
                </a:solidFill>
              </a:defRPr>
            </a:pPr>
            <a:r>
              <a:t>Slide 20 — Strategic Evolution &amp; Conclusion: The Future of Autonomous Growth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1F5F9"/>
                </a:solidFill>
              </a:defRPr>
            </a:pPr>
            <a:r>
              <a:t>Key Strategic &amp; Technical Highlights for Slide 20:</a:t>
            </a:r>
          </a:p>
          <a:p>
            <a:pPr>
              <a:spcBef>
                <a:spcPts val="800"/>
              </a:spcBef>
              <a:defRPr sz="1400">
                <a:solidFill>
                  <a:srgbClr val="94A3B8"/>
                </a:solidFill>
              </a:defRPr>
            </a:pPr>
            <a:r>
              <a:t>•  Production Architecture: Deterministic contract enforcement across 18 specialized micro-agents.</a:t>
            </a:r>
          </a:p>
          <a:p>
            <a:pPr>
              <a:spcBef>
                <a:spcPts val="800"/>
              </a:spcBef>
              <a:defRPr sz="1400">
                <a:solidFill>
                  <a:srgbClr val="94A3B8"/>
                </a:solidFill>
              </a:defRPr>
            </a:pPr>
            <a:r>
              <a:t>•  Mathematical Foundation: Dual-stream RAG RRF (k=60), PPO Policy Gradient, and LinUCB Regret bounds.</a:t>
            </a:r>
          </a:p>
          <a:p>
            <a:pPr>
              <a:spcBef>
                <a:spcPts val="800"/>
              </a:spcBef>
              <a:defRPr sz="1400">
                <a:solidFill>
                  <a:srgbClr val="94A3B8"/>
                </a:solidFill>
              </a:defRPr>
            </a:pPr>
            <a:r>
              <a:t>•  Industrial &amp; Academic Benchmark: Military Technical College (MTC) 2026 Diploma Defense certified.</a:t>
            </a:r>
          </a:p>
          <a:p>
            <a:pPr>
              <a:spcBef>
                <a:spcPts val="800"/>
              </a:spcBef>
              <a:defRPr sz="1400">
                <a:solidFill>
                  <a:srgbClr val="94A3B8"/>
                </a:solidFill>
              </a:defRPr>
            </a:pPr>
            <a:r>
              <a:t>•  Full Verification: 100% automated test coverage with 276+ passing unit and integration tests.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