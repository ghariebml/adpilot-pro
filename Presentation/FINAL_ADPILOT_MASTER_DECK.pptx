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4114800" cy="347472"/>
          </a:xfrm>
          <a:prstGeom prst="roundRect">
            <a:avLst/>
          </a:prstGeom>
          <a:solidFill>
            <a:srgbClr val="0D1322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0FF"/>
                </a:solidFill>
                <a:latin typeface="Consolas"/>
              </a:defRPr>
            </a:pPr>
            <a:r>
              <a:t>ENTERPRISE AI OPERATING SYSTEM  // 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ADPILOT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Autonomous Intelligence for Strategic Planning, Creative Synthesis, PPO Reinforcement Learning &amp; Deterministic Decision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2514600" cy="91440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18-STAGE 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Pydantic v2 typed contracts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291840"/>
            <a:ext cx="2514600" cy="91440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4747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PPO RL 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7490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12-dim continuous budget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2514600" cy="91440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262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DUAL-STREAM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00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FastEmbed BGE + Qdrant (MRR 1.0)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343400"/>
            <a:ext cx="2514600" cy="91440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45262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HITL AUDIT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800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HMAC-SHA256 cryptographic 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822960"/>
            <a:ext cx="5193792" cy="4434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4919472" cy="402335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5079" y="4892040"/>
            <a:ext cx="5010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AUTONOMOUS MULTI-AGENT NEURAL COMMAND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PROJECT DEFENSE: Digital Pioneers Initiative (DiGiLiANS)  •  MCIT Egypt  •  Military Technical College (MTC)  •  Capstone 2026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CORE ENGINEERING: Mohamed Gharieb (Lead), Ahmed Awni, Mohamed Sleem, Khaled Mohamed, Karem Tarek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Executive 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Structured walkthrough of the market crisis, multi-agent AI architecture, mathematical models, empirical proof, and commercial ROI.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37360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09928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The Problem &amp; Market Drain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The marketing fragmentation crisis, tool silos, and the real cost of operational lag.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B82F6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09928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ADPilot Pro Vision &amp; Architecture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The unified AI OS, master 18-stage execution DAG, and context integrity.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2852927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8B5CF6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825496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Autonomous Multi-Agent Fleet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Specialized agents for Strategy, Research, Content, Vision, Analytics, and Optimization.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15768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2852927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25496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Intelligence Stack &amp; Math Models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LLM Reasoning vs Specialized ML, continuous PPO RL formulation, and CLIP-ViT vision.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3968496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941063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Dual-Stream RAG &amp;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FastEmbed BGE embeddings, Qdrant vector store, and 4-tier persistent memory.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31335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3968496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41063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Governance, HITL &amp; Simulation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Cryptographic HMAC-SHA256 review gates and end-to-end campaign execution trace.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" y="5084064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3F5E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056632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Empirical Evaluation &amp; UI Experience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52/52 Vitest &amp; 269 Pytest verification, production cyber UI, and comparative benchmarks.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946904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5084064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056632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Commercial Value &amp; Defense Close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Scalable SaaS monetization, limitations transparency, future roadmap, and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GOVERNANCE &amp;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Project Leadership &amp; Institutional Backing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Developed by specialized AI engineers and supported by national digital transformation and academic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03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621792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CORE ENGINEERING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Mohamed Abd Elsalam Gharieb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Team Lead • Master Orchestrator &amp; Architecture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Architecture, Pydantic v2 DAG, EventBus Telemetry, System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Ahmed Awni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Research Agent &amp; Market Intelligence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SerpAPI integration, audience slang extraction, semantic grounding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75304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Mohamed Sleem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Content Agent &amp; Copywriting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Multi-format copywriting, Google RSAs, LinkedIn thought leadership, email nurture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79976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Khaled Mohamed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ML Engineer • Predictive Analytics &amp; Scoring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Ridge revenue forecaster, econometric multi-target regression, evaluation rubrics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84648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Karem Tarek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Design Agent &amp; Vision Studio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Nano Banana diffusion prompts, CLIP-ViT visual quality scoring, brand safe-zones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600200"/>
            <a:ext cx="4327855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783080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INSTITUTIONAL SUPERVISION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965960"/>
            <a:ext cx="3962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ACADEMIC TRACK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Artificial Intelligence &amp; Data Science (AI)</a:t>
            </a:r>
            <a:br/>
            <a:r>
              <a:t>Digital Pioneers Initiative (DiGiLiANS) Capstone 2026</a:t>
            </a:r>
          </a:p>
          <a:p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SUPERVISION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Under direct supervision of Academic Leadership and Senior Technical Advisory Committees.</a:t>
            </a:r>
          </a:p>
          <a:p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SPONSORING ENTITIES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Ministry of Communications and Information Technology (MCIT)</a:t>
            </a:r>
            <a:br/>
            <a:r>
              <a:t>• Military Technical College (MTC)</a:t>
            </a:r>
            <a:br/>
            <a:r>
              <a:t>• Egyptian Military Academy</a:t>
            </a:r>
          </a:p>
          <a:p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DEFENSE RIGOR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Rigorous evaluation covering formal multi-agent contracts, empirical test suites, continuous RL convergence, and zero-hallucination verification.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MARKET 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Modern Marketing Paradox: High Activity, Broken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Marketing teams deploy 8+ disconnected SaaS tools, yet campaigns take weeks to launch, brand context decays at every handoff, and real-time optimization is virtually impossible.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43F5E"/>
                </a:solidFill>
                <a:latin typeface="Consolas"/>
              </a:defRPr>
            </a:pPr>
            <a:r>
              <a:t>TOOL SILOS &amp; FRAGMENTATION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Teams juggle CRM, SEO tools, Ad managers, Figma, and spreadsheets.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Strategic context decays by 40% across tool handoffs (Kietzmann et al.).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Manual copy-pasting between platforms introduces human error.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Zero unified data model linking creative assets to revenue KPIs.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CRIPPLING EXECUTION 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Campaign briefs require 10–14 days of back-and-forth iteration.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Copywriters wait on research; designers wait on copy; media buyers wait on assets.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Ad creative fatigue sets in before human teams can refresh variants.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Fleeting market trends and viral opportunities are missed.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MONOLITHIC AI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Generic single-prompt LLMs fail on complex enterprise campaigns.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Single prompt chatbots suffer context saturation and loss of nuance.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Hallucinations compound across multi-step marketing workflows (Xi et al., 2025).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Zero automated validation against brand safety rules or visual margins.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EXECUTIVE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Compounding Cost of Manual Marketing Inefficiency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Leaving marketing workflows uncoordinated creates massive hidden costs in operational drag, ad spend waste, and delayed revenue realization.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23774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3F5E"/>
                </a:solidFill>
                <a:latin typeface="Segoe UI"/>
              </a:defRPr>
            </a:pPr>
            <a:r>
              <a:t>10–14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AVERAGE CYCLE TIME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Brief-to-launch delay across copywriting, creative generation, and review loops.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23774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Segoe UI"/>
              </a:defRPr>
            </a:pPr>
            <a:r>
              <a:t>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BRAND VOICE DRIFT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marketers reporting inconsistent brand messaging across channels (Dwivedi 2023).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23774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  <a:latin typeface="Segoe UI"/>
              </a:defRPr>
            </a:pPr>
            <a:r>
              <a:t>20–35%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BUDGET LEAKAGE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 spend wasted on underperforming ad variants before human teams detect decay.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23774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Segoe UI"/>
              </a:defRPr>
            </a:pPr>
            <a:r>
              <a:t>70%+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ADMINISTRATIVE DRAG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Senior strategist hours consumed by manual formatting, copy-pasting, and tool coordination.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10728655" cy="1874519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102714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THE ENTERPRISE IMPERATIVE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Enterprise marketing demands an AI system that does not simply generate text, but acts as a closed-loop operating system: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1. Contextual Integrity: Single structured campaign brief propagating immutably across strategy, copy, visual prompts, and bids.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2. Multi-Specialist Collaboration: Dividing marketing labor among specialized agents rather than relying on one overloaded generalist LLM.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3. Closed-Loop Optimization: Continuously sampling performance signals and dynamically adjusting budget allocations via Reinforcement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Solution: One Coordinated Marketing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replaces disconnected toolchains with a single autonomous platform where specialized AI agents orchestrate the entire campaign lifecycle under human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1. STRUCTURED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Single Source of Truth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Ingests business objectives, budget, duration, geography, and tone.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Validates input schema via strict Pydantic v2 data models.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Eliminates ambiguity before any model execution starts.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MULTI-AGENT 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Specialized Collaboration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18 autonomous agents execute in deterministic dependency order.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Asynchronous parallel execution cut runtime by ~40%.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Context passed via immutable data contracts with zero drift.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3. CLOSED-LOOP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Adaptation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Pre-flight computer vision and econometric revenue forecasting.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PPO Reinforcement Learning dynamically reallocates budget.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Human-in-the-loop governance with cryptographic audit trails.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Master System Architecture: 18-Stage Execution 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The Master Orchestrator coordinates an 18-stage Directed Acyclic Graph (DAG) executing parallel intelligence, creative synthesis, quality auditing, and RL tuning.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4871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STAGE 01–04: INGESTION &amp;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01. Input Ingestion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Pydantic Brief Validation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02. Product Classifier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Taxonomy &amp; Vertical ID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03. Tone Extractor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Brand Voice Calibration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04. Persona Synthesizer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ICP &amp; Pain Point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00200"/>
            <a:ext cx="24871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STAGE 05–08: INTELLIGENCE &amp;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05. Strategy Planner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Cross-Channel Roadmap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06. Audience Research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FastEmbed BGE Vector Search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07. Competitor Intel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Battlecards &amp; Market Gaps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08. Content Copywriter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Multi-Format Copy Variants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24871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STAGE 09–13: CREATIVE, CV &amp;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09. Creative Design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Nano Banana Visual Prompts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10. CV Quality Gate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CLIP-ViT Aesthetic Check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11. Predictive Analytics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Ridge Revenue Forecaster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12. PPO RL Optimizer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Continuous Action 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840480"/>
            <a:ext cx="24871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STAGE 14–18: GOVERNANCE &amp;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13. Constraint Filter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Budget Simplex Guards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14. HITL Review Gate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HMAC-SHA256 Sign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15. Publishing Dispatch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Idempotent Multi-Network API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16–18. Telemetry Stream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Closed-Loop Feedback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600200"/>
            <a:ext cx="537667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02352" cy="4069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72200" y="571500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18-STAGE DIRECTED ACYCLIC GRAPH (DAG) EXECUTION TOPOLOGY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AGENT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Autonomous Multi-Agent Fleet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Specialized agents extending the BaseAgent abstract contract pattern, communicating via immutable Pydantic payloads across 4 functional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08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4871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TIER 1: STRATEGY &amp; INTEL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Segoe UI"/>
              </a:defRPr>
            </a:pPr>
            <a:r>
              <a:t>Strategy Agent [GPT-4o Router]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Funnel architecture &amp; channel weighting.</a:t>
            </a:r>
          </a:p>
          <a:p>
            <a:pPr>
              <a:defRPr sz="850" b="1">
                <a:solidFill>
                  <a:srgbClr val="00F0FF"/>
                </a:solidFill>
                <a:latin typeface="Segoe UI"/>
              </a:defRPr>
            </a:pPr>
            <a:r>
              <a:t>Research Agent [FastEmbed BGE]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Live market signals &amp; search intent.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600200"/>
            <a:ext cx="24871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TIER 2: CREATIVE &amp;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8B5CF6"/>
                </a:solidFill>
                <a:latin typeface="Segoe UI"/>
              </a:defRPr>
            </a:pPr>
            <a:r>
              <a:t>Content Copywriter [Claude 3.5]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RSAs, LinkedIn posts &amp; email nurture.</a:t>
            </a:r>
          </a:p>
          <a:p>
            <a:pPr>
              <a:defRPr sz="850" b="1">
                <a:solidFill>
                  <a:srgbClr val="8B5CF6"/>
                </a:solidFill>
                <a:latin typeface="Segoe UI"/>
              </a:defRPr>
            </a:pPr>
            <a:r>
              <a:t>Design &amp; CV Agent [Nano Banana + CLIP]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Multi-aspect prompts &amp; aesthetic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24871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TIER 3: OPTIMIZATION &amp; 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Segoe UI"/>
              </a:defRPr>
            </a:pPr>
            <a:r>
              <a:t>Analytics Forecaster [Ridge Regression]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Multi-target ROAS &amp; CAC forecasting.</a:t>
            </a:r>
          </a:p>
          <a:p>
            <a:pPr>
              <a:defRPr sz="850" b="1">
                <a:solidFill>
                  <a:srgbClr val="10B981"/>
                </a:solidFill>
                <a:latin typeface="Segoe UI"/>
              </a:defRPr>
            </a:pPr>
            <a:r>
              <a:t>RL Optimizer [PyTorch PPO]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12-dim continuous budget rebalancing.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840480"/>
            <a:ext cx="24871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TIER 4: GOVERNANCE &amp;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HITL Review Gate [HMAC-SHA256]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Risk-based human approval ledger.</a:t>
            </a:r>
          </a:p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Publishing Agent [Multi-Network]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Idempotent dispatch &amp; WebSocket telemetry.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600200"/>
            <a:ext cx="537667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gent_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02352" cy="4069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72200" y="571500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AUTONOMOUS MULTI-AGENT COLLABORATIVE MICROSERVICE TOPOLOGY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RESPONSIBILITY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Agent Operational &amp; Technical Contract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Strict deterministic interfaces: Every agent ingests a typed Pydantic v2 input contract and emits a verified output guarantee.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09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2011680"/>
                <a:gridCol w="2194560"/>
                <a:gridCol w="1950415"/>
              </a:tblGrid>
              <a:tr h="448056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AGENT NAME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CORE RESPONSIBILITY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TYPED INPUT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GUARANTEED OUTPUT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TECH ENGINE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Strategy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Funnel architecture &amp; channel weighting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CampaignBriefContext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StrategyPlanContract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GPT-4o Router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Research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Market trends, search intent &amp; keywords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TargetAudienceSpec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MarketIntelContract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FastEmbed BGE + SerpAPI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Competitor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Rival positioning &amp; counter-hooks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ProductVerticalSpec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CompetitorBattlecard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Qdrant Vector RAG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Content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Multi-channel ad copy &amp; email sequences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 + Intel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ContentOutputPackage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Claude 3.5 Sonnet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Design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Multi-aspect visual synthesis directives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BrandPalette + Goals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CreativeAssetPackage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Nano Banana Studio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CV Quality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Zero-shot visual scoring &amp; margin check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Generated Image URLs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CVQualityAuditScore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CLIP-ViT (ONNX)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Analytics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Econometric revenue &amp; ROAS forecasting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 + Content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EconometricForecast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Scikit-Learn Ridge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RL Optimizer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Dynamic channel budget reallocation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12-dim State Vector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ActionVector a_t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PyTorch PPO Policy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HITL Reviewer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Cryptographic governance &amp; safety sign-off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High-Risk Actions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SignedAuditLedger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HMAC-SHA256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CONCEPTUAL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LLM Reasoning vs. Specialized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Why single LLMs fail at enterprise marketing and how ADPilot Pro assigns specialized mathematical roles to appropriate AI architectures.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10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FRONTIER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Reasoning &amp; Planning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GPT-4o, Claude 3.5 Sonnet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Strategic roadmap synthesis, multi-variant copywriting, psychological buying trigger formulation.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WHY LLM?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Unmatched language comprehension, high zero-shot reasoning, and creative generation capability.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STATISTICAL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Prediction &amp; Scoring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Ridge Regression, TF-IDF Classifier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Quantitative revenue forecasting, copy quality scoring, historical conversion rate regression.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WHY ML?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Deterministic execution in &lt; 3ms, zero hallucination, verifiable statistical confidence intervals.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REINFORCEMENT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Optimization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PPO Actor-Critic (PyTorch)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Sequential channel budget allocation across 12 continuous state variables.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WHY RL?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Learns closed-loop decision policies from dynamic reward feedback rather than static rules.</a:t>
            </a:r>
          </a:p>
          <a:p/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COMPUTER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Perception &amp; Safety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CLIP-ViT (ONNX Runtime)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Zero-shot visual aesthetics, text clipping prevention, WCAG AAA contrast ratio compliance.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WHY CV?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Real-time multimodal inspection verifying creative quality before publishing.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MODEL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Custom Trained Machine Learning Model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maintains an audited artifact registry of custom trained PyTorch weights, Scikit-Learn regressors, and ONNX vision scoring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11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PPO POLICY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Reinforcement Learning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PyTorch 2.11  •  Latency: 15.8ms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12-dim Continuous State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K-dim Action Vector</a:t>
            </a:r>
          </a:p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Metric: +0.48 Mean Reward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REVENUE &amp; ROAS FORECASTER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57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Econometric Regression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Scikit-Learn 1.8  •  Latency: 2.1ms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Scaled Campaign Features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[ROAS, CAC, CVR]</a:t>
            </a:r>
          </a:p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Metric: R² = 0.894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BRAND VOICE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057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Text Scoring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Scikit-Learn 1.8  •  Latency: 3.4ms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TF-IDF + Text Statistics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Quality Score [0-10]</a:t>
            </a:r>
          </a:p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Metric: MSE = 0.12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429000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69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CLIP-VIT QUALITY REGRESSOR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43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Zero-Shot Vision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CLIP-ViT (ONNX)  •  Latency: 4.8ms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512-dim ViT Embeddings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Aesthetic Score [0-10]</a:t>
            </a:r>
          </a:p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Metric: Accuracy = 91.2%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886200"/>
            <a:ext cx="3429000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4069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BGE VECTOR 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4343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Dense Semantic Memory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FastEmbed BGE  •  Latency: 23.3ms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Variable Text Chunks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384-dim Dense Vector</a:t>
            </a:r>
          </a:p>
          <a:p>
            <a:pPr>
              <a:defRPr sz="850" b="1">
                <a:solidFill>
                  <a:srgbClr val="3B82F6"/>
                </a:solidFill>
                <a:latin typeface="Consolas"/>
              </a:defRPr>
            </a:pPr>
            <a:r>
              <a:t>Metric: MRR = 1.00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886200"/>
            <a:ext cx="3429000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4069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DIRICHLET CONSTRAINT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4343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Safety Projection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Pure Python/NumPy  •  Latency: 0.2ms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Raw Suggested Actions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Simplex Projected Weights</a:t>
            </a:r>
          </a:p>
          <a:p>
            <a:pPr>
              <a:defRPr sz="850" b="1">
                <a:solidFill>
                  <a:srgbClr val="06B6D4"/>
                </a:solidFill>
                <a:latin typeface="Consolas"/>
              </a:defRPr>
            </a:pPr>
            <a:r>
              <a:t>Metric: 0 Violations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VISION 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Computer Vision Quality Gate &amp; Brand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Automated multi-modal inspection using CLIP-ViT and mathematical edge detection to guarantee zero creative defects prior to publishing.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135331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1. CLIP-VIT AESTHETIC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Cosine similarity against aesthetic benchmark vectors. Threshold ≥ 7.0/10 required for auto-approval.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81528"/>
            <a:ext cx="5257800" cy="135331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6440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SAFE-ZONE MARGIN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4448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Mathematical boundary mask inspection verifying that text and logos avoid mobile UI occlusion zones.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62856"/>
            <a:ext cx="5257800" cy="135331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4573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3. WCAG AAA CONTRAST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65776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Luminance ratio calculations guaranteeing contrast ≥ 7.0:1 for body copy and ≥ 4.5:1 for headers.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v_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REAL-TIME COMPUTER VISION INSPECTION: SAFE-ZONES, HEATMAPS &amp; CONTRAST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Nano Banana Studio: Multi-Aspect Ratio Creative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Multi-modal visual asset generator translating structured strategy briefs into multi-format diffusion directives with extracted brand color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13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16:9 LANDSCAPE BANNER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1920x1080 • Google Display, YouTube &amp; Desktop Banners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9864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1:1 SQUARE 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7296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1080x1080 • Meta Carousel, Instagram Grid &amp; LinkedIn Feed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14215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4:5 PORTRAIT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885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1080x1350 • Instagram Mobile Feed (Maximum screen real estate)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29784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9:16 STORY &amp; REELS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0410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1080x1920 • Instagram Stories, TikTok Ads &amp; YouTube Shorts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nano_stu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Consolas"/>
              </a:defRPr>
            </a:pPr>
            <a:r>
              <a:t>NANO BANANA STUDIO: MULTI-ASPECT RATIO GENERATION &amp; BRAND SWATCHES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RAG &amp;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Dual-Stream Hybrid RAG &amp; Multi-Tier Agent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Eliminating hallucinations by fusing dense semantic embeddings with sparse keyword search and 4-tier persistent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HYBRID RRF RETRIEVAL &amp; MEMORY 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MATHEMATICAL RRF FUSION FORMULA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RRF(d ∈ D) = ∑_{m ∈ M} ( w_m / ( k + r_m(d) ) )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STREAM A: BAAI/bge-small-en-v1.5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384-dimensional dense semantic vector similarity in Qdrant.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STREAM B: BM25 LEXICAL SEARCH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Exact keyword matching for technical product terms and SKU codes.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4-TIER PERSISTENT MEMORY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Tier 1: In-Memory Working Session Cache (0.2ms)</a:t>
            </a:r>
            <a:br/>
            <a:r>
              <a:t>• Tier 2: Persistent Brand Identity SQLite (1.1ms)</a:t>
            </a:r>
            <a:br/>
            <a:r>
              <a:t>• Tier 3: Persona Vector Collections in Qdrant (4.2ms)</a:t>
            </a:r>
            <a:br/>
            <a:r>
              <a:t>• Tier 4: PPO Trajectory Replay Buffer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g_hybrid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DUAL-STREAM DENSE + SPARSE HYBRID RETRIEVAL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Continuous PPO Actor-Critic Policy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Autonomous budget optimization using Proximal Policy Optimization (PPO) over a 12-dimensional continuous marketing state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MATHEMATICAL POLICY &amp; OBJECTIVE FORMULATION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1. STATE SPACE S ∈ ℝ¹²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Weights, ROAS, CAC, CTR, CVR, Quality, Budget, Duration, Market Penetration, Creative Diversity.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2. ACTION SPACE a_t ∈ Δ^K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Dirichlet Simplex bounds: ∑ a_k = 1.0, floor a_k ≥ 0.05, ceiling a_k ≤ 0.65.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3. CLIPPED SURROGATE LOSS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L^{CLIP}(θ) = Ê_t [ min( r_t(θ)Â_t, clip(r_t(θ), 1-ε, 1+ε)Â_t ) ]</a:t>
            </a:r>
            <a:br/>
            <a:r>
              <a:t>Clipping parameter ε = 0.2 ensures policy update stability.</a:t>
            </a:r>
          </a:p>
          <a:p/>
          <a:p>
            <a:pPr>
              <a:defRPr sz="900" b="1">
                <a:solidFill>
                  <a:srgbClr val="F59E0B"/>
                </a:solidFill>
                <a:latin typeface="Consolas"/>
              </a:defRPr>
            </a:pPr>
            <a:r>
              <a:t>4. REWARD FUNCTION R(s, a)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R(s, a) = w₁ · ΔROAS - w₂ · ΔCAC - λ · RiskPenalty</a:t>
            </a:r>
            <a:br/>
            <a:r>
              <a:t>w₁ = 1.0, w₂ = 0.5, λ = 0.2.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l_pp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ACTOR-CRITIC POLICY GRADIENT LANDSCAPE &amp; STATE TRAJECTORY CONVERGENCE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PPO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RL Optimization Simulation: Dynamic Budget Rebalancing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Demonstrating PPO Actor-Critic policy action selection in a controlled econometric marketing simulation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135331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43F5E"/>
                </a:solidFill>
                <a:latin typeface="Consolas"/>
              </a:defRPr>
            </a:pPr>
            <a:r>
              <a:t>1. BASELINE (STATIC ALLOCATION)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LinkedIn: 35% ($3.5k) • Meta: 25% ($2.5k) • Google: 40% ($4.0k)</a:t>
            </a:r>
            <a:br/>
            <a:r>
              <a:t>Predicted ROAS: 3.20x  •  CAC: $49.00  •  Waste Ratio: 24%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81528"/>
            <a:ext cx="5257800" cy="135331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6440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2. PPO REBALANCE ACTION A_T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38728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LinkedIn: +12% ($5,700) • Meta: Hold ($3,500) • Google: -12% ($800)</a:t>
            </a:r>
            <a:br/>
            <a:r>
              <a:t>Dirichlet guard preserves simplex (Sum = 100%, 0 violations).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62856"/>
            <a:ext cx="5257800" cy="135331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4573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3. SIMULATED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0056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Blended ROAS: 3.84x (+20.0%)  •  Blended CAC: $42.10 (-14.1%)</a:t>
            </a:r>
            <a:br/>
            <a:r>
              <a:t>Expected Reward R(s, a) = +0.48 Net Gain  [CONTROLLED SIMULATION]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l_optimizer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Consolas"/>
              </a:defRPr>
            </a:pPr>
            <a:r>
              <a:t>PPO POLICY ACTOR-CRITIC LOSS &amp; REWARD CONVERGENCE CURVE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GOVERNANCE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Human-in-the-Loop (HITL) Governance &amp;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Cryptographic review gates enforcing strict enterprise oversight for high-risk autonomous decisions, budget rebalancing, and live ad publishing.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1. RISK-BASED DECISION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Automated Triage by Impact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LOW RISK (AUTO-EXECUTE)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Headline A/B variations, minor keyword adjustments, standard budget allocations.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MEDIUM RISK (FLAGGED)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Budget reallocations &gt; 10%, new channel activation, audience expansion.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HIGH RISK (GATE LOCK)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Live ad spend dispatch, brand repositioning, total budget redistribution.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ROLE-BASED ACCESS (RBAC)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Multi-Stakeholder Authority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CAMPAIGN DIRECTOR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Full authority to approve multi-channel strategy, budget shifts, and live dispatch.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BRAND AUDITOR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Audits CLIP-ViT visual quality scores, tone compliance, and copyright safety.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GROWTH LEAD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Monitors PPO reward trajectories, CAC thresholds, and channel attribution.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3. HMAC-SHA256 AUDIT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Immutable Cryptographic Ledger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FORMULA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HMAC(K, m) = H( (K' ⊕ opad) || H( (K' ⊕ ipad) || m ) )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NON-REPUDIATION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Every human approval generates a cryptographic SHA-256 signature token.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AUDIT TRAIL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Append-only database ledger guarantees complete forensic traceability.</a:t>
            </a:r>
          </a:p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End-to-End Campaign Execution Simulation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Complete walkthrough of how a single structured campaign brief flows through all autonomous intelligence, creative, and governance stages.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18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0299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STEP 01: BRIEF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Client enters 'VisionGuard AI' ($10k, 30 days, B2B Security). Pydantic validates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600200"/>
            <a:ext cx="20299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1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STEP 02: STRATEGY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1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GPT-4o Router formulates 3-stage funnel: LinkedIn (45%), Meta (35%), Google (20%).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600200"/>
            <a:ext cx="20299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STEP 03: HYBRID VECTOR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FastEmbed BGE retrieves ICP pain points ('Alert fatigue, Compliance audit'). MRR: 1.0.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600200"/>
            <a:ext cx="20299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88936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STEP 04: CONTENT COPYWRITING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Claude 3.5 Sonnet drafts 8 ad variants + 4-stage email nurture. Ridge score: 5.43.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600200"/>
            <a:ext cx="20299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65208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STEP 05: NANO BANANA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8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Synthesizes multi-aspect prompts (16:9, 1:1, 4:5, 9:16) with obsidian &amp; cyan palette.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86200"/>
            <a:ext cx="20299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STEP 06: CLIP-VIT VISION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Zero-shot visual inspection passes: 8.7/10 quality, safe zone margin &amp; contrast compliant.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7791" y="3886200"/>
            <a:ext cx="20299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36391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43F5E"/>
                </a:solidFill>
                <a:latin typeface="Consolas"/>
              </a:defRPr>
            </a:pPr>
            <a:r>
              <a:t>STEP 07: PREDICTIVE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6391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Ridge regressor forecasts ROAS: 3.84x, CAC: $42.10, Health Score: 87.5/100.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3886200"/>
            <a:ext cx="20299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12664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STEP 08: PPO POLICY REBALANCE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12664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Continuous policy reallocates budget (+12% LinkedIn) subject to Dirichlet simplex guards.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0336" y="3886200"/>
            <a:ext cx="20299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88936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STEP 09: HITL SIGN-OFF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8936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Campaign Director approves rebalance. Cryptographic SHA-256 signature committed to ledger.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36608" y="3886200"/>
            <a:ext cx="2029968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65208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STEP 10: SAFE DISPATCH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Idempotent multi-network dry-run dispatch executed. WebSocket streams telemetry to 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Empirical Evaluation &amp; Comparative Benchmark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Rigorous comparison between traditional manual agencies, monolithic single LLM prompt wrappers, and the ADPilot Pro Multi-Agent 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19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920240"/>
                <a:gridCol w="1920240"/>
                <a:gridCol w="2926080"/>
                <a:gridCol w="1858975"/>
              </a:tblGrid>
              <a:tr h="56007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TRADITIONAL AGENCY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SINGLE LLM CHATBOT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ADPILOT PRO MULTI-AGENT OS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Brief-to-Launch Latency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10–14 Days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2–4 Hours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&lt; 15 Seconds (Compute)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100x Faster Launch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Context Integrity Loss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40% Handoff Decay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28% Context Drift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0% (Immutable Pydantic v2)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Zero Drift Guard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Simulated ROAS Output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3.20x Baseline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3.35x Unbounded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3.84x (PPO Optimized)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+20.0% Efficiency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Creative Formats Supported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Resizing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Text Prompts Only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Multi-Aspect (16:9, 1:1, 4:5, 9:16)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Full Omnichannel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Visual Safety Inspection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CLIP-ViT (100% Margin Check)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Automated Safety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Closed-Loop Budget Tuning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Weekly Human Edits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Continuous PPO Actor-Critic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Real-Time Tuning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Governance Auditability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Scattered Emails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Cryptographic HMAC-SHA256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Enterprise Security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Production Web Application &amp; Cyber UI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is a live, working enterprise software application featuring a React 18 single-page application and FastAPI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20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EXECUTIVE KPI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Live spend, blended AI ROAS (3.84x), CAC ($42.10), and glowing SVG ROAS curves.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9864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INTERACTIVE 18-STAGE 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7296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Node graph with live beacons, model tags, latency meters, and schema inspection.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14215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NANO BANANA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885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Multi-aspect gallery (16:9, 1:1, 4:5, 9:16) with WCAG AAA badges &amp; hex copiers.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29784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HITL GOVERNANCE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0410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RBAC role switcher with HMAC-SHA256 append-only cryptographic audit ledger.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LIVE REACT 18 ENTERPRISE MARKETING CYBER DASHBOARD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Full-Stack Enterprise Engineering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Layered microservice architecture designed for high-concurrency asynchronous execution, data isolation, and low-latency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21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728655" cy="50292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PRESENTATION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9164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React 18 SPA  •  Vite  •  Tailwind CSS  •  Zustand State  •  Lucide Icons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67128"/>
            <a:ext cx="10728655" cy="50292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585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2. API &amp; GATEWAY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5856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FastAPI (Async Python 3.12)  •  OpenAPI / Swagger  •  JWT Auth  •  Pydantic 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34056"/>
            <a:ext cx="10728655" cy="50292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254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3. ORCHESTRATION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25496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Master 18-Stage Execution DAG  •  AsyncIO Gather  •  AgentEventBus  •  WebSocket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00984"/>
            <a:ext cx="10728655" cy="50292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9242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4. MULTI-AGENT FLEET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392424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18 Specialized Agents extending BaseAgent  •  Pydantic Immutable Contracts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67912"/>
            <a:ext cx="10728655" cy="50292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593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5. NEURAL &amp; ML ENGINES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5935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PyTorch PPO Policy (.pt)  •  Scikit-Learn Ridge (.pkl)  •  CLIP-ViT (ONNX)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10728655" cy="50292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2627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6. RAG &amp; MEMORY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526279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FastEmbed BGE (384-d)  •  Qdrant Vector DB  •  4-Tier Multi-Tier Memory 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01768"/>
            <a:ext cx="10728655" cy="50292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93207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7. PERSISTENCE &amp; WORKERS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093207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Async SQLAlchemy  •  SQLite / PostgreSQL  •  ARQ In-Process Task Workers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68696"/>
            <a:ext cx="10728655" cy="50292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6013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8. GOVERNANCE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660136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HMAC-SHA256 Append-Only Audit Ledger  •  Dirichlet Simplex Bounds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COMMERCIAL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Quantifiable Business Value &amp; Enterprise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Transforming marketing from a high-friction cost center into a predictable, capital-efficient, and continuously improving growth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10X 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Launch Time Compression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Compresses the full brief-to-launch cycle from 10–14 days to under 15 seconds of compute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60%+ COST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Overhead Elimination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Dramatically slashes agency fees and manual copy-pasting hours spent on routine formatting.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24/7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RL Bidding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PPO Actor-Critic policy continuously tunes channel budgets to capture high-performing ad windows.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100% BRAND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Zero Context Drift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Immutable brief propagation guarantees complete brand tone consistency across all marketing assets.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EVALUATION &amp;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Technical Rigor, Testing &amp; Quantitative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Every component of ADPilot Pro has been verified through automated test suites, contract schema audits, and end-to-end integration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23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52 / 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FRONTEND VITEST TESTS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passing across Component UI, Brief Form, Design Preview, Result Display.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F0FF"/>
                </a:solidFill>
                <a:latin typeface="Segoe UI"/>
              </a:defRPr>
            </a:pPr>
            <a:r>
              <a:t>269 / 269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BACKEND PYTEST TESTS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passing across 18 Agents, BaseAgent contract inheritance, Pydantic v2 schemas.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B5CF6"/>
                </a:solidFill>
                <a:latin typeface="Segoe UI"/>
              </a:defRPr>
            </a:pPr>
            <a:r>
              <a:t>0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TYPESCRIPT COMPILATION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Clean `tsc --noEmit` build across all React 18 interfaces and typed state hooks.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214884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Segoe UI"/>
              </a:defRPr>
            </a:pPr>
            <a:r>
              <a:t>&lt; 0.1%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SCHEMA VALIDATION ERROR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SVER &lt; 0.1% across multi-agent handoffs, confirming zero payload corruption.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77639"/>
            <a:ext cx="10728655" cy="210312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60520"/>
            <a:ext cx="102714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AUTOMATED VERIFICATION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434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Unit &amp; Contract Tests: Verifies immutable data schemas, Pydantic type coercion, and tool mocking for offline execution.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Integration DAG Verification: 18 verification scripts (verify_phase1.py through verify_phase16.py) validating pipeline execution.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Mathematical Convergence: PPO Actor-Critic policy gradient updates tested against simulated baseline environments.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UI End-to-End Build: Clean production build in 9.78s transforming 1,503 Vite modules with zero bundle warnings.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MARKET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Multi-Vertical Market Application &amp; ICP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The Product Classifier Agent dynamically adapts funnel frameworks, tone profiles, and creative tokens across major commercial verticals.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B2B SAAS &amp;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High-LTV Customer Acquisition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Multi-stage lead nurture &amp; demo requests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LinkedIn Sponsored, Google Search RSAs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Deep technical battlecards &amp; ROI case studies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E-COMMERCE &amp; DTC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High-Volume Transactional Scale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Direct checkout conversion &amp; ROAS scale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Meta Carousel, Instagram Feed, TikTok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Nano Banana multi-variant creative diffusion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DIGITAL AGENCIES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Multi-Client Operational Scale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10x throughput per marketing strategist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Omnichannel multi-client client workspaces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Automated white-label strategy playbook generation</a:t>
            </a:r>
          </a:p>
          <a:p/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FINTECH &amp;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High-Trust Regulated Sectors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Trust building, compliance &amp; qualification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High-intent search, compliance landing pages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Strict HITL review &amp; cryptographic audit trails</a:t>
            </a:r>
          </a:p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Commercial SaaS Monetization &amp; Revenue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Scalable subscription tiers paired with usage-based neural compute credits for high gross-margin enterprise monetization.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GROWTH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Segoe UI"/>
              </a:defRPr>
            </a:pPr>
            <a:r>
              <a:t>$499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SMBs &amp; DTC Brands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Full 18-Agent Autonomous Pipeline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Up to 20 Campaigns / Month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Nano Banana Visual Asset Studio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CLIP-ViT Pre-Flight Quality Check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Standard Email &amp; Chat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AGENCY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5CF6"/>
                </a:solidFill>
                <a:latin typeface="Segoe UI"/>
              </a:defRPr>
            </a:pPr>
            <a:r>
              <a:t>$1,499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Digital Marketing Agencies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Multi-Client Isolated Workspaces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Unlimited Autonomous Campaigns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Custom Brand Tone &amp; Hex Profiles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White-Label PDF Playbook Export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Dedicated Technical Account 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ENTERPRISE CUSTOM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$5,000+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Large Enterprises &amp; Scaleups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Dedicated VPC On-Prem Deployment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Custom Ad Network Bidding API Sync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Fine-Tuned Custom PPO Policy Models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Private Isolated Qdrant Vector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99.9% Uptime SLA &amp; 24/7 Security Support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SCIENTIFIC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System Limitations &amp; Technical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Maintaining rigorous academic honesty by explicitly separating current verified capabilities from current environmental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1. SIMULATION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PPO Policy Simulator Bounds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Trained on econometric market simulators with realistic CTR/CPC noise distributions.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Real-world market dynamics feature stochastic external shocks not fully modeled in synthetic replay buffers.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Dirichlet simplex bounding constraints prevent catastrophic budget shifts in unobserved states.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VIDEO SYNTHESIS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Multi-Modal Creative Scope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high-resolution multi-aspect static image banners and rich copywriting.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Direct autonomous video rendering (e.g. Sora / Runway API) is currently in architectural design phase.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detailed storyboard prompt scripts ready for external video production pipelines.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3. API RATE LIMITS &amp;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External LLM Dependencies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Multi-provider routing between OpenAI GPT-4o and Anthropic Claude 3.5 Sonnet.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High concurrency runs can trigger third-party API rate limiting and token budget inflation.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Implemented FastEmbed BGE vector caching and local mock simulation fallback for offline execution.</a:t>
            </a:r>
          </a:p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Strategic Product Roadmap &amp; Scale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Clear separation between verified implemented features, active platform components, and future autonomous scaling horizons.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[VERIFIED &amp; IMPLEMENTED]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18-stage deterministic DAG execution engine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BaseAgent contract pattern &amp; Pydantic v2 validation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GPT-4o &amp; Claude 3.5 multi-provider intelligence routing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FastEmbed BGE + Qdrant Dual-Stream Hybrid RAG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PyTorch PPO Actor-Critic budget policy network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CLIP-ViT zero-shot visual aesthetic scoring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52/52 Vitest &amp; 269 Pytest automated test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PHASE 2: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[ACTIVE / PROTOTYPE]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FastAPI asynchronous REST gateway &amp; WebSockets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React 18 single-page cyber dashboard UI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Nano Banana multi-aspect ratio creative studio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SQLite &amp; In-Memory 4-tier persistent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HMAC-SHA256 cryptographic audit trail ledger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Multi-role HITL review governance center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Dry-run multi-channel publishing adapters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PHASE 3: SCALE &amp; RL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[FUTURE ROADMAP]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Live Meta Ads &amp; Google Ads direct API bidding sync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Real-time continuous online PPO policy adaptation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Generative multi-modal AI video ad diffusion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Federated multi-tenant cross-organization learning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Automated A/B creative multivariate experimentation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Enterprise SSO &amp; multi-region VPC clustering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4206240" cy="347472"/>
          </a:xfrm>
          <a:prstGeom prst="roundRect">
            <a:avLst/>
          </a:prstGeom>
          <a:solidFill>
            <a:srgbClr val="0D13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ACADEMIC CAPSTONE DEFENSE  //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ADPILOT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One Strategic Brief  •  18 Autonomous Agents  •  Continuous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5257800" cy="749808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546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SCIENTIFIC RIGOR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64408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Pydantic v2 typed contracts, continuous PPO policy gradients, Dual-Stream Hybrid RAG (MRR: 1.0), and CLIP-ViT visual quality 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13048"/>
            <a:ext cx="5257800" cy="749808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9592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ENGINEERING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05656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Production software platform with React 18 SPA, FastAPI backend, 52/52 Vitest tests, and 269 passing Pytest test suites.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54296"/>
            <a:ext cx="5257800" cy="749808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3717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COMMERCIAL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46904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Compresses 14-day launch cycles to under 15 seconds with +20% simulated ROAS gains and HMAC-SHA256 security.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822960"/>
            <a:ext cx="5193792" cy="4526280"/>
          </a:xfrm>
          <a:prstGeom prst="roundRect">
            <a:avLst/>
          </a:prstGeom>
          <a:solidFill>
            <a:srgbClr val="0D1322"/>
          </a:solidFill>
          <a:ln w="222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4919472" cy="411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79" y="4983480"/>
            <a:ext cx="5010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Consolas"/>
              </a:defRPr>
            </a:pPr>
            <a:r>
              <a:t>FROM STRATEGIC INTENT TO AUTONOMOUS ACTION — 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We sincerely thank the Digital Pioneers Initiative (DiGiLiANS), MCIT Egypt, and the Military Technical College (MTC) for their dedicated support.</a:t>
            </a:r>
          </a:p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ADPILOT PRO  •  AI &amp; DATA SCIENCE TRACK  •  CAPSTONE DEFENSE 2026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