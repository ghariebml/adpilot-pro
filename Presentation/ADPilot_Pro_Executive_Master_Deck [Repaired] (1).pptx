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150" d="100"/>
          <a:sy n="150" d="100"/>
        </p:scale>
        <p:origin x="4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5448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distinguished executives, partners, and committee members. Today we present ADPilot Pro: an Enterprise Autonomous Marketing Operating System. We designed ADPilot Pro to solve the massive fragmentation crisis in modern marketing by replacing disconnected toolchains with a coordinated multi-agent operating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agenda for today's presentation. We will walk through the market reality and the cost of fragmentation, introduce the ADPilot Pro solution, explore our 7 core autonomous agents, reveal the reinforcement learning and computer vision engines, share our empirical benchmark results, and outline our commercial SaaS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proud to present our core engineering team: Mohamed Gharieb as Team Lead and Master Orchestrator, Ahmed Awni leading Research, Mohamed Sleem leading Content, Khaled Mohamed leading Analytics, and Karem Tarek leading Design. We operate under the academic supervision of our advisors, supported by the Ministry of Communications and Information Technology and the Military Technical College.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marketing suffers from tool sprawl. Marketers spend more time bridging disconnected SaaS tools than developing great campaigns. Context is lost, creative quality decays, and single LLMs hallucinate when asked to manage end-to-end campaigns.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speak for themselves. 10 to 14 days of cycle latency, 68% brand drift, 20 to 35% ad spend leakage, and 70% of senior strategist time trapped in admin tasks. This is the financial cost ADPilot eliminates.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ADPilot Pro introduces a unified paradigm: One brief in, 16 specialized agents collaborating concurrently, and continuous closed-loop reinforcement learning out. Zero human copy-pasting required.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18-stage Directed Acyclic Graph. Strategy and Research run concurrently using Python asyncio.gather. Their validated JSON outputs pass into Content and Design, which are audited by our Computer Vision and Analytics agents before human review.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introduce the 7 core primary agents of ADPilot Pro. Each agent is modeled like a specialized robot executive: Strategy, Research, Content, Design, Computer Vision Quality, Predictive Analytics, and Deep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1 is the Strategy Agent. It ingests the business brief and constructs the full strategic blueprint: Ideal Customer Personas, Top/Middle/Bottom of Funnel allocations, dynamic budget weighting, and messaging pillars.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2 is the Research Agent. It connects to SerpAPI and Qdrant vector memory to analyze competitors, track viral trends, and capture the real colloquial language buyers use so that downstream ads convert naturally.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3 is the Content Agent. It produces multi-channel copy across Google Search, Meta, LinkedIn, and Email, enforcing character caps and generating visual direction briefs for the Design Agent.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4 is the Design Agent. It takes the visual direction from the Content Agent and engineers rich prompts for DALL-E 3, enforcing exact brand colors and channel aspect ratio specs.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5 is the Computer Vision Quality Agent. It uses OpenAI's CLIP ViT-B/32 model to compute mathematical cosine similarity between the generated image and ad copy text, ensuring no misaligned or low-quality visual ever reaches the ad networks.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6 is the Predictive Analytics Agent. It computes our pre-flight health scores and forecasts CTR and ROAS before launch, ensuring campaigns are optimized prior to spending real capital.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7 is the Reinforcement Learning Optimizer. It formulates ad management as an MDP and uses Proximal Policy Optimization (PPO) in PyTorch to dynamically shift budgets to top-performing channels 24/7.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data contracts guarantee system stability. Each agent adheres to Pydantic v2 schemas. If an agent outputs malformed JSON, our automated handler catches and rectifies it immediately.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ADPilot Pro's memory architecture combines short-term execution cache in Redis, long-term brand rules, and hybrid BM25 + Qdrant vector retrieval to guarantee persistent campaign intelligence.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agent ever exceeds a character limit or violates a budget cap, our Correction Engine detects it via constraint guards, classifies the issue, and triggers a targeted fix without crashing the pipeline.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technical decision-makers, ADPilot Pro is engineered on a hardened 5-layer architecture. Every layer is containerized with Docker and passes 269 automated unit and integration tests.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governance ensures total brand safety. AI proposes and scores, but marketing leaders maintain the final approval gateway with immutable cryptographic audit logging.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approved, our Publishing Agent utilizes native adapters to package and dispatch approved campaigns directly to Google, Meta, LinkedIn, and email service providers.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Post-launch, our Monitoring Agent acts as an automated circuit breaker, auditing live telemetry with statistical Z-scores to prevent budget waste and catch ad fatigue instantly.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confirms our production readiness. Our codebase is implemented in Python 3.12 and React 18, containerized with Docker, and backed by 269 automated tests.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hold ADPilot Pro to scientific standards. Strategic Coherence score &gt;= 75, Content Relevance &gt;= 72, CLIP visual alignment &gt;= 0.65, and schema errors under 5%. All grounded in published literature.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business leaders, ADPilot Pro delivers 10x operational velocity, cuts production costs by over 60%, provides 24/7 optimization, and guarantees 100% brand voice governance.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ADPilot Pro dynamically adapts to E-commerce, B2B SaaS, Marketing Agencies, and high-trust verticals like Real Estate and FinTech.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agencies and point tools, ADPilot Pro provides the only complete end-to-end operating system with pre-flight vision scoring and closed-loop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Commercially, ADPilot Pro monetizes via recurring B2B SaaS: Growth at $499/mo, Agency Pro at $1,499/mo, and Enterprise custom VPC deployments at $5,000+/mo, delivering gross margins above 80%.</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security is built-in: zero-data retention APIs, multi-tenant Qdrant vector isolation, JWT role-based access control, and cryptographic audit trails.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takes us from Phase 1 core multi-agent architecture to Phase 2 platform completion and Phase 3 live ad network bidding and real-time PPO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ADPilot Pro turns marketing from a manual friction point into an autonomous growth engine. We invite you to schedule a demo, deploy a pilot, or partner with us.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our supervisors, MCIT, the Military Technical College, and the Egyptian Military Academy. We now welcome all questions from the committee.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82880"/>
            <a:ext cx="6400800" cy="4572000"/>
          </a:xfrm>
          <a:prstGeom prst="ellipse">
            <a:avLst/>
          </a:prstGeom>
          <a:solidFill>
            <a:srgbClr val="047857">
              <a:alpha val="15000"/>
            </a:srgbClr>
          </a:solidFill>
          <a:ln w="12700">
            <a:solidFill>
              <a:srgbClr val="333333"/>
            </a:solidFill>
            <a:prstDash val="solid"/>
          </a:ln>
        </p:spPr>
      </p:sp>
      <p:pic>
        <p:nvPicPr>
          <p:cNvPr id="3" name="Image 0" descr="C:\Users\Admin\Desktop\Adpilot Progect\presentation_assets\logo_digilians.jpg"/>
          <p:cNvPicPr>
            <a:picLocks noChangeAspect="1"/>
          </p:cNvPicPr>
          <p:nvPr/>
        </p:nvPicPr>
        <p:blipFill>
          <a:blip r:embed="rId3"/>
          <a:stretch>
            <a:fillRect/>
          </a:stretch>
        </p:blipFill>
        <p:spPr>
          <a:xfrm>
            <a:off x="274828" y="116332"/>
            <a:ext cx="411480" cy="4114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 name="Image 1" descr="C:\Users\Admin\Desktop\Adpilot Progect\presentation_assets\logo_mcit.png"/>
          <p:cNvPicPr>
            <a:picLocks noChangeAspect="1"/>
          </p:cNvPicPr>
          <p:nvPr/>
        </p:nvPicPr>
        <p:blipFill>
          <a:blip r:embed="rId4"/>
          <a:stretch>
            <a:fillRect/>
          </a:stretch>
        </p:blipFill>
        <p:spPr>
          <a:xfrm>
            <a:off x="891286" y="145034"/>
            <a:ext cx="822960" cy="320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Image 2" descr="C:\Users\Admin\Desktop\Adpilot Progect\presentation_assets\logo_mtc.png"/>
          <p:cNvPicPr>
            <a:picLocks noChangeAspect="1"/>
          </p:cNvPicPr>
          <p:nvPr/>
        </p:nvPicPr>
        <p:blipFill rotWithShape="1">
          <a:blip r:embed="rId5"/>
          <a:srcRect l="-1" r="6249" b="11111"/>
          <a:stretch/>
        </p:blipFill>
        <p:spPr>
          <a:xfrm>
            <a:off x="8174227" y="72644"/>
            <a:ext cx="411481" cy="3657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Image 3" descr="C:\Users\Admin\Desktop\Adpilot Progect\presentation_assets\logo_military_academy.png"/>
          <p:cNvPicPr>
            <a:picLocks noChangeAspect="1"/>
          </p:cNvPicPr>
          <p:nvPr/>
        </p:nvPicPr>
        <p:blipFill>
          <a:blip r:embed="rId6"/>
          <a:stretch>
            <a:fillRect/>
          </a:stretch>
        </p:blipFill>
        <p:spPr>
          <a:xfrm>
            <a:off x="8723376" y="46990"/>
            <a:ext cx="420624" cy="411480"/>
          </a:xfrm>
          <a:prstGeom prst="rect">
            <a:avLst/>
          </a:prstGeom>
        </p:spPr>
      </p:pic>
      <p:sp>
        <p:nvSpPr>
          <p:cNvPr id="7" name="Shape 1"/>
          <p:cNvSpPr/>
          <p:nvPr/>
        </p:nvSpPr>
        <p:spPr>
          <a:xfrm>
            <a:off x="6583680" y="735584"/>
            <a:ext cx="2011680" cy="292608"/>
          </a:xfrm>
          <a:prstGeom prst="roundRect">
            <a:avLst>
              <a:gd name="adj" fmla="val 15625"/>
            </a:avLst>
          </a:prstGeom>
          <a:solidFill>
            <a:srgbClr val="064E3B"/>
          </a:solidFill>
          <a:ln w="10160">
            <a:solidFill>
              <a:srgbClr val="10B981"/>
            </a:solidFill>
            <a:prstDash val="solid"/>
          </a:ln>
        </p:spPr>
      </p:sp>
      <p:sp>
        <p:nvSpPr>
          <p:cNvPr id="8" name="Text 2"/>
          <p:cNvSpPr/>
          <p:nvPr/>
        </p:nvSpPr>
        <p:spPr>
          <a:xfrm>
            <a:off x="6574028" y="758952"/>
            <a:ext cx="2011680" cy="256032"/>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ENTERPRISE AI MARKETING OS</a:t>
            </a:r>
            <a:endParaRPr lang="en-US" sz="800" dirty="0"/>
          </a:p>
        </p:txBody>
      </p:sp>
      <p:sp>
        <p:nvSpPr>
          <p:cNvPr id="9" name="Text 3"/>
          <p:cNvSpPr/>
          <p:nvPr/>
        </p:nvSpPr>
        <p:spPr>
          <a:xfrm>
            <a:off x="548640" y="1097280"/>
            <a:ext cx="8046720" cy="777240"/>
          </a:xfrm>
          <a:prstGeom prst="rect">
            <a:avLst/>
          </a:prstGeom>
          <a:noFill/>
          <a:ln/>
        </p:spPr>
        <p:txBody>
          <a:bodyPr wrap="square" rtlCol="0" anchor="ctr"/>
          <a:lstStyle/>
          <a:p>
            <a:pPr marL="0" indent="0">
              <a:buNone/>
            </a:pPr>
            <a:r>
              <a:rPr lang="en-US" sz="4200" b="1" kern="0" spc="300" dirty="0">
                <a:solidFill>
                  <a:srgbClr val="F8FAFC"/>
                </a:solidFill>
                <a:latin typeface="Arial" pitchFamily="34" charset="0"/>
                <a:ea typeface="Arial" pitchFamily="34" charset="-122"/>
                <a:cs typeface="Arial" pitchFamily="34" charset="-120"/>
              </a:rPr>
              <a:t>ADPILOT PRO</a:t>
            </a:r>
            <a:endParaRPr lang="en-US" sz="4200" dirty="0"/>
          </a:p>
        </p:txBody>
      </p:sp>
      <p:sp>
        <p:nvSpPr>
          <p:cNvPr id="10" name="Text 4"/>
          <p:cNvSpPr/>
          <p:nvPr/>
        </p:nvSpPr>
        <p:spPr>
          <a:xfrm>
            <a:off x="548640" y="1874520"/>
            <a:ext cx="8046720" cy="384048"/>
          </a:xfrm>
          <a:prstGeom prst="rect">
            <a:avLst/>
          </a:prstGeom>
          <a:noFill/>
          <a:ln/>
        </p:spPr>
        <p:txBody>
          <a:bodyPr wrap="square" rtlCol="0" anchor="ctr"/>
          <a:lstStyle/>
          <a:p>
            <a:pPr marL="0" indent="0">
              <a:buNone/>
            </a:pPr>
            <a:r>
              <a:rPr lang="en-US" sz="1700" b="1" dirty="0">
                <a:solidFill>
                  <a:srgbClr val="34D399"/>
                </a:solidFill>
                <a:latin typeface="Arial" pitchFamily="34" charset="0"/>
                <a:ea typeface="Arial" pitchFamily="34" charset="-122"/>
                <a:cs typeface="Arial" pitchFamily="34" charset="-120"/>
              </a:rPr>
              <a:t>The Enterprise Autonomous Marketing Operating System</a:t>
            </a:r>
            <a:endParaRPr lang="en-US" sz="1700" dirty="0"/>
          </a:p>
        </p:txBody>
      </p:sp>
      <p:sp>
        <p:nvSpPr>
          <p:cNvPr id="11" name="Text 5"/>
          <p:cNvSpPr/>
          <p:nvPr/>
        </p:nvSpPr>
        <p:spPr>
          <a:xfrm>
            <a:off x="548640" y="2304288"/>
            <a:ext cx="5029200" cy="777240"/>
          </a:xfrm>
          <a:prstGeom prst="rect">
            <a:avLst/>
          </a:prstGeom>
          <a:noFill/>
          <a:ln/>
        </p:spPr>
        <p:txBody>
          <a:bodyPr wrap="square" rtlCol="0" anchor="ctr"/>
          <a:lstStyle/>
          <a:p>
            <a:pPr marL="0" indent="0">
              <a:buNone/>
            </a:pPr>
            <a:r>
              <a:rPr lang="en-US" sz="1100" dirty="0">
                <a:solidFill>
                  <a:srgbClr val="CBD5E1"/>
                </a:solidFill>
                <a:latin typeface="Arial" pitchFamily="34" charset="0"/>
                <a:ea typeface="Arial" pitchFamily="34" charset="-122"/>
                <a:cs typeface="Arial" pitchFamily="34" charset="-120"/>
              </a:rPr>
              <a:t>Orchestrating 16 specialized AI agents, deep market intelligence, computer vision quality gates, and closed-loop reinforcement learning to transform business objectives into high-converting campaigns.</a:t>
            </a:r>
            <a:endParaRPr lang="en-US" sz="1100" dirty="0"/>
          </a:p>
        </p:txBody>
      </p:sp>
      <p:sp>
        <p:nvSpPr>
          <p:cNvPr id="12" name="Shape 6"/>
          <p:cNvSpPr/>
          <p:nvPr/>
        </p:nvSpPr>
        <p:spPr>
          <a:xfrm>
            <a:off x="548640" y="3246120"/>
            <a:ext cx="1554480" cy="1234440"/>
          </a:xfrm>
          <a:prstGeom prst="roundRect">
            <a:avLst>
              <a:gd name="adj" fmla="val 5926"/>
            </a:avLst>
          </a:prstGeom>
          <a:solidFill>
            <a:srgbClr val="131D31"/>
          </a:solidFill>
          <a:ln w="12700">
            <a:solidFill>
              <a:srgbClr val="047857"/>
            </a:solidFill>
            <a:prstDash val="solid"/>
          </a:ln>
        </p:spPr>
      </p:sp>
      <p:sp>
        <p:nvSpPr>
          <p:cNvPr id="13" name="Text 7"/>
          <p:cNvSpPr/>
          <p:nvPr/>
        </p:nvSpPr>
        <p:spPr>
          <a:xfrm>
            <a:off x="640080" y="3355848"/>
            <a:ext cx="1371600" cy="201168"/>
          </a:xfrm>
          <a:prstGeom prst="rect">
            <a:avLst/>
          </a:prstGeom>
          <a:noFill/>
          <a:ln/>
        </p:spPr>
        <p:txBody>
          <a:bodyPr wrap="square" rtlCol="0" anchor="ctr"/>
          <a:lstStyle/>
          <a:p>
            <a:pPr marL="0" indent="0">
              <a:buNone/>
            </a:pPr>
            <a:r>
              <a:rPr lang="en-US" sz="850" b="1" dirty="0">
                <a:solidFill>
                  <a:srgbClr val="10B981"/>
                </a:solidFill>
                <a:latin typeface="Arial" pitchFamily="34" charset="0"/>
                <a:ea typeface="Arial" pitchFamily="34" charset="-122"/>
                <a:cs typeface="Arial" pitchFamily="34" charset="-120"/>
              </a:rPr>
              <a:t>16 SPECIALIZED AGENTS</a:t>
            </a:r>
            <a:endParaRPr lang="en-US" sz="850" dirty="0"/>
          </a:p>
        </p:txBody>
      </p:sp>
      <p:sp>
        <p:nvSpPr>
          <p:cNvPr id="14" name="Text 8"/>
          <p:cNvSpPr/>
          <p:nvPr/>
        </p:nvSpPr>
        <p:spPr>
          <a:xfrm>
            <a:off x="640080" y="3593592"/>
            <a:ext cx="1371600" cy="7772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Autonomous fleet collaborating on strategy, copy, vision &amp; analytics.</a:t>
            </a:r>
            <a:endParaRPr lang="en-US" sz="800" dirty="0"/>
          </a:p>
        </p:txBody>
      </p:sp>
      <p:sp>
        <p:nvSpPr>
          <p:cNvPr id="15" name="Shape 9"/>
          <p:cNvSpPr/>
          <p:nvPr/>
        </p:nvSpPr>
        <p:spPr>
          <a:xfrm>
            <a:off x="2240280" y="3246120"/>
            <a:ext cx="1554480" cy="1234440"/>
          </a:xfrm>
          <a:prstGeom prst="roundRect">
            <a:avLst>
              <a:gd name="adj" fmla="val 5926"/>
            </a:avLst>
          </a:prstGeom>
          <a:solidFill>
            <a:srgbClr val="131D31"/>
          </a:solidFill>
          <a:ln w="12700">
            <a:solidFill>
              <a:srgbClr val="0EA5E9"/>
            </a:solidFill>
            <a:prstDash val="solid"/>
          </a:ln>
        </p:spPr>
      </p:sp>
      <p:sp>
        <p:nvSpPr>
          <p:cNvPr id="16" name="Text 10"/>
          <p:cNvSpPr/>
          <p:nvPr/>
        </p:nvSpPr>
        <p:spPr>
          <a:xfrm>
            <a:off x="2331720" y="3355848"/>
            <a:ext cx="1371600" cy="201168"/>
          </a:xfrm>
          <a:prstGeom prst="rect">
            <a:avLst/>
          </a:prstGeom>
          <a:noFill/>
          <a:ln/>
        </p:spPr>
        <p:txBody>
          <a:bodyPr wrap="square" rtlCol="0" anchor="ctr"/>
          <a:lstStyle/>
          <a:p>
            <a:pPr marL="0" indent="0">
              <a:buNone/>
            </a:pPr>
            <a:r>
              <a:rPr lang="en-US" sz="850" b="1" dirty="0">
                <a:solidFill>
                  <a:srgbClr val="0EA5E9"/>
                </a:solidFill>
                <a:latin typeface="Arial" pitchFamily="34" charset="0"/>
                <a:ea typeface="Arial" pitchFamily="34" charset="-122"/>
                <a:cs typeface="Arial" pitchFamily="34" charset="-120"/>
              </a:rPr>
              <a:t>PPO RL OPTIMIZER</a:t>
            </a:r>
            <a:endParaRPr lang="en-US" sz="850" dirty="0"/>
          </a:p>
        </p:txBody>
      </p:sp>
      <p:sp>
        <p:nvSpPr>
          <p:cNvPr id="17" name="Text 11"/>
          <p:cNvSpPr/>
          <p:nvPr/>
        </p:nvSpPr>
        <p:spPr>
          <a:xfrm>
            <a:off x="2331720" y="3593592"/>
            <a:ext cx="1371600" cy="7772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Deep Reinforcement Learning continuously reallocates budget &amp; bids.</a:t>
            </a:r>
            <a:endParaRPr lang="en-US" sz="800" dirty="0"/>
          </a:p>
        </p:txBody>
      </p:sp>
      <p:sp>
        <p:nvSpPr>
          <p:cNvPr id="18" name="Shape 12"/>
          <p:cNvSpPr/>
          <p:nvPr/>
        </p:nvSpPr>
        <p:spPr>
          <a:xfrm>
            <a:off x="3931920" y="3246120"/>
            <a:ext cx="1554480" cy="1234440"/>
          </a:xfrm>
          <a:prstGeom prst="roundRect">
            <a:avLst>
              <a:gd name="adj" fmla="val 5926"/>
            </a:avLst>
          </a:prstGeom>
          <a:solidFill>
            <a:srgbClr val="131D31"/>
          </a:solidFill>
          <a:ln w="12700">
            <a:solidFill>
              <a:srgbClr val="6366F1"/>
            </a:solidFill>
            <a:prstDash val="solid"/>
          </a:ln>
        </p:spPr>
      </p:sp>
      <p:sp>
        <p:nvSpPr>
          <p:cNvPr id="19" name="Text 13"/>
          <p:cNvSpPr/>
          <p:nvPr/>
        </p:nvSpPr>
        <p:spPr>
          <a:xfrm>
            <a:off x="4023360" y="3355848"/>
            <a:ext cx="1371600" cy="201168"/>
          </a:xfrm>
          <a:prstGeom prst="rect">
            <a:avLst/>
          </a:prstGeom>
          <a:noFill/>
          <a:ln/>
        </p:spPr>
        <p:txBody>
          <a:bodyPr wrap="square" rtlCol="0" anchor="ctr"/>
          <a:lstStyle/>
          <a:p>
            <a:pPr marL="0" indent="0">
              <a:buNone/>
            </a:pPr>
            <a:r>
              <a:rPr lang="en-US" sz="850" b="1" dirty="0">
                <a:solidFill>
                  <a:srgbClr val="6366F1"/>
                </a:solidFill>
                <a:latin typeface="Arial" pitchFamily="34" charset="0"/>
                <a:ea typeface="Arial" pitchFamily="34" charset="-122"/>
                <a:cs typeface="Arial" pitchFamily="34" charset="-120"/>
              </a:rPr>
              <a:t>ENTERPRISE GOVERNANCE</a:t>
            </a:r>
            <a:endParaRPr lang="en-US" sz="850" dirty="0"/>
          </a:p>
        </p:txBody>
      </p:sp>
      <p:sp>
        <p:nvSpPr>
          <p:cNvPr id="20" name="Text 14"/>
          <p:cNvSpPr/>
          <p:nvPr/>
        </p:nvSpPr>
        <p:spPr>
          <a:xfrm>
            <a:off x="4023360" y="3593592"/>
            <a:ext cx="1371600" cy="7772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Pre-flight scoring, CLIP-ViT visual gates, and cryptographic audit trails.</a:t>
            </a:r>
            <a:endParaRPr lang="en-US" sz="800" dirty="0"/>
          </a:p>
        </p:txBody>
      </p:sp>
      <p:sp>
        <p:nvSpPr>
          <p:cNvPr id="21" name="Shape 15"/>
          <p:cNvSpPr/>
          <p:nvPr/>
        </p:nvSpPr>
        <p:spPr>
          <a:xfrm>
            <a:off x="5760720" y="1280160"/>
            <a:ext cx="2834640" cy="3200400"/>
          </a:xfrm>
          <a:prstGeom prst="roundRect">
            <a:avLst>
              <a:gd name="adj" fmla="val 2581"/>
            </a:avLst>
          </a:prstGeom>
          <a:solidFill>
            <a:srgbClr val="131D31"/>
          </a:solidFill>
          <a:ln w="12700">
            <a:solidFill>
              <a:srgbClr val="10B981"/>
            </a:solidFill>
            <a:prstDash val="solid"/>
          </a:ln>
        </p:spPr>
      </p:sp>
      <p:pic>
        <p:nvPicPr>
          <p:cNvPr id="22" name="Image 4" descr="C:\Users\Admin\Desktop\Adpilot Progect\presentation_assets\adpilot_hero.png"/>
          <p:cNvPicPr>
            <a:picLocks noChangeAspect="1"/>
          </p:cNvPicPr>
          <p:nvPr/>
        </p:nvPicPr>
        <p:blipFill>
          <a:blip r:embed="rId7"/>
          <a:stretch>
            <a:fillRect/>
          </a:stretch>
        </p:blipFill>
        <p:spPr>
          <a:xfrm>
            <a:off x="5897880" y="1417320"/>
            <a:ext cx="2560320" cy="1691640"/>
          </a:xfrm>
          <a:prstGeom prst="rect">
            <a:avLst/>
          </a:prstGeom>
        </p:spPr>
      </p:pic>
      <p:sp>
        <p:nvSpPr>
          <p:cNvPr id="23" name="Text 16"/>
          <p:cNvSpPr/>
          <p:nvPr/>
        </p:nvSpPr>
        <p:spPr>
          <a:xfrm>
            <a:off x="5897880" y="3246120"/>
            <a:ext cx="2560320" cy="228600"/>
          </a:xfrm>
          <a:prstGeom prst="rect">
            <a:avLst/>
          </a:prstGeom>
          <a:noFill/>
          <a:ln/>
        </p:spPr>
        <p:txBody>
          <a:bodyPr wrap="square" rtlCol="0" anchor="ctr"/>
          <a:lstStyle/>
          <a:p>
            <a:pPr marL="0" indent="0">
              <a:buNone/>
            </a:pPr>
            <a:r>
              <a:rPr lang="en-US" sz="900" b="1" dirty="0">
                <a:solidFill>
                  <a:srgbClr val="34D399"/>
                </a:solidFill>
                <a:latin typeface="Arial" pitchFamily="34" charset="0"/>
                <a:ea typeface="Arial" pitchFamily="34" charset="-122"/>
                <a:cs typeface="Arial" pitchFamily="34" charset="-120"/>
              </a:rPr>
              <a:t>ENTERPRISE AI OPERATING SYSTEM</a:t>
            </a:r>
            <a:endParaRPr lang="en-US" sz="900" dirty="0"/>
          </a:p>
        </p:txBody>
      </p:sp>
      <p:sp>
        <p:nvSpPr>
          <p:cNvPr id="24" name="Text 17"/>
          <p:cNvSpPr/>
          <p:nvPr/>
        </p:nvSpPr>
        <p:spPr>
          <a:xfrm>
            <a:off x="5897880" y="3493008"/>
            <a:ext cx="2560320" cy="8229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Built with Python 3.12, FastAPI, React 18, PyTorch PPO, Qdrant RAG, and CLIP-ViT.</a:t>
            </a:r>
            <a:endParaRPr lang="en-US" sz="800" dirty="0"/>
          </a:p>
        </p:txBody>
      </p:sp>
      <p:sp>
        <p:nvSpPr>
          <p:cNvPr id="25" name="Text 18"/>
          <p:cNvSpPr/>
          <p:nvPr/>
        </p:nvSpPr>
        <p:spPr>
          <a:xfrm>
            <a:off x="548640" y="4800600"/>
            <a:ext cx="8046720" cy="22860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ARCHITECTURE: 18-Stage Process DAG • Pydantic v2 Typed Contracts • Closed-Loop Telemetry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TABLE OF CONTENTS // STRATEGIC ROADMAP</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Executive Presentation Agenda</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02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 structured walkthrough of the market opportunity, autonomous multi-agent architecture, intelligence engines, empirical proof, and commercial ROI.</a:t>
            </a:r>
            <a:endParaRPr lang="en-US" sz="1050" dirty="0"/>
          </a:p>
        </p:txBody>
      </p:sp>
      <p:sp>
        <p:nvSpPr>
          <p:cNvPr id="11" name="Shape 9"/>
          <p:cNvSpPr/>
          <p:nvPr/>
        </p:nvSpPr>
        <p:spPr>
          <a:xfrm>
            <a:off x="548640" y="1600200"/>
            <a:ext cx="2560320" cy="1417320"/>
          </a:xfrm>
          <a:prstGeom prst="roundRect">
            <a:avLst>
              <a:gd name="adj" fmla="val 5161"/>
            </a:avLst>
          </a:prstGeom>
          <a:solidFill>
            <a:srgbClr val="131D31"/>
          </a:solidFill>
          <a:ln w="12700">
            <a:solidFill>
              <a:srgbClr val="233554"/>
            </a:solidFill>
            <a:prstDash val="solid"/>
          </a:ln>
        </p:spPr>
      </p:sp>
      <p:sp>
        <p:nvSpPr>
          <p:cNvPr id="12" name="Shape 10"/>
          <p:cNvSpPr/>
          <p:nvPr/>
        </p:nvSpPr>
        <p:spPr>
          <a:xfrm>
            <a:off x="548640" y="1600200"/>
            <a:ext cx="2560320" cy="36576"/>
          </a:xfrm>
          <a:prstGeom prst="rect">
            <a:avLst/>
          </a:prstGeom>
          <a:solidFill>
            <a:srgbClr val="F43F5E"/>
          </a:solidFill>
          <a:ln w="12700">
            <a:solidFill>
              <a:srgbClr val="333333"/>
            </a:solidFill>
            <a:prstDash val="solid"/>
          </a:ln>
        </p:spPr>
      </p:sp>
      <p:sp>
        <p:nvSpPr>
          <p:cNvPr id="13" name="Text 11"/>
          <p:cNvSpPr/>
          <p:nvPr/>
        </p:nvSpPr>
        <p:spPr>
          <a:xfrm>
            <a:off x="685800" y="1709928"/>
            <a:ext cx="731520" cy="320040"/>
          </a:xfrm>
          <a:prstGeom prst="rect">
            <a:avLst/>
          </a:prstGeom>
          <a:noFill/>
          <a:ln/>
        </p:spPr>
        <p:txBody>
          <a:bodyPr wrap="square" rtlCol="0" anchor="ctr"/>
          <a:lstStyle/>
          <a:p>
            <a:pPr marL="0" indent="0">
              <a:buNone/>
            </a:pPr>
            <a:r>
              <a:rPr lang="en-US" sz="1800" b="1" dirty="0">
                <a:solidFill>
                  <a:srgbClr val="F43F5E"/>
                </a:solidFill>
                <a:latin typeface="Arial" pitchFamily="34" charset="0"/>
                <a:ea typeface="Arial" pitchFamily="34" charset="-122"/>
                <a:cs typeface="Arial" pitchFamily="34" charset="-120"/>
              </a:rPr>
              <a:t>01</a:t>
            </a:r>
            <a:endParaRPr lang="en-US" sz="1800" dirty="0"/>
          </a:p>
        </p:txBody>
      </p:sp>
      <p:sp>
        <p:nvSpPr>
          <p:cNvPr id="14" name="Text 12"/>
          <p:cNvSpPr/>
          <p:nvPr/>
        </p:nvSpPr>
        <p:spPr>
          <a:xfrm>
            <a:off x="685800" y="2039112"/>
            <a:ext cx="2286000" cy="27432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The Problem &amp; Market Drain</a:t>
            </a:r>
            <a:endParaRPr lang="en-US" sz="1050" dirty="0"/>
          </a:p>
        </p:txBody>
      </p:sp>
      <p:sp>
        <p:nvSpPr>
          <p:cNvPr id="15" name="Text 13"/>
          <p:cNvSpPr/>
          <p:nvPr/>
        </p:nvSpPr>
        <p:spPr>
          <a:xfrm>
            <a:off x="685800" y="2331720"/>
            <a:ext cx="2286000" cy="594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The marketing fragmentation crisis, tool silos, and the real cost of operational lag.</a:t>
            </a:r>
            <a:endParaRPr lang="en-US" sz="800" dirty="0"/>
          </a:p>
        </p:txBody>
      </p:sp>
      <p:sp>
        <p:nvSpPr>
          <p:cNvPr id="16" name="Shape 14"/>
          <p:cNvSpPr/>
          <p:nvPr/>
        </p:nvSpPr>
        <p:spPr>
          <a:xfrm>
            <a:off x="3291840" y="1600200"/>
            <a:ext cx="2560320" cy="1417320"/>
          </a:xfrm>
          <a:prstGeom prst="roundRect">
            <a:avLst>
              <a:gd name="adj" fmla="val 5161"/>
            </a:avLst>
          </a:prstGeom>
          <a:solidFill>
            <a:srgbClr val="131D31"/>
          </a:solidFill>
          <a:ln w="12700">
            <a:solidFill>
              <a:srgbClr val="233554"/>
            </a:solidFill>
            <a:prstDash val="solid"/>
          </a:ln>
        </p:spPr>
      </p:sp>
      <p:sp>
        <p:nvSpPr>
          <p:cNvPr id="17" name="Shape 15"/>
          <p:cNvSpPr/>
          <p:nvPr/>
        </p:nvSpPr>
        <p:spPr>
          <a:xfrm>
            <a:off x="3291840" y="1600200"/>
            <a:ext cx="2560320" cy="36576"/>
          </a:xfrm>
          <a:prstGeom prst="rect">
            <a:avLst/>
          </a:prstGeom>
          <a:solidFill>
            <a:srgbClr val="10B981"/>
          </a:solidFill>
          <a:ln w="12700">
            <a:solidFill>
              <a:srgbClr val="333333"/>
            </a:solidFill>
            <a:prstDash val="solid"/>
          </a:ln>
        </p:spPr>
      </p:sp>
      <p:sp>
        <p:nvSpPr>
          <p:cNvPr id="18" name="Text 16"/>
          <p:cNvSpPr/>
          <p:nvPr/>
        </p:nvSpPr>
        <p:spPr>
          <a:xfrm>
            <a:off x="3429000" y="1709928"/>
            <a:ext cx="731520" cy="320040"/>
          </a:xfrm>
          <a:prstGeom prst="rect">
            <a:avLst/>
          </a:prstGeom>
          <a:noFill/>
          <a:ln/>
        </p:spPr>
        <p:txBody>
          <a:bodyPr wrap="square" rtlCol="0" anchor="ctr"/>
          <a:lstStyle/>
          <a:p>
            <a:pPr marL="0" indent="0">
              <a:buNone/>
            </a:pPr>
            <a:r>
              <a:rPr lang="en-US" sz="1800" b="1" dirty="0">
                <a:solidFill>
                  <a:srgbClr val="10B981"/>
                </a:solidFill>
                <a:latin typeface="Arial" pitchFamily="34" charset="0"/>
                <a:ea typeface="Arial" pitchFamily="34" charset="-122"/>
                <a:cs typeface="Arial" pitchFamily="34" charset="-120"/>
              </a:rPr>
              <a:t>02</a:t>
            </a:r>
            <a:endParaRPr lang="en-US" sz="1800" dirty="0"/>
          </a:p>
        </p:txBody>
      </p:sp>
      <p:sp>
        <p:nvSpPr>
          <p:cNvPr id="19" name="Text 17"/>
          <p:cNvSpPr/>
          <p:nvPr/>
        </p:nvSpPr>
        <p:spPr>
          <a:xfrm>
            <a:off x="3429000" y="2039112"/>
            <a:ext cx="2286000" cy="27432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ADPilot Pro &amp; Architecture</a:t>
            </a:r>
            <a:endParaRPr lang="en-US" sz="1050" dirty="0"/>
          </a:p>
        </p:txBody>
      </p:sp>
      <p:sp>
        <p:nvSpPr>
          <p:cNvPr id="20" name="Text 18"/>
          <p:cNvSpPr/>
          <p:nvPr/>
        </p:nvSpPr>
        <p:spPr>
          <a:xfrm>
            <a:off x="3429000" y="2331720"/>
            <a:ext cx="2286000" cy="594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The unified AI OS, master 18-stage DAG pipeline, and context integrity.</a:t>
            </a:r>
            <a:endParaRPr lang="en-US" sz="800" dirty="0"/>
          </a:p>
        </p:txBody>
      </p:sp>
      <p:sp>
        <p:nvSpPr>
          <p:cNvPr id="21" name="Shape 19"/>
          <p:cNvSpPr/>
          <p:nvPr/>
        </p:nvSpPr>
        <p:spPr>
          <a:xfrm>
            <a:off x="6035040" y="1600200"/>
            <a:ext cx="2560320" cy="1417320"/>
          </a:xfrm>
          <a:prstGeom prst="roundRect">
            <a:avLst>
              <a:gd name="adj" fmla="val 5161"/>
            </a:avLst>
          </a:prstGeom>
          <a:solidFill>
            <a:srgbClr val="131D31"/>
          </a:solidFill>
          <a:ln w="12700">
            <a:solidFill>
              <a:srgbClr val="233554"/>
            </a:solidFill>
            <a:prstDash val="solid"/>
          </a:ln>
        </p:spPr>
      </p:sp>
      <p:sp>
        <p:nvSpPr>
          <p:cNvPr id="22" name="Shape 20"/>
          <p:cNvSpPr/>
          <p:nvPr/>
        </p:nvSpPr>
        <p:spPr>
          <a:xfrm>
            <a:off x="6035040" y="1600200"/>
            <a:ext cx="2560320" cy="36576"/>
          </a:xfrm>
          <a:prstGeom prst="rect">
            <a:avLst/>
          </a:prstGeom>
          <a:solidFill>
            <a:srgbClr val="0EA5E9"/>
          </a:solidFill>
          <a:ln w="12700">
            <a:solidFill>
              <a:srgbClr val="333333"/>
            </a:solidFill>
            <a:prstDash val="solid"/>
          </a:ln>
        </p:spPr>
      </p:sp>
      <p:sp>
        <p:nvSpPr>
          <p:cNvPr id="23" name="Text 21"/>
          <p:cNvSpPr/>
          <p:nvPr/>
        </p:nvSpPr>
        <p:spPr>
          <a:xfrm>
            <a:off x="6172200" y="1709928"/>
            <a:ext cx="731520" cy="320040"/>
          </a:xfrm>
          <a:prstGeom prst="rect">
            <a:avLst/>
          </a:prstGeom>
          <a:noFill/>
          <a:ln/>
        </p:spPr>
        <p:txBody>
          <a:bodyPr wrap="square" rtlCol="0" anchor="ctr"/>
          <a:lstStyle/>
          <a:p>
            <a:pPr marL="0" indent="0">
              <a:buNone/>
            </a:pPr>
            <a:r>
              <a:rPr lang="en-US" sz="1800" b="1" dirty="0">
                <a:solidFill>
                  <a:srgbClr val="0EA5E9"/>
                </a:solidFill>
                <a:latin typeface="Arial" pitchFamily="34" charset="0"/>
                <a:ea typeface="Arial" pitchFamily="34" charset="-122"/>
                <a:cs typeface="Arial" pitchFamily="34" charset="-120"/>
              </a:rPr>
              <a:t>03</a:t>
            </a:r>
            <a:endParaRPr lang="en-US" sz="1800" dirty="0"/>
          </a:p>
        </p:txBody>
      </p:sp>
      <p:sp>
        <p:nvSpPr>
          <p:cNvPr id="24" name="Text 22"/>
          <p:cNvSpPr/>
          <p:nvPr/>
        </p:nvSpPr>
        <p:spPr>
          <a:xfrm>
            <a:off x="6172200" y="2039112"/>
            <a:ext cx="2286000" cy="27432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The 7 Core AI Agents Fleet</a:t>
            </a:r>
            <a:endParaRPr lang="en-US" sz="1050" dirty="0"/>
          </a:p>
        </p:txBody>
      </p:sp>
      <p:sp>
        <p:nvSpPr>
          <p:cNvPr id="25" name="Text 23"/>
          <p:cNvSpPr/>
          <p:nvPr/>
        </p:nvSpPr>
        <p:spPr>
          <a:xfrm>
            <a:off x="6172200" y="2331720"/>
            <a:ext cx="2286000" cy="594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Deep dive into the 7 primary robot avatar agents driving research, copy, vision &amp; analytics.</a:t>
            </a:r>
            <a:endParaRPr lang="en-US" sz="800" dirty="0"/>
          </a:p>
        </p:txBody>
      </p:sp>
      <p:sp>
        <p:nvSpPr>
          <p:cNvPr id="26" name="Shape 24"/>
          <p:cNvSpPr/>
          <p:nvPr/>
        </p:nvSpPr>
        <p:spPr>
          <a:xfrm>
            <a:off x="548640" y="3154680"/>
            <a:ext cx="2560320" cy="1417320"/>
          </a:xfrm>
          <a:prstGeom prst="roundRect">
            <a:avLst>
              <a:gd name="adj" fmla="val 5161"/>
            </a:avLst>
          </a:prstGeom>
          <a:solidFill>
            <a:srgbClr val="131D31"/>
          </a:solidFill>
          <a:ln w="12700">
            <a:solidFill>
              <a:srgbClr val="233554"/>
            </a:solidFill>
            <a:prstDash val="solid"/>
          </a:ln>
        </p:spPr>
      </p:sp>
      <p:sp>
        <p:nvSpPr>
          <p:cNvPr id="27" name="Shape 25"/>
          <p:cNvSpPr/>
          <p:nvPr/>
        </p:nvSpPr>
        <p:spPr>
          <a:xfrm>
            <a:off x="548640" y="3154680"/>
            <a:ext cx="2560320" cy="36576"/>
          </a:xfrm>
          <a:prstGeom prst="rect">
            <a:avLst/>
          </a:prstGeom>
          <a:solidFill>
            <a:srgbClr val="8B5CF6"/>
          </a:solidFill>
          <a:ln w="12700">
            <a:solidFill>
              <a:srgbClr val="333333"/>
            </a:solidFill>
            <a:prstDash val="solid"/>
          </a:ln>
        </p:spPr>
      </p:sp>
      <p:sp>
        <p:nvSpPr>
          <p:cNvPr id="28" name="Text 26"/>
          <p:cNvSpPr/>
          <p:nvPr/>
        </p:nvSpPr>
        <p:spPr>
          <a:xfrm>
            <a:off x="685800" y="3264408"/>
            <a:ext cx="731520" cy="320040"/>
          </a:xfrm>
          <a:prstGeom prst="rect">
            <a:avLst/>
          </a:prstGeom>
          <a:noFill/>
          <a:ln/>
        </p:spPr>
        <p:txBody>
          <a:bodyPr wrap="square" rtlCol="0" anchor="ctr"/>
          <a:lstStyle/>
          <a:p>
            <a:pPr marL="0" indent="0">
              <a:buNone/>
            </a:pPr>
            <a:r>
              <a:rPr lang="en-US" sz="1800" b="1" dirty="0">
                <a:solidFill>
                  <a:srgbClr val="8B5CF6"/>
                </a:solidFill>
                <a:latin typeface="Arial" pitchFamily="34" charset="0"/>
                <a:ea typeface="Arial" pitchFamily="34" charset="-122"/>
                <a:cs typeface="Arial" pitchFamily="34" charset="-120"/>
              </a:rPr>
              <a:t>04</a:t>
            </a:r>
            <a:endParaRPr lang="en-US" sz="1800" dirty="0"/>
          </a:p>
        </p:txBody>
      </p:sp>
      <p:sp>
        <p:nvSpPr>
          <p:cNvPr id="29" name="Text 27"/>
          <p:cNvSpPr/>
          <p:nvPr/>
        </p:nvSpPr>
        <p:spPr>
          <a:xfrm>
            <a:off x="685800" y="3593592"/>
            <a:ext cx="2286000" cy="27432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Intelligence Stack &amp; Optimization</a:t>
            </a:r>
            <a:endParaRPr lang="en-US" sz="1050" dirty="0"/>
          </a:p>
        </p:txBody>
      </p:sp>
      <p:sp>
        <p:nvSpPr>
          <p:cNvPr id="30" name="Text 28"/>
          <p:cNvSpPr/>
          <p:nvPr/>
        </p:nvSpPr>
        <p:spPr>
          <a:xfrm>
            <a:off x="685800" y="3886200"/>
            <a:ext cx="2286000" cy="594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PPO Reinforcement Learning closed loop, CLIP-ViT vision quality gate, and Hybrid RAG.</a:t>
            </a:r>
            <a:endParaRPr lang="en-US" sz="800" dirty="0"/>
          </a:p>
        </p:txBody>
      </p:sp>
      <p:sp>
        <p:nvSpPr>
          <p:cNvPr id="31" name="Shape 29"/>
          <p:cNvSpPr/>
          <p:nvPr/>
        </p:nvSpPr>
        <p:spPr>
          <a:xfrm>
            <a:off x="3291840" y="3154680"/>
            <a:ext cx="2560320" cy="1417320"/>
          </a:xfrm>
          <a:prstGeom prst="roundRect">
            <a:avLst>
              <a:gd name="adj" fmla="val 5161"/>
            </a:avLst>
          </a:prstGeom>
          <a:solidFill>
            <a:srgbClr val="131D31"/>
          </a:solidFill>
          <a:ln w="12700">
            <a:solidFill>
              <a:srgbClr val="233554"/>
            </a:solidFill>
            <a:prstDash val="solid"/>
          </a:ln>
        </p:spPr>
      </p:sp>
      <p:sp>
        <p:nvSpPr>
          <p:cNvPr id="32" name="Shape 30"/>
          <p:cNvSpPr/>
          <p:nvPr/>
        </p:nvSpPr>
        <p:spPr>
          <a:xfrm>
            <a:off x="3291840" y="3154680"/>
            <a:ext cx="2560320" cy="36576"/>
          </a:xfrm>
          <a:prstGeom prst="rect">
            <a:avLst/>
          </a:prstGeom>
          <a:solidFill>
            <a:srgbClr val="F59E0B"/>
          </a:solidFill>
          <a:ln w="12700">
            <a:solidFill>
              <a:srgbClr val="333333"/>
            </a:solidFill>
            <a:prstDash val="solid"/>
          </a:ln>
        </p:spPr>
      </p:sp>
      <p:sp>
        <p:nvSpPr>
          <p:cNvPr id="33" name="Text 31"/>
          <p:cNvSpPr/>
          <p:nvPr/>
        </p:nvSpPr>
        <p:spPr>
          <a:xfrm>
            <a:off x="3429000" y="3264408"/>
            <a:ext cx="731520" cy="320040"/>
          </a:xfrm>
          <a:prstGeom prst="rect">
            <a:avLst/>
          </a:prstGeom>
          <a:noFill/>
          <a:ln/>
        </p:spPr>
        <p:txBody>
          <a:bodyPr wrap="square" rtlCol="0" anchor="ctr"/>
          <a:lstStyle/>
          <a:p>
            <a:pPr marL="0" indent="0">
              <a:buNone/>
            </a:pPr>
            <a:r>
              <a:rPr lang="en-US" sz="1800" b="1" dirty="0">
                <a:solidFill>
                  <a:srgbClr val="F59E0B"/>
                </a:solidFill>
                <a:latin typeface="Arial" pitchFamily="34" charset="0"/>
                <a:ea typeface="Arial" pitchFamily="34" charset="-122"/>
                <a:cs typeface="Arial" pitchFamily="34" charset="-120"/>
              </a:rPr>
              <a:t>05</a:t>
            </a:r>
            <a:endParaRPr lang="en-US" sz="1800" dirty="0"/>
          </a:p>
        </p:txBody>
      </p:sp>
      <p:sp>
        <p:nvSpPr>
          <p:cNvPr id="34" name="Text 32"/>
          <p:cNvSpPr/>
          <p:nvPr/>
        </p:nvSpPr>
        <p:spPr>
          <a:xfrm>
            <a:off x="3429000" y="3593592"/>
            <a:ext cx="2286000" cy="27432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Empirical Proof &amp; Validation</a:t>
            </a:r>
            <a:endParaRPr lang="en-US" sz="1050" dirty="0"/>
          </a:p>
        </p:txBody>
      </p:sp>
      <p:sp>
        <p:nvSpPr>
          <p:cNvPr id="35" name="Text 33"/>
          <p:cNvSpPr/>
          <p:nvPr/>
        </p:nvSpPr>
        <p:spPr>
          <a:xfrm>
            <a:off x="3429000" y="3886200"/>
            <a:ext cx="2286000" cy="594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Live platform evidence, academic benchmarks (SCS, CRS, VCAS), and system reliability.</a:t>
            </a:r>
            <a:endParaRPr lang="en-US" sz="800" dirty="0"/>
          </a:p>
        </p:txBody>
      </p:sp>
      <p:sp>
        <p:nvSpPr>
          <p:cNvPr id="36" name="Shape 34"/>
          <p:cNvSpPr/>
          <p:nvPr/>
        </p:nvSpPr>
        <p:spPr>
          <a:xfrm>
            <a:off x="6035040" y="3154680"/>
            <a:ext cx="2560320" cy="1417320"/>
          </a:xfrm>
          <a:prstGeom prst="roundRect">
            <a:avLst>
              <a:gd name="adj" fmla="val 5161"/>
            </a:avLst>
          </a:prstGeom>
          <a:solidFill>
            <a:srgbClr val="131D31"/>
          </a:solidFill>
          <a:ln w="12700">
            <a:solidFill>
              <a:srgbClr val="233554"/>
            </a:solidFill>
            <a:prstDash val="solid"/>
          </a:ln>
        </p:spPr>
      </p:sp>
      <p:sp>
        <p:nvSpPr>
          <p:cNvPr id="37" name="Shape 35"/>
          <p:cNvSpPr/>
          <p:nvPr/>
        </p:nvSpPr>
        <p:spPr>
          <a:xfrm>
            <a:off x="6035040" y="3154680"/>
            <a:ext cx="2560320" cy="36576"/>
          </a:xfrm>
          <a:prstGeom prst="rect">
            <a:avLst/>
          </a:prstGeom>
          <a:solidFill>
            <a:srgbClr val="6366F1"/>
          </a:solidFill>
          <a:ln w="12700">
            <a:solidFill>
              <a:srgbClr val="333333"/>
            </a:solidFill>
            <a:prstDash val="solid"/>
          </a:ln>
        </p:spPr>
      </p:sp>
      <p:sp>
        <p:nvSpPr>
          <p:cNvPr id="38" name="Text 36"/>
          <p:cNvSpPr/>
          <p:nvPr/>
        </p:nvSpPr>
        <p:spPr>
          <a:xfrm>
            <a:off x="6172200" y="3264408"/>
            <a:ext cx="731520" cy="320040"/>
          </a:xfrm>
          <a:prstGeom prst="rect">
            <a:avLst/>
          </a:prstGeom>
          <a:noFill/>
          <a:ln/>
        </p:spPr>
        <p:txBody>
          <a:bodyPr wrap="square" rtlCol="0" anchor="ctr"/>
          <a:lstStyle/>
          <a:p>
            <a:pPr marL="0" indent="0">
              <a:buNone/>
            </a:pPr>
            <a:r>
              <a:rPr lang="en-US" sz="1800" b="1" dirty="0">
                <a:solidFill>
                  <a:srgbClr val="6366F1"/>
                </a:solidFill>
                <a:latin typeface="Arial" pitchFamily="34" charset="0"/>
                <a:ea typeface="Arial" pitchFamily="34" charset="-122"/>
                <a:cs typeface="Arial" pitchFamily="34" charset="-120"/>
              </a:rPr>
              <a:t>06</a:t>
            </a:r>
            <a:endParaRPr lang="en-US" sz="1800" dirty="0"/>
          </a:p>
        </p:txBody>
      </p:sp>
      <p:sp>
        <p:nvSpPr>
          <p:cNvPr id="39" name="Text 37"/>
          <p:cNvSpPr/>
          <p:nvPr/>
        </p:nvSpPr>
        <p:spPr>
          <a:xfrm>
            <a:off x="6172200" y="3593592"/>
            <a:ext cx="2286000" cy="27432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Business ROI &amp; Commercialization</a:t>
            </a:r>
            <a:endParaRPr lang="en-US" sz="1050" dirty="0"/>
          </a:p>
        </p:txBody>
      </p:sp>
      <p:sp>
        <p:nvSpPr>
          <p:cNvPr id="40" name="Text 38"/>
          <p:cNvSpPr/>
          <p:nvPr/>
        </p:nvSpPr>
        <p:spPr>
          <a:xfrm>
            <a:off x="6172200" y="3886200"/>
            <a:ext cx="2286000" cy="594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Enterprise value, multi-vertical ICP fit, SaaS monetization model, and product roadmap.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FOUNDERS &amp; GOVERNANCE // LEADERSHIP</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Project Leadership &amp; Institutional Backing</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03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Developed by specialized AI engineers and supported by national digital transformation and academic leadership.</a:t>
            </a:r>
            <a:endParaRPr lang="en-US" sz="1050" dirty="0"/>
          </a:p>
        </p:txBody>
      </p:sp>
      <p:sp>
        <p:nvSpPr>
          <p:cNvPr id="11" name="Shape 9"/>
          <p:cNvSpPr/>
          <p:nvPr/>
        </p:nvSpPr>
        <p:spPr>
          <a:xfrm>
            <a:off x="548640" y="1600200"/>
            <a:ext cx="3931920" cy="3017520"/>
          </a:xfrm>
          <a:prstGeom prst="roundRect">
            <a:avLst>
              <a:gd name="adj" fmla="val 2424"/>
            </a:avLst>
          </a:prstGeom>
          <a:solidFill>
            <a:srgbClr val="131D31"/>
          </a:solidFill>
          <a:ln w="12700">
            <a:solidFill>
              <a:srgbClr val="233554"/>
            </a:solidFill>
            <a:prstDash val="solid"/>
          </a:ln>
        </p:spPr>
      </p:sp>
      <p:sp>
        <p:nvSpPr>
          <p:cNvPr id="12" name="Shape 10"/>
          <p:cNvSpPr/>
          <p:nvPr/>
        </p:nvSpPr>
        <p:spPr>
          <a:xfrm>
            <a:off x="731520" y="1737360"/>
            <a:ext cx="2011680" cy="228600"/>
          </a:xfrm>
          <a:prstGeom prst="roundRect">
            <a:avLst>
              <a:gd name="adj" fmla="val 20000"/>
            </a:avLst>
          </a:prstGeom>
          <a:solidFill>
            <a:srgbClr val="064E3B"/>
          </a:solidFill>
          <a:ln w="10160">
            <a:solidFill>
              <a:srgbClr val="10B981"/>
            </a:solidFill>
            <a:prstDash val="solid"/>
          </a:ln>
        </p:spPr>
      </p:sp>
      <p:sp>
        <p:nvSpPr>
          <p:cNvPr id="13" name="Text 11"/>
          <p:cNvSpPr/>
          <p:nvPr/>
        </p:nvSpPr>
        <p:spPr>
          <a:xfrm>
            <a:off x="731520" y="1755648"/>
            <a:ext cx="201168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CORE ENGINEERING FOUNDERS</a:t>
            </a:r>
            <a:endParaRPr lang="en-US" sz="800" dirty="0"/>
          </a:p>
        </p:txBody>
      </p:sp>
      <p:sp>
        <p:nvSpPr>
          <p:cNvPr id="14" name="Text 12"/>
          <p:cNvSpPr/>
          <p:nvPr/>
        </p:nvSpPr>
        <p:spPr>
          <a:xfrm>
            <a:off x="731520" y="2057400"/>
            <a:ext cx="3566160" cy="201168"/>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Mohamed Abd Elsalam Mohamed Gharieb</a:t>
            </a:r>
            <a:endParaRPr lang="en-US" sz="850" dirty="0"/>
          </a:p>
        </p:txBody>
      </p:sp>
      <p:sp>
        <p:nvSpPr>
          <p:cNvPr id="15" name="Text 13"/>
          <p:cNvSpPr/>
          <p:nvPr/>
        </p:nvSpPr>
        <p:spPr>
          <a:xfrm>
            <a:off x="731520" y="2240280"/>
            <a:ext cx="3566160" cy="201168"/>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Team Lead • Master Orchestrator &amp; Strategy Engine</a:t>
            </a:r>
            <a:endParaRPr lang="en-US" sz="750" dirty="0"/>
          </a:p>
        </p:txBody>
      </p:sp>
      <p:sp>
        <p:nvSpPr>
          <p:cNvPr id="16" name="Text 14"/>
          <p:cNvSpPr/>
          <p:nvPr/>
        </p:nvSpPr>
        <p:spPr>
          <a:xfrm>
            <a:off x="731520" y="2532888"/>
            <a:ext cx="3566160" cy="201168"/>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Ahmed Awni</a:t>
            </a:r>
            <a:endParaRPr lang="en-US" sz="850" dirty="0"/>
          </a:p>
        </p:txBody>
      </p:sp>
      <p:sp>
        <p:nvSpPr>
          <p:cNvPr id="17" name="Text 15"/>
          <p:cNvSpPr/>
          <p:nvPr/>
        </p:nvSpPr>
        <p:spPr>
          <a:xfrm>
            <a:off x="731520" y="2715768"/>
            <a:ext cx="3566160" cy="201168"/>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AI Engineer • Research Agent &amp; Market Intelligence</a:t>
            </a:r>
            <a:endParaRPr lang="en-US" sz="750" dirty="0"/>
          </a:p>
        </p:txBody>
      </p:sp>
      <p:sp>
        <p:nvSpPr>
          <p:cNvPr id="18" name="Text 16"/>
          <p:cNvSpPr/>
          <p:nvPr/>
        </p:nvSpPr>
        <p:spPr>
          <a:xfrm>
            <a:off x="731520" y="3008376"/>
            <a:ext cx="3566160" cy="201168"/>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Mohamed Sleem</a:t>
            </a:r>
            <a:endParaRPr lang="en-US" sz="850" dirty="0"/>
          </a:p>
        </p:txBody>
      </p:sp>
      <p:sp>
        <p:nvSpPr>
          <p:cNvPr id="19" name="Text 17"/>
          <p:cNvSpPr/>
          <p:nvPr/>
        </p:nvSpPr>
        <p:spPr>
          <a:xfrm>
            <a:off x="731520" y="3191256"/>
            <a:ext cx="3566160" cy="201168"/>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AI Engineer • Content Agent &amp; Multi-Format Copywriting</a:t>
            </a:r>
            <a:endParaRPr lang="en-US" sz="750" dirty="0"/>
          </a:p>
        </p:txBody>
      </p:sp>
      <p:sp>
        <p:nvSpPr>
          <p:cNvPr id="20" name="Text 18"/>
          <p:cNvSpPr/>
          <p:nvPr/>
        </p:nvSpPr>
        <p:spPr>
          <a:xfrm>
            <a:off x="731520" y="3483864"/>
            <a:ext cx="3566160" cy="201168"/>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Khaled Mohamed</a:t>
            </a:r>
            <a:endParaRPr lang="en-US" sz="850" dirty="0"/>
          </a:p>
        </p:txBody>
      </p:sp>
      <p:sp>
        <p:nvSpPr>
          <p:cNvPr id="21" name="Text 19"/>
          <p:cNvSpPr/>
          <p:nvPr/>
        </p:nvSpPr>
        <p:spPr>
          <a:xfrm>
            <a:off x="731520" y="3666744"/>
            <a:ext cx="3566160" cy="201168"/>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ML Engineer • Predictive Analytics &amp; Evaluation Rubrics</a:t>
            </a:r>
            <a:endParaRPr lang="en-US" sz="750" dirty="0"/>
          </a:p>
        </p:txBody>
      </p:sp>
      <p:sp>
        <p:nvSpPr>
          <p:cNvPr id="22" name="Text 20"/>
          <p:cNvSpPr/>
          <p:nvPr/>
        </p:nvSpPr>
        <p:spPr>
          <a:xfrm>
            <a:off x="731520" y="3959352"/>
            <a:ext cx="3566160" cy="201168"/>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Karem Tarek</a:t>
            </a:r>
            <a:endParaRPr lang="en-US" sz="850" dirty="0"/>
          </a:p>
        </p:txBody>
      </p:sp>
      <p:sp>
        <p:nvSpPr>
          <p:cNvPr id="23" name="Text 21"/>
          <p:cNvSpPr/>
          <p:nvPr/>
        </p:nvSpPr>
        <p:spPr>
          <a:xfrm>
            <a:off x="731520" y="4142232"/>
            <a:ext cx="3566160" cy="201168"/>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AI Engineer • Design Agent &amp; DALL·E 3 Prompt Engineering</a:t>
            </a:r>
            <a:endParaRPr lang="en-US" sz="750" dirty="0"/>
          </a:p>
        </p:txBody>
      </p:sp>
      <p:sp>
        <p:nvSpPr>
          <p:cNvPr id="24" name="Shape 22"/>
          <p:cNvSpPr/>
          <p:nvPr/>
        </p:nvSpPr>
        <p:spPr>
          <a:xfrm>
            <a:off x="4663440" y="1600200"/>
            <a:ext cx="3931920" cy="3017520"/>
          </a:xfrm>
          <a:prstGeom prst="roundRect">
            <a:avLst>
              <a:gd name="adj" fmla="val 2424"/>
            </a:avLst>
          </a:prstGeom>
          <a:solidFill>
            <a:srgbClr val="131D31"/>
          </a:solidFill>
          <a:ln w="12700">
            <a:solidFill>
              <a:srgbClr val="233554"/>
            </a:solidFill>
            <a:prstDash val="solid"/>
          </a:ln>
        </p:spPr>
      </p:sp>
      <p:sp>
        <p:nvSpPr>
          <p:cNvPr id="25" name="Shape 23"/>
          <p:cNvSpPr/>
          <p:nvPr/>
        </p:nvSpPr>
        <p:spPr>
          <a:xfrm>
            <a:off x="4846320" y="1737360"/>
            <a:ext cx="2194560" cy="228600"/>
          </a:xfrm>
          <a:prstGeom prst="roundRect">
            <a:avLst>
              <a:gd name="adj" fmla="val 20000"/>
            </a:avLst>
          </a:prstGeom>
          <a:solidFill>
            <a:srgbClr val="0C2B40"/>
          </a:solidFill>
          <a:ln w="10160">
            <a:solidFill>
              <a:srgbClr val="0EA5E9"/>
            </a:solidFill>
            <a:prstDash val="solid"/>
          </a:ln>
        </p:spPr>
      </p:sp>
      <p:sp>
        <p:nvSpPr>
          <p:cNvPr id="26" name="Text 24"/>
          <p:cNvSpPr/>
          <p:nvPr/>
        </p:nvSpPr>
        <p:spPr>
          <a:xfrm>
            <a:off x="4846320" y="1755648"/>
            <a:ext cx="219456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SUPERVISION &amp; INSTITUTIONS</a:t>
            </a:r>
            <a:endParaRPr lang="en-US" sz="800" dirty="0"/>
          </a:p>
        </p:txBody>
      </p:sp>
      <p:sp>
        <p:nvSpPr>
          <p:cNvPr id="27" name="Text 25"/>
          <p:cNvSpPr/>
          <p:nvPr/>
        </p:nvSpPr>
        <p:spPr>
          <a:xfrm>
            <a:off x="4846320" y="2057400"/>
            <a:ext cx="3566160" cy="22860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Academic Supervision &amp; Leadership</a:t>
            </a:r>
            <a:endParaRPr lang="en-US" sz="1000" dirty="0"/>
          </a:p>
        </p:txBody>
      </p:sp>
      <p:sp>
        <p:nvSpPr>
          <p:cNvPr id="28" name="Text 26"/>
          <p:cNvSpPr/>
          <p:nvPr/>
        </p:nvSpPr>
        <p:spPr>
          <a:xfrm>
            <a:off x="4846320" y="2304288"/>
            <a:ext cx="3566160" cy="68580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Under the Supervision of Academic Director &amp; Technical Advisors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Track: Artificial Intelligence &amp; Data Science (AI)</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Defense Date: Capstone Defense 2026</a:t>
            </a:r>
            <a:endParaRPr lang="en-US" sz="800" dirty="0"/>
          </a:p>
        </p:txBody>
      </p:sp>
      <p:sp>
        <p:nvSpPr>
          <p:cNvPr id="29" name="Text 27"/>
          <p:cNvSpPr/>
          <p:nvPr/>
        </p:nvSpPr>
        <p:spPr>
          <a:xfrm>
            <a:off x="4846320" y="3063240"/>
            <a:ext cx="3566160" cy="22860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Official Sponsoring Entities</a:t>
            </a:r>
            <a:endParaRPr lang="en-US" sz="1000" dirty="0"/>
          </a:p>
        </p:txBody>
      </p:sp>
      <p:sp>
        <p:nvSpPr>
          <p:cNvPr id="30" name="Text 28"/>
          <p:cNvSpPr/>
          <p:nvPr/>
        </p:nvSpPr>
        <p:spPr>
          <a:xfrm>
            <a:off x="4846320" y="3310128"/>
            <a:ext cx="3566160" cy="91440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Digital Pioneers Initiative (DiGiLiANS)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Ministry of Communications and Information Technology (MCIT), Egypt</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Military Technical College (MTC)</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Egyptian Military Academy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THE PROBLEM // MARKET REALITY</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The Modern Marketing Paradox: High Activity, Broken Flow</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04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Marketing teams deploy 8+ disconnected SaaS tools, yet campaigns take weeks to launch, brand context is lost at every handoff, and real-time optimization is virtually impossible.</a:t>
            </a:r>
            <a:endParaRPr lang="en-US" sz="1050" dirty="0"/>
          </a:p>
        </p:txBody>
      </p:sp>
      <p:sp>
        <p:nvSpPr>
          <p:cNvPr id="11" name="Shape 9"/>
          <p:cNvSpPr/>
          <p:nvPr/>
        </p:nvSpPr>
        <p:spPr>
          <a:xfrm>
            <a:off x="548640" y="1600200"/>
            <a:ext cx="1051560" cy="502920"/>
          </a:xfrm>
          <a:prstGeom prst="roundRect">
            <a:avLst>
              <a:gd name="adj" fmla="val 14545"/>
            </a:avLst>
          </a:prstGeom>
          <a:solidFill>
            <a:srgbClr val="2A1118"/>
          </a:solidFill>
          <a:ln w="12700">
            <a:solidFill>
              <a:srgbClr val="F43F5E"/>
            </a:solidFill>
            <a:prstDash val="solid"/>
          </a:ln>
        </p:spPr>
      </p:sp>
      <p:sp>
        <p:nvSpPr>
          <p:cNvPr id="12" name="Text 10"/>
          <p:cNvSpPr/>
          <p:nvPr/>
        </p:nvSpPr>
        <p:spPr>
          <a:xfrm>
            <a:off x="548640" y="1691640"/>
            <a:ext cx="1051560" cy="320040"/>
          </a:xfrm>
          <a:prstGeom prst="rect">
            <a:avLst/>
          </a:prstGeom>
          <a:noFill/>
          <a:ln/>
        </p:spPr>
        <p:txBody>
          <a:bodyPr wrap="square" rtlCol="0" anchor="ctr"/>
          <a:lstStyle/>
          <a:p>
            <a:pPr marL="0" indent="0" algn="ctr">
              <a:buNone/>
            </a:pPr>
            <a:r>
              <a:rPr lang="en-US" sz="900" b="1" dirty="0">
                <a:solidFill>
                  <a:srgbClr val="F43F5E"/>
                </a:solidFill>
                <a:latin typeface="Arial" pitchFamily="34" charset="0"/>
                <a:ea typeface="Arial" pitchFamily="34" charset="-122"/>
                <a:cs typeface="Arial" pitchFamily="34" charset="-120"/>
              </a:rPr>
              <a:t>1. Strategy</a:t>
            </a:r>
            <a:endParaRPr lang="en-US" sz="900" dirty="0"/>
          </a:p>
        </p:txBody>
      </p:sp>
      <p:sp>
        <p:nvSpPr>
          <p:cNvPr id="13" name="Shape 11"/>
          <p:cNvSpPr/>
          <p:nvPr/>
        </p:nvSpPr>
        <p:spPr>
          <a:xfrm>
            <a:off x="1719072" y="1600200"/>
            <a:ext cx="1051560" cy="502920"/>
          </a:xfrm>
          <a:prstGeom prst="roundRect">
            <a:avLst>
              <a:gd name="adj" fmla="val 14545"/>
            </a:avLst>
          </a:prstGeom>
          <a:solidFill>
            <a:srgbClr val="2A1118"/>
          </a:solidFill>
          <a:ln w="12700">
            <a:solidFill>
              <a:srgbClr val="F43F5E"/>
            </a:solidFill>
            <a:prstDash val="solid"/>
          </a:ln>
        </p:spPr>
      </p:sp>
      <p:sp>
        <p:nvSpPr>
          <p:cNvPr id="14" name="Text 12"/>
          <p:cNvSpPr/>
          <p:nvPr/>
        </p:nvSpPr>
        <p:spPr>
          <a:xfrm>
            <a:off x="1719072" y="1691640"/>
            <a:ext cx="1051560" cy="320040"/>
          </a:xfrm>
          <a:prstGeom prst="rect">
            <a:avLst/>
          </a:prstGeom>
          <a:noFill/>
          <a:ln/>
        </p:spPr>
        <p:txBody>
          <a:bodyPr wrap="square" rtlCol="0" anchor="ctr"/>
          <a:lstStyle/>
          <a:p>
            <a:pPr marL="0" indent="0" algn="ctr">
              <a:buNone/>
            </a:pPr>
            <a:r>
              <a:rPr lang="en-US" sz="900" b="1" dirty="0">
                <a:solidFill>
                  <a:srgbClr val="F43F5E"/>
                </a:solidFill>
                <a:latin typeface="Arial" pitchFamily="34" charset="0"/>
                <a:ea typeface="Arial" pitchFamily="34" charset="-122"/>
                <a:cs typeface="Arial" pitchFamily="34" charset="-120"/>
              </a:rPr>
              <a:t>2. Research</a:t>
            </a:r>
            <a:endParaRPr lang="en-US" sz="900" dirty="0"/>
          </a:p>
        </p:txBody>
      </p:sp>
      <p:sp>
        <p:nvSpPr>
          <p:cNvPr id="15" name="Shape 13"/>
          <p:cNvSpPr/>
          <p:nvPr/>
        </p:nvSpPr>
        <p:spPr>
          <a:xfrm>
            <a:off x="2889504" y="1600200"/>
            <a:ext cx="1051560" cy="502920"/>
          </a:xfrm>
          <a:prstGeom prst="roundRect">
            <a:avLst>
              <a:gd name="adj" fmla="val 14545"/>
            </a:avLst>
          </a:prstGeom>
          <a:solidFill>
            <a:srgbClr val="2A1118"/>
          </a:solidFill>
          <a:ln w="12700">
            <a:solidFill>
              <a:srgbClr val="F43F5E"/>
            </a:solidFill>
            <a:prstDash val="solid"/>
          </a:ln>
        </p:spPr>
      </p:sp>
      <p:sp>
        <p:nvSpPr>
          <p:cNvPr id="16" name="Text 14"/>
          <p:cNvSpPr/>
          <p:nvPr/>
        </p:nvSpPr>
        <p:spPr>
          <a:xfrm>
            <a:off x="2889504" y="1691640"/>
            <a:ext cx="1051560" cy="320040"/>
          </a:xfrm>
          <a:prstGeom prst="rect">
            <a:avLst/>
          </a:prstGeom>
          <a:noFill/>
          <a:ln/>
        </p:spPr>
        <p:txBody>
          <a:bodyPr wrap="square" rtlCol="0" anchor="ctr"/>
          <a:lstStyle/>
          <a:p>
            <a:pPr marL="0" indent="0" algn="ctr">
              <a:buNone/>
            </a:pPr>
            <a:r>
              <a:rPr lang="en-US" sz="900" b="1" dirty="0">
                <a:solidFill>
                  <a:srgbClr val="F43F5E"/>
                </a:solidFill>
                <a:latin typeface="Arial" pitchFamily="34" charset="0"/>
                <a:ea typeface="Arial" pitchFamily="34" charset="-122"/>
                <a:cs typeface="Arial" pitchFamily="34" charset="-120"/>
              </a:rPr>
              <a:t>3. Copy</a:t>
            </a:r>
            <a:endParaRPr lang="en-US" sz="900" dirty="0"/>
          </a:p>
        </p:txBody>
      </p:sp>
      <p:sp>
        <p:nvSpPr>
          <p:cNvPr id="17" name="Shape 15"/>
          <p:cNvSpPr/>
          <p:nvPr/>
        </p:nvSpPr>
        <p:spPr>
          <a:xfrm>
            <a:off x="4059936" y="1600200"/>
            <a:ext cx="1051560" cy="502920"/>
          </a:xfrm>
          <a:prstGeom prst="roundRect">
            <a:avLst>
              <a:gd name="adj" fmla="val 14545"/>
            </a:avLst>
          </a:prstGeom>
          <a:solidFill>
            <a:srgbClr val="2A1118"/>
          </a:solidFill>
          <a:ln w="12700">
            <a:solidFill>
              <a:srgbClr val="F43F5E"/>
            </a:solidFill>
            <a:prstDash val="solid"/>
          </a:ln>
        </p:spPr>
      </p:sp>
      <p:sp>
        <p:nvSpPr>
          <p:cNvPr id="18" name="Text 16"/>
          <p:cNvSpPr/>
          <p:nvPr/>
        </p:nvSpPr>
        <p:spPr>
          <a:xfrm>
            <a:off x="4059936" y="1691640"/>
            <a:ext cx="1051560" cy="320040"/>
          </a:xfrm>
          <a:prstGeom prst="rect">
            <a:avLst/>
          </a:prstGeom>
          <a:noFill/>
          <a:ln/>
        </p:spPr>
        <p:txBody>
          <a:bodyPr wrap="square" rtlCol="0" anchor="ctr"/>
          <a:lstStyle/>
          <a:p>
            <a:pPr marL="0" indent="0" algn="ctr">
              <a:buNone/>
            </a:pPr>
            <a:r>
              <a:rPr lang="en-US" sz="900" b="1" dirty="0">
                <a:solidFill>
                  <a:srgbClr val="F43F5E"/>
                </a:solidFill>
                <a:latin typeface="Arial" pitchFamily="34" charset="0"/>
                <a:ea typeface="Arial" pitchFamily="34" charset="-122"/>
                <a:cs typeface="Arial" pitchFamily="34" charset="-120"/>
              </a:rPr>
              <a:t>4. Design</a:t>
            </a:r>
            <a:endParaRPr lang="en-US" sz="900" dirty="0"/>
          </a:p>
        </p:txBody>
      </p:sp>
      <p:sp>
        <p:nvSpPr>
          <p:cNvPr id="19" name="Shape 17"/>
          <p:cNvSpPr/>
          <p:nvPr/>
        </p:nvSpPr>
        <p:spPr>
          <a:xfrm>
            <a:off x="5230368" y="1600200"/>
            <a:ext cx="1051560" cy="502920"/>
          </a:xfrm>
          <a:prstGeom prst="roundRect">
            <a:avLst>
              <a:gd name="adj" fmla="val 14545"/>
            </a:avLst>
          </a:prstGeom>
          <a:solidFill>
            <a:srgbClr val="2A1118"/>
          </a:solidFill>
          <a:ln w="12700">
            <a:solidFill>
              <a:srgbClr val="F43F5E"/>
            </a:solidFill>
            <a:prstDash val="solid"/>
          </a:ln>
        </p:spPr>
      </p:sp>
      <p:sp>
        <p:nvSpPr>
          <p:cNvPr id="20" name="Text 18"/>
          <p:cNvSpPr/>
          <p:nvPr/>
        </p:nvSpPr>
        <p:spPr>
          <a:xfrm>
            <a:off x="5230368" y="1691640"/>
            <a:ext cx="1051560" cy="320040"/>
          </a:xfrm>
          <a:prstGeom prst="rect">
            <a:avLst/>
          </a:prstGeom>
          <a:noFill/>
          <a:ln/>
        </p:spPr>
        <p:txBody>
          <a:bodyPr wrap="square" rtlCol="0" anchor="ctr"/>
          <a:lstStyle/>
          <a:p>
            <a:pPr marL="0" indent="0" algn="ctr">
              <a:buNone/>
            </a:pPr>
            <a:r>
              <a:rPr lang="en-US" sz="900" b="1" dirty="0">
                <a:solidFill>
                  <a:srgbClr val="F43F5E"/>
                </a:solidFill>
                <a:latin typeface="Arial" pitchFamily="34" charset="0"/>
                <a:ea typeface="Arial" pitchFamily="34" charset="-122"/>
                <a:cs typeface="Arial" pitchFamily="34" charset="-120"/>
              </a:rPr>
              <a:t>5. Launch</a:t>
            </a:r>
            <a:endParaRPr lang="en-US" sz="900" dirty="0"/>
          </a:p>
        </p:txBody>
      </p:sp>
      <p:sp>
        <p:nvSpPr>
          <p:cNvPr id="21" name="Shape 19"/>
          <p:cNvSpPr/>
          <p:nvPr/>
        </p:nvSpPr>
        <p:spPr>
          <a:xfrm>
            <a:off x="6400800" y="1600200"/>
            <a:ext cx="1051560" cy="502920"/>
          </a:xfrm>
          <a:prstGeom prst="roundRect">
            <a:avLst>
              <a:gd name="adj" fmla="val 14545"/>
            </a:avLst>
          </a:prstGeom>
          <a:solidFill>
            <a:srgbClr val="2A1118"/>
          </a:solidFill>
          <a:ln w="12700">
            <a:solidFill>
              <a:srgbClr val="F43F5E"/>
            </a:solidFill>
            <a:prstDash val="solid"/>
          </a:ln>
        </p:spPr>
      </p:sp>
      <p:sp>
        <p:nvSpPr>
          <p:cNvPr id="22" name="Text 20"/>
          <p:cNvSpPr/>
          <p:nvPr/>
        </p:nvSpPr>
        <p:spPr>
          <a:xfrm>
            <a:off x="6400800" y="1691640"/>
            <a:ext cx="1051560" cy="320040"/>
          </a:xfrm>
          <a:prstGeom prst="rect">
            <a:avLst/>
          </a:prstGeom>
          <a:noFill/>
          <a:ln/>
        </p:spPr>
        <p:txBody>
          <a:bodyPr wrap="square" rtlCol="0" anchor="ctr"/>
          <a:lstStyle/>
          <a:p>
            <a:pPr marL="0" indent="0" algn="ctr">
              <a:buNone/>
            </a:pPr>
            <a:r>
              <a:rPr lang="en-US" sz="900" b="1" dirty="0">
                <a:solidFill>
                  <a:srgbClr val="F43F5E"/>
                </a:solidFill>
                <a:latin typeface="Arial" pitchFamily="34" charset="0"/>
                <a:ea typeface="Arial" pitchFamily="34" charset="-122"/>
                <a:cs typeface="Arial" pitchFamily="34" charset="-120"/>
              </a:rPr>
              <a:t>6. Analytics</a:t>
            </a:r>
            <a:endParaRPr lang="en-US" sz="900" dirty="0"/>
          </a:p>
        </p:txBody>
      </p:sp>
      <p:sp>
        <p:nvSpPr>
          <p:cNvPr id="23" name="Shape 21"/>
          <p:cNvSpPr/>
          <p:nvPr/>
        </p:nvSpPr>
        <p:spPr>
          <a:xfrm>
            <a:off x="7571232" y="1600200"/>
            <a:ext cx="1051560" cy="502920"/>
          </a:xfrm>
          <a:prstGeom prst="roundRect">
            <a:avLst>
              <a:gd name="adj" fmla="val 14545"/>
            </a:avLst>
          </a:prstGeom>
          <a:solidFill>
            <a:srgbClr val="2A1118"/>
          </a:solidFill>
          <a:ln w="12700">
            <a:solidFill>
              <a:srgbClr val="F43F5E"/>
            </a:solidFill>
            <a:prstDash val="solid"/>
          </a:ln>
        </p:spPr>
      </p:sp>
      <p:sp>
        <p:nvSpPr>
          <p:cNvPr id="24" name="Text 22"/>
          <p:cNvSpPr/>
          <p:nvPr/>
        </p:nvSpPr>
        <p:spPr>
          <a:xfrm>
            <a:off x="7571232" y="1691640"/>
            <a:ext cx="1051560" cy="320040"/>
          </a:xfrm>
          <a:prstGeom prst="rect">
            <a:avLst/>
          </a:prstGeom>
          <a:noFill/>
          <a:ln/>
        </p:spPr>
        <p:txBody>
          <a:bodyPr wrap="square" rtlCol="0" anchor="ctr"/>
          <a:lstStyle/>
          <a:p>
            <a:pPr marL="0" indent="0" algn="ctr">
              <a:buNone/>
            </a:pPr>
            <a:r>
              <a:rPr lang="en-US" sz="900" b="1" dirty="0">
                <a:solidFill>
                  <a:srgbClr val="F43F5E"/>
                </a:solidFill>
                <a:latin typeface="Arial" pitchFamily="34" charset="0"/>
                <a:ea typeface="Arial" pitchFamily="34" charset="-122"/>
                <a:cs typeface="Arial" pitchFamily="34" charset="-120"/>
              </a:rPr>
              <a:t>7. Tuning</a:t>
            </a:r>
            <a:endParaRPr lang="en-US" sz="900" dirty="0"/>
          </a:p>
        </p:txBody>
      </p:sp>
      <p:sp>
        <p:nvSpPr>
          <p:cNvPr id="25" name="Shape 23"/>
          <p:cNvSpPr/>
          <p:nvPr/>
        </p:nvSpPr>
        <p:spPr>
          <a:xfrm>
            <a:off x="548640" y="2286000"/>
            <a:ext cx="2514600" cy="2286000"/>
          </a:xfrm>
          <a:prstGeom prst="roundRect">
            <a:avLst>
              <a:gd name="adj" fmla="val 3200"/>
            </a:avLst>
          </a:prstGeom>
          <a:solidFill>
            <a:srgbClr val="131D31"/>
          </a:solidFill>
          <a:ln w="12700">
            <a:solidFill>
              <a:srgbClr val="233554"/>
            </a:solidFill>
            <a:prstDash val="solid"/>
          </a:ln>
        </p:spPr>
      </p:sp>
      <p:sp>
        <p:nvSpPr>
          <p:cNvPr id="26" name="Shape 24"/>
          <p:cNvSpPr/>
          <p:nvPr/>
        </p:nvSpPr>
        <p:spPr>
          <a:xfrm>
            <a:off x="731520" y="2423160"/>
            <a:ext cx="1371600" cy="228600"/>
          </a:xfrm>
          <a:prstGeom prst="roundRect">
            <a:avLst>
              <a:gd name="adj" fmla="val 20000"/>
            </a:avLst>
          </a:prstGeom>
          <a:solidFill>
            <a:srgbClr val="3B111E"/>
          </a:solidFill>
          <a:ln w="10160">
            <a:solidFill>
              <a:srgbClr val="F43F5E"/>
            </a:solidFill>
            <a:prstDash val="solid"/>
          </a:ln>
        </p:spPr>
      </p:sp>
      <p:sp>
        <p:nvSpPr>
          <p:cNvPr id="27" name="Text 25"/>
          <p:cNvSpPr/>
          <p:nvPr/>
        </p:nvSpPr>
        <p:spPr>
          <a:xfrm>
            <a:off x="731520" y="2441448"/>
            <a:ext cx="1371600" cy="192024"/>
          </a:xfrm>
          <a:prstGeom prst="rect">
            <a:avLst/>
          </a:prstGeom>
          <a:noFill/>
          <a:ln/>
        </p:spPr>
        <p:txBody>
          <a:bodyPr wrap="square" rtlCol="0" anchor="ctr"/>
          <a:lstStyle/>
          <a:p>
            <a:pPr marL="0" indent="0" algn="ctr">
              <a:buNone/>
            </a:pPr>
            <a:r>
              <a:rPr lang="en-US" sz="800" b="1" dirty="0">
                <a:solidFill>
                  <a:srgbClr val="F43F5E"/>
                </a:solidFill>
                <a:latin typeface="Arial" pitchFamily="34" charset="0"/>
                <a:ea typeface="Arial" pitchFamily="34" charset="-122"/>
                <a:cs typeface="Arial" pitchFamily="34" charset="-120"/>
              </a:rPr>
              <a:t>TOOL SILOS</a:t>
            </a:r>
            <a:endParaRPr lang="en-US" sz="800" dirty="0"/>
          </a:p>
        </p:txBody>
      </p:sp>
      <p:sp>
        <p:nvSpPr>
          <p:cNvPr id="28" name="Text 26"/>
          <p:cNvSpPr/>
          <p:nvPr/>
        </p:nvSpPr>
        <p:spPr>
          <a:xfrm>
            <a:off x="731520" y="2724912"/>
            <a:ext cx="2148840" cy="27432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Fragmented Tech Stack</a:t>
            </a:r>
            <a:endParaRPr lang="en-US" sz="1200" dirty="0"/>
          </a:p>
        </p:txBody>
      </p:sp>
      <p:sp>
        <p:nvSpPr>
          <p:cNvPr id="29" name="Text 27"/>
          <p:cNvSpPr/>
          <p:nvPr/>
        </p:nvSpPr>
        <p:spPr>
          <a:xfrm>
            <a:off x="731520" y="3035808"/>
            <a:ext cx="2148840" cy="137160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Teams juggle CRM, SEO platforms, Ad managers, Figma, and spreadsheets.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Strategic context decays by 40% across tool boundaries (Kietzmann et al., 2018).</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Repetitive manual data re-entry drains high-value strategist hours.</a:t>
            </a:r>
            <a:endParaRPr lang="en-US" sz="850" dirty="0"/>
          </a:p>
        </p:txBody>
      </p:sp>
      <p:sp>
        <p:nvSpPr>
          <p:cNvPr id="30" name="Shape 28"/>
          <p:cNvSpPr/>
          <p:nvPr/>
        </p:nvSpPr>
        <p:spPr>
          <a:xfrm>
            <a:off x="3291840" y="2286000"/>
            <a:ext cx="2514600" cy="2286000"/>
          </a:xfrm>
          <a:prstGeom prst="roundRect">
            <a:avLst>
              <a:gd name="adj" fmla="val 3200"/>
            </a:avLst>
          </a:prstGeom>
          <a:solidFill>
            <a:srgbClr val="131D31"/>
          </a:solidFill>
          <a:ln w="12700">
            <a:solidFill>
              <a:srgbClr val="233554"/>
            </a:solidFill>
            <a:prstDash val="solid"/>
          </a:ln>
        </p:spPr>
      </p:sp>
      <p:sp>
        <p:nvSpPr>
          <p:cNvPr id="31" name="Shape 29"/>
          <p:cNvSpPr/>
          <p:nvPr/>
        </p:nvSpPr>
        <p:spPr>
          <a:xfrm>
            <a:off x="3474720" y="2423160"/>
            <a:ext cx="1463040" cy="228600"/>
          </a:xfrm>
          <a:prstGeom prst="roundRect">
            <a:avLst>
              <a:gd name="adj" fmla="val 20000"/>
            </a:avLst>
          </a:prstGeom>
          <a:solidFill>
            <a:srgbClr val="3D2405"/>
          </a:solidFill>
          <a:ln w="10160">
            <a:solidFill>
              <a:srgbClr val="F59E0B"/>
            </a:solidFill>
            <a:prstDash val="solid"/>
          </a:ln>
        </p:spPr>
      </p:sp>
      <p:sp>
        <p:nvSpPr>
          <p:cNvPr id="32" name="Text 30"/>
          <p:cNvSpPr/>
          <p:nvPr/>
        </p:nvSpPr>
        <p:spPr>
          <a:xfrm>
            <a:off x="3474720" y="2441448"/>
            <a:ext cx="1463040" cy="192024"/>
          </a:xfrm>
          <a:prstGeom prst="rect">
            <a:avLst/>
          </a:prstGeom>
          <a:noFill/>
          <a:ln/>
        </p:spPr>
        <p:txBody>
          <a:bodyPr wrap="square" rtlCol="0" anchor="ctr"/>
          <a:lstStyle/>
          <a:p>
            <a:pPr marL="0" indent="0" algn="ctr">
              <a:buNone/>
            </a:pPr>
            <a:r>
              <a:rPr lang="en-US" sz="800" b="1" dirty="0">
                <a:solidFill>
                  <a:srgbClr val="F59E0B"/>
                </a:solidFill>
                <a:latin typeface="Arial" pitchFamily="34" charset="0"/>
                <a:ea typeface="Arial" pitchFamily="34" charset="-122"/>
                <a:cs typeface="Arial" pitchFamily="34" charset="-120"/>
              </a:rPr>
              <a:t>EXECUTION LAG</a:t>
            </a:r>
            <a:endParaRPr lang="en-US" sz="800" dirty="0"/>
          </a:p>
        </p:txBody>
      </p:sp>
      <p:sp>
        <p:nvSpPr>
          <p:cNvPr id="33" name="Text 31"/>
          <p:cNvSpPr/>
          <p:nvPr/>
        </p:nvSpPr>
        <p:spPr>
          <a:xfrm>
            <a:off x="3474720" y="2724912"/>
            <a:ext cx="2148840" cy="27432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Slow Iteration Cycles</a:t>
            </a:r>
            <a:endParaRPr lang="en-US" sz="1200" dirty="0"/>
          </a:p>
        </p:txBody>
      </p:sp>
      <p:sp>
        <p:nvSpPr>
          <p:cNvPr id="34" name="Text 32"/>
          <p:cNvSpPr/>
          <p:nvPr/>
        </p:nvSpPr>
        <p:spPr>
          <a:xfrm>
            <a:off x="3474720" y="3035808"/>
            <a:ext cx="2148840" cy="137160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Campaign briefs require 10–14 days of back-and-forth iteration.</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Creatives fatigue rapidly while human production bottlenecks persist.</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Market trend shifts are missed while waiting for approvals.</a:t>
            </a:r>
            <a:endParaRPr lang="en-US" sz="850" dirty="0"/>
          </a:p>
        </p:txBody>
      </p:sp>
      <p:sp>
        <p:nvSpPr>
          <p:cNvPr id="35" name="Shape 33"/>
          <p:cNvSpPr/>
          <p:nvPr/>
        </p:nvSpPr>
        <p:spPr>
          <a:xfrm>
            <a:off x="6035040" y="2286000"/>
            <a:ext cx="2514600" cy="2286000"/>
          </a:xfrm>
          <a:prstGeom prst="roundRect">
            <a:avLst>
              <a:gd name="adj" fmla="val 3200"/>
            </a:avLst>
          </a:prstGeom>
          <a:solidFill>
            <a:srgbClr val="131D31"/>
          </a:solidFill>
          <a:ln w="12700">
            <a:solidFill>
              <a:srgbClr val="233554"/>
            </a:solidFill>
            <a:prstDash val="solid"/>
          </a:ln>
        </p:spPr>
      </p:sp>
      <p:sp>
        <p:nvSpPr>
          <p:cNvPr id="36" name="Shape 34"/>
          <p:cNvSpPr/>
          <p:nvPr/>
        </p:nvSpPr>
        <p:spPr>
          <a:xfrm>
            <a:off x="6217920" y="2423160"/>
            <a:ext cx="1645920" cy="228600"/>
          </a:xfrm>
          <a:prstGeom prst="roundRect">
            <a:avLst>
              <a:gd name="adj" fmla="val 20000"/>
            </a:avLst>
          </a:prstGeom>
          <a:solidFill>
            <a:srgbClr val="0C2B40"/>
          </a:solidFill>
          <a:ln w="10160">
            <a:solidFill>
              <a:srgbClr val="0EA5E9"/>
            </a:solidFill>
            <a:prstDash val="solid"/>
          </a:ln>
        </p:spPr>
      </p:sp>
      <p:sp>
        <p:nvSpPr>
          <p:cNvPr id="37" name="Text 35"/>
          <p:cNvSpPr/>
          <p:nvPr/>
        </p:nvSpPr>
        <p:spPr>
          <a:xfrm>
            <a:off x="6217920" y="2441448"/>
            <a:ext cx="164592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GENERIC AI FAILURE</a:t>
            </a:r>
            <a:endParaRPr lang="en-US" sz="800" dirty="0"/>
          </a:p>
        </p:txBody>
      </p:sp>
      <p:sp>
        <p:nvSpPr>
          <p:cNvPr id="38" name="Text 36"/>
          <p:cNvSpPr/>
          <p:nvPr/>
        </p:nvSpPr>
        <p:spPr>
          <a:xfrm>
            <a:off x="6217920" y="2724912"/>
            <a:ext cx="2148840" cy="27432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Context Loss in Single LLMs</a:t>
            </a:r>
            <a:endParaRPr lang="en-US" sz="1200" dirty="0"/>
          </a:p>
        </p:txBody>
      </p:sp>
      <p:sp>
        <p:nvSpPr>
          <p:cNvPr id="39" name="Text 37"/>
          <p:cNvSpPr/>
          <p:nvPr/>
        </p:nvSpPr>
        <p:spPr>
          <a:xfrm>
            <a:off x="6217920" y="3035808"/>
            <a:ext cx="2148840" cy="137160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Single chatbots suffer context window saturation on complex campaigns.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Hallucinations compound across multi-step generation tasks (Xi et al., 2025).</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Zero automated alignment between copy, visuals, and KPIs.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EXECUTIVE IMPACT // FINANCIAL LOSS</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The Compounding Cost of Manual Marketing Inefficiency</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05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Leaving marketing workflows uncoordinated creates massive hidden costs in operational drag, ad spend waste, and delayed revenue realization.</a:t>
            </a:r>
            <a:endParaRPr lang="en-US" sz="1050" dirty="0"/>
          </a:p>
        </p:txBody>
      </p:sp>
      <p:sp>
        <p:nvSpPr>
          <p:cNvPr id="11" name="Shape 9"/>
          <p:cNvSpPr/>
          <p:nvPr/>
        </p:nvSpPr>
        <p:spPr>
          <a:xfrm>
            <a:off x="548640" y="1691640"/>
            <a:ext cx="1874520" cy="2926080"/>
          </a:xfrm>
          <a:prstGeom prst="roundRect">
            <a:avLst>
              <a:gd name="adj" fmla="val 3902"/>
            </a:avLst>
          </a:prstGeom>
          <a:solidFill>
            <a:srgbClr val="131D31"/>
          </a:solidFill>
          <a:ln w="12700">
            <a:solidFill>
              <a:srgbClr val="233554"/>
            </a:solidFill>
            <a:prstDash val="solid"/>
          </a:ln>
        </p:spPr>
      </p:sp>
      <p:sp>
        <p:nvSpPr>
          <p:cNvPr id="12" name="Shape 10"/>
          <p:cNvSpPr/>
          <p:nvPr/>
        </p:nvSpPr>
        <p:spPr>
          <a:xfrm>
            <a:off x="548640" y="1691640"/>
            <a:ext cx="1874520" cy="45720"/>
          </a:xfrm>
          <a:prstGeom prst="rect">
            <a:avLst/>
          </a:prstGeom>
          <a:solidFill>
            <a:srgbClr val="F59E0B"/>
          </a:solidFill>
          <a:ln w="12700">
            <a:solidFill>
              <a:srgbClr val="333333"/>
            </a:solidFill>
            <a:prstDash val="solid"/>
          </a:ln>
        </p:spPr>
      </p:sp>
      <p:sp>
        <p:nvSpPr>
          <p:cNvPr id="13" name="Text 11"/>
          <p:cNvSpPr/>
          <p:nvPr/>
        </p:nvSpPr>
        <p:spPr>
          <a:xfrm>
            <a:off x="640080" y="1920240"/>
            <a:ext cx="1691640" cy="457200"/>
          </a:xfrm>
          <a:prstGeom prst="rect">
            <a:avLst/>
          </a:prstGeom>
          <a:noFill/>
          <a:ln/>
        </p:spPr>
        <p:txBody>
          <a:bodyPr wrap="square" rtlCol="0" anchor="ctr"/>
          <a:lstStyle/>
          <a:p>
            <a:pPr marL="0" indent="0">
              <a:buNone/>
            </a:pPr>
            <a:r>
              <a:rPr lang="en-US" sz="2000" b="1" dirty="0">
                <a:solidFill>
                  <a:srgbClr val="F59E0B"/>
                </a:solidFill>
                <a:latin typeface="Arial" pitchFamily="34" charset="0"/>
                <a:ea typeface="Arial" pitchFamily="34" charset="-122"/>
                <a:cs typeface="Arial" pitchFamily="34" charset="-120"/>
              </a:rPr>
              <a:t>10-14 Days</a:t>
            </a:r>
            <a:endParaRPr lang="en-US" sz="2000" dirty="0"/>
          </a:p>
        </p:txBody>
      </p:sp>
      <p:sp>
        <p:nvSpPr>
          <p:cNvPr id="14" name="Text 12"/>
          <p:cNvSpPr/>
          <p:nvPr/>
        </p:nvSpPr>
        <p:spPr>
          <a:xfrm>
            <a:off x="640080" y="2423160"/>
            <a:ext cx="1691640" cy="27432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AVERAGE CYCLE TIME</a:t>
            </a:r>
            <a:endParaRPr lang="en-US" sz="850" dirty="0"/>
          </a:p>
        </p:txBody>
      </p:sp>
      <p:sp>
        <p:nvSpPr>
          <p:cNvPr id="15" name="Text 13"/>
          <p:cNvSpPr/>
          <p:nvPr/>
        </p:nvSpPr>
        <p:spPr>
          <a:xfrm>
            <a:off x="640080" y="2788920"/>
            <a:ext cx="1691640" cy="1645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Brief-to-launch delay across copywriting, creative generation, and review loops.</a:t>
            </a:r>
            <a:endParaRPr lang="en-US" sz="800" dirty="0"/>
          </a:p>
        </p:txBody>
      </p:sp>
      <p:sp>
        <p:nvSpPr>
          <p:cNvPr id="16" name="Shape 14"/>
          <p:cNvSpPr/>
          <p:nvPr/>
        </p:nvSpPr>
        <p:spPr>
          <a:xfrm>
            <a:off x="2606040" y="1691640"/>
            <a:ext cx="1874520" cy="2926080"/>
          </a:xfrm>
          <a:prstGeom prst="roundRect">
            <a:avLst>
              <a:gd name="adj" fmla="val 3902"/>
            </a:avLst>
          </a:prstGeom>
          <a:solidFill>
            <a:srgbClr val="131D31"/>
          </a:solidFill>
          <a:ln w="12700">
            <a:solidFill>
              <a:srgbClr val="233554"/>
            </a:solidFill>
            <a:prstDash val="solid"/>
          </a:ln>
        </p:spPr>
      </p:sp>
      <p:sp>
        <p:nvSpPr>
          <p:cNvPr id="17" name="Shape 15"/>
          <p:cNvSpPr/>
          <p:nvPr/>
        </p:nvSpPr>
        <p:spPr>
          <a:xfrm>
            <a:off x="2606040" y="1691640"/>
            <a:ext cx="1874520" cy="45720"/>
          </a:xfrm>
          <a:prstGeom prst="rect">
            <a:avLst/>
          </a:prstGeom>
          <a:solidFill>
            <a:srgbClr val="F43F5E"/>
          </a:solidFill>
          <a:ln w="12700">
            <a:solidFill>
              <a:srgbClr val="333333"/>
            </a:solidFill>
            <a:prstDash val="solid"/>
          </a:ln>
        </p:spPr>
      </p:sp>
      <p:sp>
        <p:nvSpPr>
          <p:cNvPr id="18" name="Text 16"/>
          <p:cNvSpPr/>
          <p:nvPr/>
        </p:nvSpPr>
        <p:spPr>
          <a:xfrm>
            <a:off x="2697480" y="1920240"/>
            <a:ext cx="1691640" cy="457200"/>
          </a:xfrm>
          <a:prstGeom prst="rect">
            <a:avLst/>
          </a:prstGeom>
          <a:noFill/>
          <a:ln/>
        </p:spPr>
        <p:txBody>
          <a:bodyPr wrap="square" rtlCol="0" anchor="ctr"/>
          <a:lstStyle/>
          <a:p>
            <a:pPr marL="0" indent="0">
              <a:buNone/>
            </a:pPr>
            <a:r>
              <a:rPr lang="en-US" sz="2000" b="1" dirty="0">
                <a:solidFill>
                  <a:srgbClr val="F43F5E"/>
                </a:solidFill>
                <a:latin typeface="Arial" pitchFamily="34" charset="0"/>
                <a:ea typeface="Arial" pitchFamily="34" charset="-122"/>
                <a:cs typeface="Arial" pitchFamily="34" charset="-120"/>
              </a:rPr>
              <a:t>68%</a:t>
            </a:r>
            <a:endParaRPr lang="en-US" sz="2000" dirty="0"/>
          </a:p>
        </p:txBody>
      </p:sp>
      <p:sp>
        <p:nvSpPr>
          <p:cNvPr id="19" name="Text 17"/>
          <p:cNvSpPr/>
          <p:nvPr/>
        </p:nvSpPr>
        <p:spPr>
          <a:xfrm>
            <a:off x="2697480" y="2423160"/>
            <a:ext cx="1691640" cy="27432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BRAND VOICE DRIFT</a:t>
            </a:r>
            <a:endParaRPr lang="en-US" sz="850" dirty="0"/>
          </a:p>
        </p:txBody>
      </p:sp>
      <p:sp>
        <p:nvSpPr>
          <p:cNvPr id="20" name="Text 18"/>
          <p:cNvSpPr/>
          <p:nvPr/>
        </p:nvSpPr>
        <p:spPr>
          <a:xfrm>
            <a:off x="2697480" y="2788920"/>
            <a:ext cx="1691640" cy="1645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Enterprise marketers reporting inconsistent brand messaging across channels (Dwivedi 2023).</a:t>
            </a:r>
            <a:endParaRPr lang="en-US" sz="800" dirty="0"/>
          </a:p>
        </p:txBody>
      </p:sp>
      <p:sp>
        <p:nvSpPr>
          <p:cNvPr id="21" name="Shape 19"/>
          <p:cNvSpPr/>
          <p:nvPr/>
        </p:nvSpPr>
        <p:spPr>
          <a:xfrm>
            <a:off x="4663440" y="1691640"/>
            <a:ext cx="1874520" cy="2926080"/>
          </a:xfrm>
          <a:prstGeom prst="roundRect">
            <a:avLst>
              <a:gd name="adj" fmla="val 3902"/>
            </a:avLst>
          </a:prstGeom>
          <a:solidFill>
            <a:srgbClr val="131D31"/>
          </a:solidFill>
          <a:ln w="12700">
            <a:solidFill>
              <a:srgbClr val="233554"/>
            </a:solidFill>
            <a:prstDash val="solid"/>
          </a:ln>
        </p:spPr>
      </p:sp>
      <p:sp>
        <p:nvSpPr>
          <p:cNvPr id="22" name="Shape 20"/>
          <p:cNvSpPr/>
          <p:nvPr/>
        </p:nvSpPr>
        <p:spPr>
          <a:xfrm>
            <a:off x="4663440" y="1691640"/>
            <a:ext cx="1874520" cy="45720"/>
          </a:xfrm>
          <a:prstGeom prst="rect">
            <a:avLst/>
          </a:prstGeom>
          <a:solidFill>
            <a:srgbClr val="0EA5E9"/>
          </a:solidFill>
          <a:ln w="12700">
            <a:solidFill>
              <a:srgbClr val="333333"/>
            </a:solidFill>
            <a:prstDash val="solid"/>
          </a:ln>
        </p:spPr>
      </p:sp>
      <p:sp>
        <p:nvSpPr>
          <p:cNvPr id="23" name="Text 21"/>
          <p:cNvSpPr/>
          <p:nvPr/>
        </p:nvSpPr>
        <p:spPr>
          <a:xfrm>
            <a:off x="4754880" y="1920240"/>
            <a:ext cx="1691640" cy="457200"/>
          </a:xfrm>
          <a:prstGeom prst="rect">
            <a:avLst/>
          </a:prstGeom>
          <a:noFill/>
          <a:ln/>
        </p:spPr>
        <p:txBody>
          <a:bodyPr wrap="square" rtlCol="0" anchor="ctr"/>
          <a:lstStyle/>
          <a:p>
            <a:pPr marL="0" indent="0">
              <a:buNone/>
            </a:pPr>
            <a:r>
              <a:rPr lang="en-US" sz="2000" b="1" dirty="0">
                <a:solidFill>
                  <a:srgbClr val="0EA5E9"/>
                </a:solidFill>
                <a:latin typeface="Arial" pitchFamily="34" charset="0"/>
                <a:ea typeface="Arial" pitchFamily="34" charset="-122"/>
                <a:cs typeface="Arial" pitchFamily="34" charset="-120"/>
              </a:rPr>
              <a:t>20-35%</a:t>
            </a:r>
            <a:endParaRPr lang="en-US" sz="2000" dirty="0"/>
          </a:p>
        </p:txBody>
      </p:sp>
      <p:sp>
        <p:nvSpPr>
          <p:cNvPr id="24" name="Text 22"/>
          <p:cNvSpPr/>
          <p:nvPr/>
        </p:nvSpPr>
        <p:spPr>
          <a:xfrm>
            <a:off x="4754880" y="2423160"/>
            <a:ext cx="1691640" cy="27432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BUDGET LEAKAGE</a:t>
            </a:r>
            <a:endParaRPr lang="en-US" sz="850" dirty="0"/>
          </a:p>
        </p:txBody>
      </p:sp>
      <p:sp>
        <p:nvSpPr>
          <p:cNvPr id="25" name="Text 23"/>
          <p:cNvSpPr/>
          <p:nvPr/>
        </p:nvSpPr>
        <p:spPr>
          <a:xfrm>
            <a:off x="4754880" y="2788920"/>
            <a:ext cx="1691640" cy="1645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Ad spend wasted on underperforming ad variants before human teams detect decay.</a:t>
            </a:r>
            <a:endParaRPr lang="en-US" sz="800" dirty="0"/>
          </a:p>
        </p:txBody>
      </p:sp>
      <p:sp>
        <p:nvSpPr>
          <p:cNvPr id="26" name="Shape 24"/>
          <p:cNvSpPr/>
          <p:nvPr/>
        </p:nvSpPr>
        <p:spPr>
          <a:xfrm>
            <a:off x="6720840" y="1691640"/>
            <a:ext cx="1874520" cy="2926080"/>
          </a:xfrm>
          <a:prstGeom prst="roundRect">
            <a:avLst>
              <a:gd name="adj" fmla="val 3902"/>
            </a:avLst>
          </a:prstGeom>
          <a:solidFill>
            <a:srgbClr val="131D31"/>
          </a:solidFill>
          <a:ln w="12700">
            <a:solidFill>
              <a:srgbClr val="233554"/>
            </a:solidFill>
            <a:prstDash val="solid"/>
          </a:ln>
        </p:spPr>
      </p:sp>
      <p:sp>
        <p:nvSpPr>
          <p:cNvPr id="27" name="Shape 25"/>
          <p:cNvSpPr/>
          <p:nvPr/>
        </p:nvSpPr>
        <p:spPr>
          <a:xfrm>
            <a:off x="6720840" y="1691640"/>
            <a:ext cx="1874520" cy="45720"/>
          </a:xfrm>
          <a:prstGeom prst="rect">
            <a:avLst/>
          </a:prstGeom>
          <a:solidFill>
            <a:srgbClr val="8B5CF6"/>
          </a:solidFill>
          <a:ln w="12700">
            <a:solidFill>
              <a:srgbClr val="333333"/>
            </a:solidFill>
            <a:prstDash val="solid"/>
          </a:ln>
        </p:spPr>
      </p:sp>
      <p:sp>
        <p:nvSpPr>
          <p:cNvPr id="28" name="Text 26"/>
          <p:cNvSpPr/>
          <p:nvPr/>
        </p:nvSpPr>
        <p:spPr>
          <a:xfrm>
            <a:off x="6812280" y="1920240"/>
            <a:ext cx="1691640" cy="457200"/>
          </a:xfrm>
          <a:prstGeom prst="rect">
            <a:avLst/>
          </a:prstGeom>
          <a:noFill/>
          <a:ln/>
        </p:spPr>
        <p:txBody>
          <a:bodyPr wrap="square" rtlCol="0" anchor="ctr"/>
          <a:lstStyle/>
          <a:p>
            <a:pPr marL="0" indent="0">
              <a:buNone/>
            </a:pPr>
            <a:r>
              <a:rPr lang="en-US" sz="2000" b="1" dirty="0">
                <a:solidFill>
                  <a:srgbClr val="8B5CF6"/>
                </a:solidFill>
                <a:latin typeface="Arial" pitchFamily="34" charset="0"/>
                <a:ea typeface="Arial" pitchFamily="34" charset="-122"/>
                <a:cs typeface="Arial" pitchFamily="34" charset="-120"/>
              </a:rPr>
              <a:t>70%+</a:t>
            </a:r>
            <a:endParaRPr lang="en-US" sz="2000" dirty="0"/>
          </a:p>
        </p:txBody>
      </p:sp>
      <p:sp>
        <p:nvSpPr>
          <p:cNvPr id="29" name="Text 27"/>
          <p:cNvSpPr/>
          <p:nvPr/>
        </p:nvSpPr>
        <p:spPr>
          <a:xfrm>
            <a:off x="6812280" y="2423160"/>
            <a:ext cx="1691640" cy="27432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ADMINISTRATIVE TIME</a:t>
            </a:r>
            <a:endParaRPr lang="en-US" sz="850" dirty="0"/>
          </a:p>
        </p:txBody>
      </p:sp>
      <p:sp>
        <p:nvSpPr>
          <p:cNvPr id="30" name="Text 28"/>
          <p:cNvSpPr/>
          <p:nvPr/>
        </p:nvSpPr>
        <p:spPr>
          <a:xfrm>
            <a:off x="6812280" y="2788920"/>
            <a:ext cx="1691640" cy="1645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Senior strategist hours consumed by manual formatting, copy-pasting, and tool coordination.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PRODUCT VISION // THE UNIFIED ARCHITECTURE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The Solution: One Coordinated Marketing Operating System</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06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ADPilot Pro replaces disconnected toolchains with a single autonomous platform where specialized AI agents orchestrate the entire campaign lifecycle under human governance.</a:t>
            </a:r>
            <a:endParaRPr lang="en-US" sz="1050" dirty="0"/>
          </a:p>
        </p:txBody>
      </p:sp>
      <p:sp>
        <p:nvSpPr>
          <p:cNvPr id="11" name="Shape 9"/>
          <p:cNvSpPr/>
          <p:nvPr/>
        </p:nvSpPr>
        <p:spPr>
          <a:xfrm>
            <a:off x="548640" y="1645920"/>
            <a:ext cx="2011680" cy="2971800"/>
          </a:xfrm>
          <a:prstGeom prst="roundRect">
            <a:avLst>
              <a:gd name="adj" fmla="val 3636"/>
            </a:avLst>
          </a:prstGeom>
          <a:solidFill>
            <a:srgbClr val="131D31"/>
          </a:solidFill>
          <a:ln w="12700">
            <a:solidFill>
              <a:srgbClr val="233554"/>
            </a:solidFill>
            <a:prstDash val="solid"/>
          </a:ln>
        </p:spPr>
      </p:sp>
      <p:sp>
        <p:nvSpPr>
          <p:cNvPr id="12" name="Shape 10"/>
          <p:cNvSpPr/>
          <p:nvPr/>
        </p:nvSpPr>
        <p:spPr>
          <a:xfrm>
            <a:off x="731520" y="1783080"/>
            <a:ext cx="1645920" cy="228600"/>
          </a:xfrm>
          <a:prstGeom prst="roundRect">
            <a:avLst>
              <a:gd name="adj" fmla="val 20000"/>
            </a:avLst>
          </a:prstGeom>
          <a:solidFill>
            <a:srgbClr val="0C2B40"/>
          </a:solidFill>
          <a:ln w="10160">
            <a:solidFill>
              <a:srgbClr val="0EA5E9"/>
            </a:solidFill>
            <a:prstDash val="solid"/>
          </a:ln>
        </p:spPr>
      </p:sp>
      <p:sp>
        <p:nvSpPr>
          <p:cNvPr id="13" name="Text 11"/>
          <p:cNvSpPr/>
          <p:nvPr/>
        </p:nvSpPr>
        <p:spPr>
          <a:xfrm>
            <a:off x="731520" y="1801368"/>
            <a:ext cx="164592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1. STRUCTURED BRIEF</a:t>
            </a:r>
            <a:endParaRPr lang="en-US" sz="800" dirty="0"/>
          </a:p>
        </p:txBody>
      </p:sp>
      <p:sp>
        <p:nvSpPr>
          <p:cNvPr id="14" name="Text 12"/>
          <p:cNvSpPr/>
          <p:nvPr/>
        </p:nvSpPr>
        <p:spPr>
          <a:xfrm>
            <a:off x="731520" y="2084832"/>
            <a:ext cx="1645920" cy="320040"/>
          </a:xfrm>
          <a:prstGeom prst="rect">
            <a:avLst/>
          </a:prstGeom>
          <a:noFill/>
          <a:ln/>
        </p:spPr>
        <p:txBody>
          <a:bodyPr wrap="square" rtlCol="0" anchor="ctr"/>
          <a:lstStyle/>
          <a:p>
            <a:pPr marL="0" indent="0">
              <a:buNone/>
            </a:pPr>
            <a:r>
              <a:rPr lang="en-US" sz="1100" b="1" dirty="0">
                <a:solidFill>
                  <a:srgbClr val="F8FAFC"/>
                </a:solidFill>
                <a:latin typeface="Arial" pitchFamily="34" charset="0"/>
                <a:ea typeface="Arial" pitchFamily="34" charset="-122"/>
                <a:cs typeface="Arial" pitchFamily="34" charset="-120"/>
              </a:rPr>
              <a:t>Single Source of Truth</a:t>
            </a:r>
            <a:endParaRPr lang="en-US" sz="1100" dirty="0"/>
          </a:p>
        </p:txBody>
      </p:sp>
      <p:sp>
        <p:nvSpPr>
          <p:cNvPr id="15" name="Text 13"/>
          <p:cNvSpPr/>
          <p:nvPr/>
        </p:nvSpPr>
        <p:spPr>
          <a:xfrm>
            <a:off x="731520" y="2468880"/>
            <a:ext cx="1645920" cy="19202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Business objectives &amp; budget</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Brand tone of voice &amp; colors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Target geography &amp; ICP</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Requested channels &amp; formats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Strict Pydantic v2 validation</a:t>
            </a:r>
            <a:endParaRPr lang="en-US" sz="800" dirty="0"/>
          </a:p>
        </p:txBody>
      </p:sp>
      <p:sp>
        <p:nvSpPr>
          <p:cNvPr id="16" name="Shape 14"/>
          <p:cNvSpPr/>
          <p:nvPr/>
        </p:nvSpPr>
        <p:spPr>
          <a:xfrm>
            <a:off x="2743200" y="1645920"/>
            <a:ext cx="3474720" cy="2971800"/>
          </a:xfrm>
          <a:prstGeom prst="roundRect">
            <a:avLst>
              <a:gd name="adj" fmla="val 2462"/>
            </a:avLst>
          </a:prstGeom>
          <a:solidFill>
            <a:srgbClr val="131D31"/>
          </a:solidFill>
          <a:ln w="12700">
            <a:solidFill>
              <a:srgbClr val="10B981"/>
            </a:solidFill>
            <a:prstDash val="solid"/>
          </a:ln>
        </p:spPr>
      </p:sp>
      <p:sp>
        <p:nvSpPr>
          <p:cNvPr id="17" name="Shape 15"/>
          <p:cNvSpPr/>
          <p:nvPr/>
        </p:nvSpPr>
        <p:spPr>
          <a:xfrm>
            <a:off x="2926080" y="1783080"/>
            <a:ext cx="3108960" cy="228600"/>
          </a:xfrm>
          <a:prstGeom prst="roundRect">
            <a:avLst>
              <a:gd name="adj" fmla="val 20000"/>
            </a:avLst>
          </a:prstGeom>
          <a:solidFill>
            <a:srgbClr val="064E3B"/>
          </a:solidFill>
          <a:ln w="10160">
            <a:solidFill>
              <a:srgbClr val="10B981"/>
            </a:solidFill>
            <a:prstDash val="solid"/>
          </a:ln>
        </p:spPr>
      </p:sp>
      <p:sp>
        <p:nvSpPr>
          <p:cNvPr id="18" name="Text 16"/>
          <p:cNvSpPr/>
          <p:nvPr/>
        </p:nvSpPr>
        <p:spPr>
          <a:xfrm>
            <a:off x="2926080" y="1801368"/>
            <a:ext cx="310896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2. AUTONOMOUS AGENT ORCHESTRATION</a:t>
            </a:r>
            <a:endParaRPr lang="en-US" sz="800" dirty="0"/>
          </a:p>
        </p:txBody>
      </p:sp>
      <p:sp>
        <p:nvSpPr>
          <p:cNvPr id="19" name="Shape 17"/>
          <p:cNvSpPr/>
          <p:nvPr/>
        </p:nvSpPr>
        <p:spPr>
          <a:xfrm>
            <a:off x="2926080" y="2084832"/>
            <a:ext cx="3108960" cy="402336"/>
          </a:xfrm>
          <a:prstGeom prst="roundRect">
            <a:avLst>
              <a:gd name="adj" fmla="val 11364"/>
            </a:avLst>
          </a:prstGeom>
          <a:solidFill>
            <a:srgbClr val="1E293B"/>
          </a:solidFill>
          <a:ln w="10160">
            <a:solidFill>
              <a:srgbClr val="233554"/>
            </a:solidFill>
            <a:prstDash val="solid"/>
          </a:ln>
        </p:spPr>
      </p:sp>
      <p:sp>
        <p:nvSpPr>
          <p:cNvPr id="20" name="Text 18"/>
          <p:cNvSpPr/>
          <p:nvPr/>
        </p:nvSpPr>
        <p:spPr>
          <a:xfrm>
            <a:off x="3017520" y="2139696"/>
            <a:ext cx="1463040" cy="182880"/>
          </a:xfrm>
          <a:prstGeom prst="rect">
            <a:avLst/>
          </a:prstGeom>
          <a:noFill/>
          <a:ln/>
        </p:spPr>
        <p:txBody>
          <a:bodyPr wrap="square" rtlCol="0" anchor="ctr"/>
          <a:lstStyle/>
          <a:p>
            <a:pPr marL="0" indent="0">
              <a:buNone/>
            </a:pPr>
            <a:r>
              <a:rPr lang="en-US" sz="800" b="1" dirty="0">
                <a:solidFill>
                  <a:srgbClr val="34D399"/>
                </a:solidFill>
                <a:latin typeface="Arial" pitchFamily="34" charset="0"/>
                <a:ea typeface="Arial" pitchFamily="34" charset="-122"/>
                <a:cs typeface="Arial" pitchFamily="34" charset="-120"/>
              </a:rPr>
              <a:t>Strategy &amp; Planner</a:t>
            </a:r>
            <a:endParaRPr lang="en-US" sz="800" dirty="0"/>
          </a:p>
        </p:txBody>
      </p:sp>
      <p:sp>
        <p:nvSpPr>
          <p:cNvPr id="21" name="Text 19"/>
          <p:cNvSpPr/>
          <p:nvPr/>
        </p:nvSpPr>
        <p:spPr>
          <a:xfrm>
            <a:off x="3017520" y="2304288"/>
            <a:ext cx="2926080" cy="164592"/>
          </a:xfrm>
          <a:prstGeom prst="rect">
            <a:avLst/>
          </a:prstGeom>
          <a:noFill/>
          <a:ln/>
        </p:spPr>
        <p:txBody>
          <a:bodyPr wrap="square" rtlCol="0" anchor="ctr"/>
          <a:lstStyle/>
          <a:p>
            <a:pPr marL="0" indent="0">
              <a:buNone/>
            </a:pPr>
            <a:r>
              <a:rPr lang="en-US" sz="750" dirty="0">
                <a:solidFill>
                  <a:srgbClr val="94A3B8"/>
                </a:solidFill>
                <a:latin typeface="Arial" pitchFamily="34" charset="0"/>
                <a:ea typeface="Arial" pitchFamily="34" charset="-122"/>
                <a:cs typeface="Arial" pitchFamily="34" charset="-120"/>
              </a:rPr>
              <a:t>Funnel architecture &amp; dynamic budget allocation</a:t>
            </a:r>
            <a:endParaRPr lang="en-US" sz="750" dirty="0"/>
          </a:p>
        </p:txBody>
      </p:sp>
      <p:sp>
        <p:nvSpPr>
          <p:cNvPr id="22" name="Shape 20"/>
          <p:cNvSpPr/>
          <p:nvPr/>
        </p:nvSpPr>
        <p:spPr>
          <a:xfrm>
            <a:off x="2926080" y="2560320"/>
            <a:ext cx="3108960" cy="402336"/>
          </a:xfrm>
          <a:prstGeom prst="roundRect">
            <a:avLst>
              <a:gd name="adj" fmla="val 11364"/>
            </a:avLst>
          </a:prstGeom>
          <a:solidFill>
            <a:srgbClr val="1E293B"/>
          </a:solidFill>
          <a:ln w="10160">
            <a:solidFill>
              <a:srgbClr val="233554"/>
            </a:solidFill>
            <a:prstDash val="solid"/>
          </a:ln>
        </p:spPr>
      </p:sp>
      <p:sp>
        <p:nvSpPr>
          <p:cNvPr id="23" name="Text 21"/>
          <p:cNvSpPr/>
          <p:nvPr/>
        </p:nvSpPr>
        <p:spPr>
          <a:xfrm>
            <a:off x="3017520" y="2615184"/>
            <a:ext cx="1463040" cy="182880"/>
          </a:xfrm>
          <a:prstGeom prst="rect">
            <a:avLst/>
          </a:prstGeom>
          <a:noFill/>
          <a:ln/>
        </p:spPr>
        <p:txBody>
          <a:bodyPr wrap="square" rtlCol="0" anchor="ctr"/>
          <a:lstStyle/>
          <a:p>
            <a:pPr marL="0" indent="0">
              <a:buNone/>
            </a:pPr>
            <a:r>
              <a:rPr lang="en-US" sz="800" b="1" dirty="0">
                <a:solidFill>
                  <a:srgbClr val="34D399"/>
                </a:solidFill>
                <a:latin typeface="Arial" pitchFamily="34" charset="0"/>
                <a:ea typeface="Arial" pitchFamily="34" charset="-122"/>
                <a:cs typeface="Arial" pitchFamily="34" charset="-120"/>
              </a:rPr>
              <a:t>Research &amp; Competitor</a:t>
            </a:r>
            <a:endParaRPr lang="en-US" sz="800" dirty="0"/>
          </a:p>
        </p:txBody>
      </p:sp>
      <p:sp>
        <p:nvSpPr>
          <p:cNvPr id="24" name="Text 22"/>
          <p:cNvSpPr/>
          <p:nvPr/>
        </p:nvSpPr>
        <p:spPr>
          <a:xfrm>
            <a:off x="3017520" y="2779776"/>
            <a:ext cx="2926080" cy="164592"/>
          </a:xfrm>
          <a:prstGeom prst="rect">
            <a:avLst/>
          </a:prstGeom>
          <a:noFill/>
          <a:ln/>
        </p:spPr>
        <p:txBody>
          <a:bodyPr wrap="square" rtlCol="0" anchor="ctr"/>
          <a:lstStyle/>
          <a:p>
            <a:pPr marL="0" indent="0">
              <a:buNone/>
            </a:pPr>
            <a:r>
              <a:rPr lang="en-US" sz="750" dirty="0">
                <a:solidFill>
                  <a:srgbClr val="94A3B8"/>
                </a:solidFill>
                <a:latin typeface="Arial" pitchFamily="34" charset="0"/>
                <a:ea typeface="Arial" pitchFamily="34" charset="-122"/>
                <a:cs typeface="Arial" pitchFamily="34" charset="-120"/>
              </a:rPr>
              <a:t>SerpAPI intelligence &amp; audience slang extraction</a:t>
            </a:r>
            <a:endParaRPr lang="en-US" sz="750" dirty="0"/>
          </a:p>
        </p:txBody>
      </p:sp>
      <p:sp>
        <p:nvSpPr>
          <p:cNvPr id="25" name="Shape 23"/>
          <p:cNvSpPr/>
          <p:nvPr/>
        </p:nvSpPr>
        <p:spPr>
          <a:xfrm>
            <a:off x="2926080" y="3035808"/>
            <a:ext cx="3108960" cy="402336"/>
          </a:xfrm>
          <a:prstGeom prst="roundRect">
            <a:avLst>
              <a:gd name="adj" fmla="val 11364"/>
            </a:avLst>
          </a:prstGeom>
          <a:solidFill>
            <a:srgbClr val="1E293B"/>
          </a:solidFill>
          <a:ln w="10160">
            <a:solidFill>
              <a:srgbClr val="233554"/>
            </a:solidFill>
            <a:prstDash val="solid"/>
          </a:ln>
        </p:spPr>
      </p:sp>
      <p:sp>
        <p:nvSpPr>
          <p:cNvPr id="26" name="Text 24"/>
          <p:cNvSpPr/>
          <p:nvPr/>
        </p:nvSpPr>
        <p:spPr>
          <a:xfrm>
            <a:off x="3017520" y="3090672"/>
            <a:ext cx="1463040" cy="182880"/>
          </a:xfrm>
          <a:prstGeom prst="rect">
            <a:avLst/>
          </a:prstGeom>
          <a:noFill/>
          <a:ln/>
        </p:spPr>
        <p:txBody>
          <a:bodyPr wrap="square" rtlCol="0" anchor="ctr"/>
          <a:lstStyle/>
          <a:p>
            <a:pPr marL="0" indent="0">
              <a:buNone/>
            </a:pPr>
            <a:r>
              <a:rPr lang="en-US" sz="800" b="1" dirty="0">
                <a:solidFill>
                  <a:srgbClr val="34D399"/>
                </a:solidFill>
                <a:latin typeface="Arial" pitchFamily="34" charset="0"/>
                <a:ea typeface="Arial" pitchFamily="34" charset="-122"/>
                <a:cs typeface="Arial" pitchFamily="34" charset="-120"/>
              </a:rPr>
              <a:t>Content &amp; Copywriting</a:t>
            </a:r>
            <a:endParaRPr lang="en-US" sz="800" dirty="0"/>
          </a:p>
        </p:txBody>
      </p:sp>
      <p:sp>
        <p:nvSpPr>
          <p:cNvPr id="27" name="Text 25"/>
          <p:cNvSpPr/>
          <p:nvPr/>
        </p:nvSpPr>
        <p:spPr>
          <a:xfrm>
            <a:off x="3017520" y="3255264"/>
            <a:ext cx="2926080" cy="164592"/>
          </a:xfrm>
          <a:prstGeom prst="rect">
            <a:avLst/>
          </a:prstGeom>
          <a:noFill/>
          <a:ln/>
        </p:spPr>
        <p:txBody>
          <a:bodyPr wrap="square" rtlCol="0" anchor="ctr"/>
          <a:lstStyle/>
          <a:p>
            <a:pPr marL="0" indent="0">
              <a:buNone/>
            </a:pPr>
            <a:r>
              <a:rPr lang="en-US" sz="750" dirty="0">
                <a:solidFill>
                  <a:srgbClr val="94A3B8"/>
                </a:solidFill>
                <a:latin typeface="Arial" pitchFamily="34" charset="0"/>
                <a:ea typeface="Arial" pitchFamily="34" charset="-122"/>
                <a:cs typeface="Arial" pitchFamily="34" charset="-120"/>
              </a:rPr>
              <a:t>Google RSAs, Meta Feeds, LinkedIn &amp; Email sequences</a:t>
            </a:r>
            <a:endParaRPr lang="en-US" sz="750" dirty="0"/>
          </a:p>
        </p:txBody>
      </p:sp>
      <p:sp>
        <p:nvSpPr>
          <p:cNvPr id="28" name="Shape 26"/>
          <p:cNvSpPr/>
          <p:nvPr/>
        </p:nvSpPr>
        <p:spPr>
          <a:xfrm>
            <a:off x="2926080" y="3511296"/>
            <a:ext cx="3108960" cy="402336"/>
          </a:xfrm>
          <a:prstGeom prst="roundRect">
            <a:avLst>
              <a:gd name="adj" fmla="val 11364"/>
            </a:avLst>
          </a:prstGeom>
          <a:solidFill>
            <a:srgbClr val="1E293B"/>
          </a:solidFill>
          <a:ln w="10160">
            <a:solidFill>
              <a:srgbClr val="233554"/>
            </a:solidFill>
            <a:prstDash val="solid"/>
          </a:ln>
        </p:spPr>
      </p:sp>
      <p:sp>
        <p:nvSpPr>
          <p:cNvPr id="29" name="Text 27"/>
          <p:cNvSpPr/>
          <p:nvPr/>
        </p:nvSpPr>
        <p:spPr>
          <a:xfrm>
            <a:off x="3017520" y="3566160"/>
            <a:ext cx="1463040" cy="182880"/>
          </a:xfrm>
          <a:prstGeom prst="rect">
            <a:avLst/>
          </a:prstGeom>
          <a:noFill/>
          <a:ln/>
        </p:spPr>
        <p:txBody>
          <a:bodyPr wrap="square" rtlCol="0" anchor="ctr"/>
          <a:lstStyle/>
          <a:p>
            <a:pPr marL="0" indent="0">
              <a:buNone/>
            </a:pPr>
            <a:r>
              <a:rPr lang="en-US" sz="800" b="1" dirty="0">
                <a:solidFill>
                  <a:srgbClr val="34D399"/>
                </a:solidFill>
                <a:latin typeface="Arial" pitchFamily="34" charset="0"/>
                <a:ea typeface="Arial" pitchFamily="34" charset="-122"/>
                <a:cs typeface="Arial" pitchFamily="34" charset="-120"/>
              </a:rPr>
              <a:t>Creative &amp; Design</a:t>
            </a:r>
            <a:endParaRPr lang="en-US" sz="800" dirty="0"/>
          </a:p>
        </p:txBody>
      </p:sp>
      <p:sp>
        <p:nvSpPr>
          <p:cNvPr id="30" name="Text 28"/>
          <p:cNvSpPr/>
          <p:nvPr/>
        </p:nvSpPr>
        <p:spPr>
          <a:xfrm>
            <a:off x="3017520" y="3730752"/>
            <a:ext cx="2926080" cy="164592"/>
          </a:xfrm>
          <a:prstGeom prst="rect">
            <a:avLst/>
          </a:prstGeom>
          <a:noFill/>
          <a:ln/>
        </p:spPr>
        <p:txBody>
          <a:bodyPr wrap="square" rtlCol="0" anchor="ctr"/>
          <a:lstStyle/>
          <a:p>
            <a:pPr marL="0" indent="0">
              <a:buNone/>
            </a:pPr>
            <a:r>
              <a:rPr lang="en-US" sz="750" dirty="0">
                <a:solidFill>
                  <a:srgbClr val="94A3B8"/>
                </a:solidFill>
                <a:latin typeface="Arial" pitchFamily="34" charset="0"/>
                <a:ea typeface="Arial" pitchFamily="34" charset="-122"/>
                <a:cs typeface="Arial" pitchFamily="34" charset="-120"/>
              </a:rPr>
              <a:t>Visual styling tokens &amp; DALL·E 3 prompt engineering</a:t>
            </a:r>
            <a:endParaRPr lang="en-US" sz="750" dirty="0"/>
          </a:p>
        </p:txBody>
      </p:sp>
      <p:sp>
        <p:nvSpPr>
          <p:cNvPr id="31" name="Shape 29"/>
          <p:cNvSpPr/>
          <p:nvPr/>
        </p:nvSpPr>
        <p:spPr>
          <a:xfrm>
            <a:off x="2926080" y="3986784"/>
            <a:ext cx="3108960" cy="402336"/>
          </a:xfrm>
          <a:prstGeom prst="roundRect">
            <a:avLst>
              <a:gd name="adj" fmla="val 11364"/>
            </a:avLst>
          </a:prstGeom>
          <a:solidFill>
            <a:srgbClr val="1E293B"/>
          </a:solidFill>
          <a:ln w="10160">
            <a:solidFill>
              <a:srgbClr val="233554"/>
            </a:solidFill>
            <a:prstDash val="solid"/>
          </a:ln>
        </p:spPr>
      </p:sp>
      <p:sp>
        <p:nvSpPr>
          <p:cNvPr id="32" name="Text 30"/>
          <p:cNvSpPr/>
          <p:nvPr/>
        </p:nvSpPr>
        <p:spPr>
          <a:xfrm>
            <a:off x="3017520" y="4041648"/>
            <a:ext cx="1463040" cy="182880"/>
          </a:xfrm>
          <a:prstGeom prst="rect">
            <a:avLst/>
          </a:prstGeom>
          <a:noFill/>
          <a:ln/>
        </p:spPr>
        <p:txBody>
          <a:bodyPr wrap="square" rtlCol="0" anchor="ctr"/>
          <a:lstStyle/>
          <a:p>
            <a:pPr marL="0" indent="0">
              <a:buNone/>
            </a:pPr>
            <a:r>
              <a:rPr lang="en-US" sz="800" b="1" dirty="0">
                <a:solidFill>
                  <a:srgbClr val="34D399"/>
                </a:solidFill>
                <a:latin typeface="Arial" pitchFamily="34" charset="0"/>
                <a:ea typeface="Arial" pitchFamily="34" charset="-122"/>
                <a:cs typeface="Arial" pitchFamily="34" charset="-120"/>
              </a:rPr>
              <a:t>CV Quality &amp; Analytics</a:t>
            </a:r>
            <a:endParaRPr lang="en-US" sz="800" dirty="0"/>
          </a:p>
        </p:txBody>
      </p:sp>
      <p:sp>
        <p:nvSpPr>
          <p:cNvPr id="33" name="Text 31"/>
          <p:cNvSpPr/>
          <p:nvPr/>
        </p:nvSpPr>
        <p:spPr>
          <a:xfrm>
            <a:off x="3017520" y="4206240"/>
            <a:ext cx="2926080" cy="164592"/>
          </a:xfrm>
          <a:prstGeom prst="rect">
            <a:avLst/>
          </a:prstGeom>
          <a:noFill/>
          <a:ln/>
        </p:spPr>
        <p:txBody>
          <a:bodyPr wrap="square" rtlCol="0" anchor="ctr"/>
          <a:lstStyle/>
          <a:p>
            <a:pPr marL="0" indent="0">
              <a:buNone/>
            </a:pPr>
            <a:r>
              <a:rPr lang="en-US" sz="750" dirty="0">
                <a:solidFill>
                  <a:srgbClr val="94A3B8"/>
                </a:solidFill>
                <a:latin typeface="Arial" pitchFamily="34" charset="0"/>
                <a:ea typeface="Arial" pitchFamily="34" charset="-122"/>
                <a:cs typeface="Arial" pitchFamily="34" charset="-120"/>
              </a:rPr>
              <a:t>CLIP-ViT visual validation &amp; pre-flight scoring</a:t>
            </a:r>
            <a:endParaRPr lang="en-US" sz="750" dirty="0"/>
          </a:p>
        </p:txBody>
      </p:sp>
      <p:sp>
        <p:nvSpPr>
          <p:cNvPr id="34" name="Shape 32"/>
          <p:cNvSpPr/>
          <p:nvPr/>
        </p:nvSpPr>
        <p:spPr>
          <a:xfrm>
            <a:off x="6400800" y="1645920"/>
            <a:ext cx="2194560" cy="2971800"/>
          </a:xfrm>
          <a:prstGeom prst="roundRect">
            <a:avLst>
              <a:gd name="adj" fmla="val 3333"/>
            </a:avLst>
          </a:prstGeom>
          <a:solidFill>
            <a:srgbClr val="131D31"/>
          </a:solidFill>
          <a:ln w="12700">
            <a:solidFill>
              <a:srgbClr val="233554"/>
            </a:solidFill>
            <a:prstDash val="solid"/>
          </a:ln>
        </p:spPr>
      </p:sp>
      <p:sp>
        <p:nvSpPr>
          <p:cNvPr id="35" name="Shape 33"/>
          <p:cNvSpPr/>
          <p:nvPr/>
        </p:nvSpPr>
        <p:spPr>
          <a:xfrm>
            <a:off x="6583680" y="1783080"/>
            <a:ext cx="1828800" cy="228600"/>
          </a:xfrm>
          <a:prstGeom prst="roundRect">
            <a:avLst>
              <a:gd name="adj" fmla="val 20000"/>
            </a:avLst>
          </a:prstGeom>
          <a:solidFill>
            <a:srgbClr val="1E1B4B"/>
          </a:solidFill>
          <a:ln w="10160">
            <a:solidFill>
              <a:srgbClr val="6366F1"/>
            </a:solidFill>
            <a:prstDash val="solid"/>
          </a:ln>
        </p:spPr>
      </p:sp>
      <p:sp>
        <p:nvSpPr>
          <p:cNvPr id="36" name="Text 34"/>
          <p:cNvSpPr/>
          <p:nvPr/>
        </p:nvSpPr>
        <p:spPr>
          <a:xfrm>
            <a:off x="6583680" y="1801368"/>
            <a:ext cx="1828800" cy="192024"/>
          </a:xfrm>
          <a:prstGeom prst="rect">
            <a:avLst/>
          </a:prstGeom>
          <a:noFill/>
          <a:ln/>
        </p:spPr>
        <p:txBody>
          <a:bodyPr wrap="square" rtlCol="0" anchor="ctr"/>
          <a:lstStyle/>
          <a:p>
            <a:pPr marL="0" indent="0" algn="ctr">
              <a:buNone/>
            </a:pPr>
            <a:r>
              <a:rPr lang="en-US" sz="800" b="1" dirty="0">
                <a:solidFill>
                  <a:srgbClr val="6366F1"/>
                </a:solidFill>
                <a:latin typeface="Arial" pitchFamily="34" charset="0"/>
                <a:ea typeface="Arial" pitchFamily="34" charset="-122"/>
                <a:cs typeface="Arial" pitchFamily="34" charset="-120"/>
              </a:rPr>
              <a:t>3. CLOSED-LOOP OPTIMIZATION</a:t>
            </a:r>
            <a:endParaRPr lang="en-US" sz="800" dirty="0"/>
          </a:p>
        </p:txBody>
      </p:sp>
      <p:sp>
        <p:nvSpPr>
          <p:cNvPr id="37" name="Text 35"/>
          <p:cNvSpPr/>
          <p:nvPr/>
        </p:nvSpPr>
        <p:spPr>
          <a:xfrm>
            <a:off x="6583680" y="2084832"/>
            <a:ext cx="1828800" cy="320040"/>
          </a:xfrm>
          <a:prstGeom prst="rect">
            <a:avLst/>
          </a:prstGeom>
          <a:noFill/>
          <a:ln/>
        </p:spPr>
        <p:txBody>
          <a:bodyPr wrap="square" rtlCol="0" anchor="ctr"/>
          <a:lstStyle/>
          <a:p>
            <a:pPr marL="0" indent="0">
              <a:buNone/>
            </a:pPr>
            <a:r>
              <a:rPr lang="en-US" sz="1100" b="1" dirty="0">
                <a:solidFill>
                  <a:srgbClr val="F8FAFC"/>
                </a:solidFill>
                <a:latin typeface="Arial" pitchFamily="34" charset="0"/>
                <a:ea typeface="Arial" pitchFamily="34" charset="-122"/>
                <a:cs typeface="Arial" pitchFamily="34" charset="-120"/>
              </a:rPr>
              <a:t>Execution &amp; Feedback</a:t>
            </a:r>
            <a:endParaRPr lang="en-US" sz="1100" dirty="0"/>
          </a:p>
        </p:txBody>
      </p:sp>
      <p:sp>
        <p:nvSpPr>
          <p:cNvPr id="38" name="Text 36"/>
          <p:cNvSpPr/>
          <p:nvPr/>
        </p:nvSpPr>
        <p:spPr>
          <a:xfrm>
            <a:off x="6583680" y="2468880"/>
            <a:ext cx="1828800" cy="19202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Human-in-the-Loop review</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Multi-channel ad publishing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Real-time metric telemetry</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PPO Reinforcement Learning closed-loop budget tuning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PIPELINE ARCHITECTURE // 18-STAGE DAG</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Master System Architecture: 18-Stage Execution DAG</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07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Master Orchestrator coordinates an 18-stage Directed Acyclic Graph (DAG) executing parallel intelligence, creative synthesis, and quality auditing.</a:t>
            </a:r>
            <a:endParaRPr lang="en-US" sz="1050" dirty="0"/>
          </a:p>
        </p:txBody>
      </p:sp>
      <p:pic>
        <p:nvPicPr>
          <p:cNvPr id="11" name="Image 0" descr="C:\Users\Admin\Desktop\Adpilot Progect\presentation_assets\ADPILOT_PIPLAIN1.png"/>
          <p:cNvPicPr>
            <a:picLocks noChangeAspect="1"/>
          </p:cNvPicPr>
          <p:nvPr/>
        </p:nvPicPr>
        <p:blipFill>
          <a:blip r:embed="rId3"/>
          <a:stretch>
            <a:fillRect/>
          </a:stretch>
        </p:blipFill>
        <p:spPr>
          <a:xfrm>
            <a:off x="548640" y="1600200"/>
            <a:ext cx="5120640" cy="3017520"/>
          </a:xfrm>
          <a:prstGeom prst="rect">
            <a:avLst/>
          </a:prstGeom>
        </p:spPr>
      </p:pic>
      <p:sp>
        <p:nvSpPr>
          <p:cNvPr id="12" name="Shape 9"/>
          <p:cNvSpPr/>
          <p:nvPr/>
        </p:nvSpPr>
        <p:spPr>
          <a:xfrm>
            <a:off x="5852160" y="1600200"/>
            <a:ext cx="2743200" cy="3017520"/>
          </a:xfrm>
          <a:prstGeom prst="roundRect">
            <a:avLst>
              <a:gd name="adj" fmla="val 2667"/>
            </a:avLst>
          </a:prstGeom>
          <a:solidFill>
            <a:srgbClr val="131D31"/>
          </a:solidFill>
          <a:ln w="12700">
            <a:solidFill>
              <a:srgbClr val="233554"/>
            </a:solidFill>
            <a:prstDash val="solid"/>
          </a:ln>
        </p:spPr>
      </p:sp>
      <p:sp>
        <p:nvSpPr>
          <p:cNvPr id="13" name="Shape 10"/>
          <p:cNvSpPr/>
          <p:nvPr/>
        </p:nvSpPr>
        <p:spPr>
          <a:xfrm>
            <a:off x="6035040" y="1783080"/>
            <a:ext cx="2377440" cy="228600"/>
          </a:xfrm>
          <a:prstGeom prst="roundRect">
            <a:avLst>
              <a:gd name="adj" fmla="val 20000"/>
            </a:avLst>
          </a:prstGeom>
          <a:solidFill>
            <a:srgbClr val="064E3B"/>
          </a:solidFill>
          <a:ln w="10160">
            <a:solidFill>
              <a:srgbClr val="10B981"/>
            </a:solidFill>
            <a:prstDash val="solid"/>
          </a:ln>
        </p:spPr>
      </p:sp>
      <p:sp>
        <p:nvSpPr>
          <p:cNvPr id="14" name="Text 11"/>
          <p:cNvSpPr/>
          <p:nvPr/>
        </p:nvSpPr>
        <p:spPr>
          <a:xfrm>
            <a:off x="6035040" y="1801368"/>
            <a:ext cx="237744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PIPELINE GUARANTEES</a:t>
            </a:r>
            <a:endParaRPr lang="en-US" sz="800" dirty="0"/>
          </a:p>
        </p:txBody>
      </p:sp>
      <p:sp>
        <p:nvSpPr>
          <p:cNvPr id="15" name="Text 12"/>
          <p:cNvSpPr/>
          <p:nvPr/>
        </p:nvSpPr>
        <p:spPr>
          <a:xfrm>
            <a:off x="6035040" y="2103120"/>
            <a:ext cx="2377440" cy="27432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Architectural Highlights</a:t>
            </a:r>
            <a:endParaRPr lang="en-US" sz="1050" dirty="0"/>
          </a:p>
        </p:txBody>
      </p:sp>
      <p:sp>
        <p:nvSpPr>
          <p:cNvPr id="16" name="Text 13"/>
          <p:cNvSpPr/>
          <p:nvPr/>
        </p:nvSpPr>
        <p:spPr>
          <a:xfrm>
            <a:off x="6035040" y="2423160"/>
            <a:ext cx="23774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1. Concurrency (asyncio.gather):</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Parallel strategy &amp; research cuts runtime by ~40%.</a:t>
            </a:r>
            <a:endParaRPr lang="en-US" sz="800" dirty="0"/>
          </a:p>
          <a:p>
            <a:pPr marL="0" indent="0">
              <a:buNone/>
            </a:pP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2. Zero Context Drift:</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Immutable CampaignContext passed across all stages.</a:t>
            </a:r>
            <a:endParaRPr lang="en-US" sz="800" dirty="0"/>
          </a:p>
          <a:p>
            <a:pPr marL="0" indent="0">
              <a:buNone/>
            </a:pP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3. Pre-Flight Quality Gates: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CLIP-ViT vision validation + Pydantic schema verification (SVER &lt; 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AGENT FLEET // 7 CORE SPECIALIZED ROBOTS</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The 7 Core Primary Autonomous Agents Fleet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08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While ADPilot Pro includes 16 specialized agents, these 7 primary autonomous robot agents form the core execution engine of the marketing operating system.</a:t>
            </a:r>
            <a:endParaRPr lang="en-US" sz="1050" dirty="0"/>
          </a:p>
        </p:txBody>
      </p:sp>
      <p:sp>
        <p:nvSpPr>
          <p:cNvPr id="11" name="Shape 9"/>
          <p:cNvSpPr/>
          <p:nvPr/>
        </p:nvSpPr>
        <p:spPr>
          <a:xfrm>
            <a:off x="548640" y="1600200"/>
            <a:ext cx="1874520" cy="1371600"/>
          </a:xfrm>
          <a:prstGeom prst="roundRect">
            <a:avLst>
              <a:gd name="adj" fmla="val 5333"/>
            </a:avLst>
          </a:prstGeom>
          <a:solidFill>
            <a:srgbClr val="131D31"/>
          </a:solidFill>
          <a:ln w="12700">
            <a:solidFill>
              <a:srgbClr val="233554"/>
            </a:solidFill>
            <a:prstDash val="solid"/>
          </a:ln>
        </p:spPr>
      </p:sp>
      <p:sp>
        <p:nvSpPr>
          <p:cNvPr id="12" name="Shape 10"/>
          <p:cNvSpPr/>
          <p:nvPr/>
        </p:nvSpPr>
        <p:spPr>
          <a:xfrm>
            <a:off x="548640" y="1600200"/>
            <a:ext cx="1874520" cy="36576"/>
          </a:xfrm>
          <a:prstGeom prst="rect">
            <a:avLst/>
          </a:prstGeom>
          <a:solidFill>
            <a:srgbClr val="10B981"/>
          </a:solidFill>
          <a:ln w="12700">
            <a:solidFill>
              <a:srgbClr val="333333"/>
            </a:solidFill>
            <a:prstDash val="solid"/>
          </a:ln>
        </p:spPr>
      </p:sp>
      <p:sp>
        <p:nvSpPr>
          <p:cNvPr id="13" name="Text 11"/>
          <p:cNvSpPr/>
          <p:nvPr/>
        </p:nvSpPr>
        <p:spPr>
          <a:xfrm>
            <a:off x="640080" y="1709928"/>
            <a:ext cx="1691640" cy="228600"/>
          </a:xfrm>
          <a:prstGeom prst="rect">
            <a:avLst/>
          </a:prstGeom>
          <a:noFill/>
          <a:ln/>
        </p:spPr>
        <p:txBody>
          <a:bodyPr wrap="square" rtlCol="0" anchor="ctr"/>
          <a:lstStyle/>
          <a:p>
            <a:pPr marL="0" indent="0">
              <a:buNone/>
            </a:pPr>
            <a:r>
              <a:rPr lang="en-US" sz="850" b="1" dirty="0">
                <a:solidFill>
                  <a:srgbClr val="10B981"/>
                </a:solidFill>
                <a:latin typeface="Arial" pitchFamily="34" charset="0"/>
                <a:ea typeface="Arial" pitchFamily="34" charset="-122"/>
                <a:cs typeface="Arial" pitchFamily="34" charset="-120"/>
              </a:rPr>
              <a:t>🤖 AGENT 01</a:t>
            </a:r>
            <a:endParaRPr lang="en-US" sz="850" dirty="0"/>
          </a:p>
        </p:txBody>
      </p:sp>
      <p:sp>
        <p:nvSpPr>
          <p:cNvPr id="14" name="Text 12"/>
          <p:cNvSpPr/>
          <p:nvPr/>
        </p:nvSpPr>
        <p:spPr>
          <a:xfrm>
            <a:off x="640080" y="1984248"/>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Strategy Agent</a:t>
            </a:r>
            <a:endParaRPr lang="en-US" sz="1050" dirty="0"/>
          </a:p>
        </p:txBody>
      </p:sp>
      <p:sp>
        <p:nvSpPr>
          <p:cNvPr id="15" name="Text 13"/>
          <p:cNvSpPr/>
          <p:nvPr/>
        </p:nvSpPr>
        <p:spPr>
          <a:xfrm>
            <a:off x="640080" y="2331720"/>
            <a:ext cx="1691640" cy="502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Funnel &amp; Budget Architect</a:t>
            </a:r>
            <a:endParaRPr lang="en-US" sz="800" dirty="0"/>
          </a:p>
        </p:txBody>
      </p:sp>
      <p:sp>
        <p:nvSpPr>
          <p:cNvPr id="16" name="Shape 14"/>
          <p:cNvSpPr/>
          <p:nvPr/>
        </p:nvSpPr>
        <p:spPr>
          <a:xfrm>
            <a:off x="2606040" y="1600200"/>
            <a:ext cx="1874520" cy="1371600"/>
          </a:xfrm>
          <a:prstGeom prst="roundRect">
            <a:avLst>
              <a:gd name="adj" fmla="val 5333"/>
            </a:avLst>
          </a:prstGeom>
          <a:solidFill>
            <a:srgbClr val="131D31"/>
          </a:solidFill>
          <a:ln w="12700">
            <a:solidFill>
              <a:srgbClr val="233554"/>
            </a:solidFill>
            <a:prstDash val="solid"/>
          </a:ln>
        </p:spPr>
      </p:sp>
      <p:sp>
        <p:nvSpPr>
          <p:cNvPr id="17" name="Shape 15"/>
          <p:cNvSpPr/>
          <p:nvPr/>
        </p:nvSpPr>
        <p:spPr>
          <a:xfrm>
            <a:off x="2606040" y="1600200"/>
            <a:ext cx="1874520" cy="36576"/>
          </a:xfrm>
          <a:prstGeom prst="rect">
            <a:avLst/>
          </a:prstGeom>
          <a:solidFill>
            <a:srgbClr val="0EA5E9"/>
          </a:solidFill>
          <a:ln w="12700">
            <a:solidFill>
              <a:srgbClr val="333333"/>
            </a:solidFill>
            <a:prstDash val="solid"/>
          </a:ln>
        </p:spPr>
      </p:sp>
      <p:sp>
        <p:nvSpPr>
          <p:cNvPr id="18" name="Text 16"/>
          <p:cNvSpPr/>
          <p:nvPr/>
        </p:nvSpPr>
        <p:spPr>
          <a:xfrm>
            <a:off x="2697480" y="1709928"/>
            <a:ext cx="1691640" cy="228600"/>
          </a:xfrm>
          <a:prstGeom prst="rect">
            <a:avLst/>
          </a:prstGeom>
          <a:noFill/>
          <a:ln/>
        </p:spPr>
        <p:txBody>
          <a:bodyPr wrap="square" rtlCol="0" anchor="ctr"/>
          <a:lstStyle/>
          <a:p>
            <a:pPr marL="0" indent="0">
              <a:buNone/>
            </a:pPr>
            <a:r>
              <a:rPr lang="en-US" sz="850" b="1" dirty="0">
                <a:solidFill>
                  <a:srgbClr val="0EA5E9"/>
                </a:solidFill>
                <a:latin typeface="Arial" pitchFamily="34" charset="0"/>
                <a:ea typeface="Arial" pitchFamily="34" charset="-122"/>
                <a:cs typeface="Arial" pitchFamily="34" charset="-120"/>
              </a:rPr>
              <a:t>🤖 AGENT 02</a:t>
            </a:r>
            <a:endParaRPr lang="en-US" sz="850" dirty="0"/>
          </a:p>
        </p:txBody>
      </p:sp>
      <p:sp>
        <p:nvSpPr>
          <p:cNvPr id="19" name="Text 17"/>
          <p:cNvSpPr/>
          <p:nvPr/>
        </p:nvSpPr>
        <p:spPr>
          <a:xfrm>
            <a:off x="2697480" y="1984248"/>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Research Agent</a:t>
            </a:r>
            <a:endParaRPr lang="en-US" sz="1050" dirty="0"/>
          </a:p>
        </p:txBody>
      </p:sp>
      <p:sp>
        <p:nvSpPr>
          <p:cNvPr id="20" name="Text 18"/>
          <p:cNvSpPr/>
          <p:nvPr/>
        </p:nvSpPr>
        <p:spPr>
          <a:xfrm>
            <a:off x="2697480" y="2331720"/>
            <a:ext cx="1691640" cy="502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Market &amp; Competitor Discovery</a:t>
            </a:r>
            <a:endParaRPr lang="en-US" sz="800" dirty="0"/>
          </a:p>
        </p:txBody>
      </p:sp>
      <p:sp>
        <p:nvSpPr>
          <p:cNvPr id="21" name="Shape 19"/>
          <p:cNvSpPr/>
          <p:nvPr/>
        </p:nvSpPr>
        <p:spPr>
          <a:xfrm>
            <a:off x="4663440" y="1600200"/>
            <a:ext cx="1874520" cy="1371600"/>
          </a:xfrm>
          <a:prstGeom prst="roundRect">
            <a:avLst>
              <a:gd name="adj" fmla="val 5333"/>
            </a:avLst>
          </a:prstGeom>
          <a:solidFill>
            <a:srgbClr val="131D31"/>
          </a:solidFill>
          <a:ln w="12700">
            <a:solidFill>
              <a:srgbClr val="233554"/>
            </a:solidFill>
            <a:prstDash val="solid"/>
          </a:ln>
        </p:spPr>
      </p:sp>
      <p:sp>
        <p:nvSpPr>
          <p:cNvPr id="22" name="Shape 20"/>
          <p:cNvSpPr/>
          <p:nvPr/>
        </p:nvSpPr>
        <p:spPr>
          <a:xfrm>
            <a:off x="4663440" y="1600200"/>
            <a:ext cx="1874520" cy="36576"/>
          </a:xfrm>
          <a:prstGeom prst="rect">
            <a:avLst/>
          </a:prstGeom>
          <a:solidFill>
            <a:srgbClr val="8B5CF6"/>
          </a:solidFill>
          <a:ln w="12700">
            <a:solidFill>
              <a:srgbClr val="333333"/>
            </a:solidFill>
            <a:prstDash val="solid"/>
          </a:ln>
        </p:spPr>
      </p:sp>
      <p:sp>
        <p:nvSpPr>
          <p:cNvPr id="23" name="Text 21"/>
          <p:cNvSpPr/>
          <p:nvPr/>
        </p:nvSpPr>
        <p:spPr>
          <a:xfrm>
            <a:off x="4754880" y="1709928"/>
            <a:ext cx="1691640" cy="228600"/>
          </a:xfrm>
          <a:prstGeom prst="rect">
            <a:avLst/>
          </a:prstGeom>
          <a:noFill/>
          <a:ln/>
        </p:spPr>
        <p:txBody>
          <a:bodyPr wrap="square" rtlCol="0" anchor="ctr"/>
          <a:lstStyle/>
          <a:p>
            <a:pPr marL="0" indent="0">
              <a:buNone/>
            </a:pPr>
            <a:r>
              <a:rPr lang="en-US" sz="850" b="1" dirty="0">
                <a:solidFill>
                  <a:srgbClr val="8B5CF6"/>
                </a:solidFill>
                <a:latin typeface="Arial" pitchFamily="34" charset="0"/>
                <a:ea typeface="Arial" pitchFamily="34" charset="-122"/>
                <a:cs typeface="Arial" pitchFamily="34" charset="-120"/>
              </a:rPr>
              <a:t>🤖 AGENT 03</a:t>
            </a:r>
            <a:endParaRPr lang="en-US" sz="850" dirty="0"/>
          </a:p>
        </p:txBody>
      </p:sp>
      <p:sp>
        <p:nvSpPr>
          <p:cNvPr id="24" name="Text 22"/>
          <p:cNvSpPr/>
          <p:nvPr/>
        </p:nvSpPr>
        <p:spPr>
          <a:xfrm>
            <a:off x="4754880" y="1984248"/>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Content Agent</a:t>
            </a:r>
            <a:endParaRPr lang="en-US" sz="1050" dirty="0"/>
          </a:p>
        </p:txBody>
      </p:sp>
      <p:sp>
        <p:nvSpPr>
          <p:cNvPr id="25" name="Text 23"/>
          <p:cNvSpPr/>
          <p:nvPr/>
        </p:nvSpPr>
        <p:spPr>
          <a:xfrm>
            <a:off x="4754880" y="2331720"/>
            <a:ext cx="1691640" cy="502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Omnichannel Creative Copy</a:t>
            </a:r>
            <a:endParaRPr lang="en-US" sz="800" dirty="0"/>
          </a:p>
        </p:txBody>
      </p:sp>
      <p:sp>
        <p:nvSpPr>
          <p:cNvPr id="26" name="Shape 24"/>
          <p:cNvSpPr/>
          <p:nvPr/>
        </p:nvSpPr>
        <p:spPr>
          <a:xfrm>
            <a:off x="6720840" y="1600200"/>
            <a:ext cx="1874520" cy="1371600"/>
          </a:xfrm>
          <a:prstGeom prst="roundRect">
            <a:avLst>
              <a:gd name="adj" fmla="val 5333"/>
            </a:avLst>
          </a:prstGeom>
          <a:solidFill>
            <a:srgbClr val="131D31"/>
          </a:solidFill>
          <a:ln w="12700">
            <a:solidFill>
              <a:srgbClr val="233554"/>
            </a:solidFill>
            <a:prstDash val="solid"/>
          </a:ln>
        </p:spPr>
      </p:sp>
      <p:sp>
        <p:nvSpPr>
          <p:cNvPr id="27" name="Shape 25"/>
          <p:cNvSpPr/>
          <p:nvPr/>
        </p:nvSpPr>
        <p:spPr>
          <a:xfrm>
            <a:off x="6720840" y="1600200"/>
            <a:ext cx="1874520" cy="36576"/>
          </a:xfrm>
          <a:prstGeom prst="rect">
            <a:avLst/>
          </a:prstGeom>
          <a:solidFill>
            <a:srgbClr val="F59E0B"/>
          </a:solidFill>
          <a:ln w="12700">
            <a:solidFill>
              <a:srgbClr val="333333"/>
            </a:solidFill>
            <a:prstDash val="solid"/>
          </a:ln>
        </p:spPr>
      </p:sp>
      <p:sp>
        <p:nvSpPr>
          <p:cNvPr id="28" name="Text 26"/>
          <p:cNvSpPr/>
          <p:nvPr/>
        </p:nvSpPr>
        <p:spPr>
          <a:xfrm>
            <a:off x="6812280" y="1709928"/>
            <a:ext cx="1691640" cy="228600"/>
          </a:xfrm>
          <a:prstGeom prst="rect">
            <a:avLst/>
          </a:prstGeom>
          <a:noFill/>
          <a:ln/>
        </p:spPr>
        <p:txBody>
          <a:bodyPr wrap="square" rtlCol="0" anchor="ctr"/>
          <a:lstStyle/>
          <a:p>
            <a:pPr marL="0" indent="0">
              <a:buNone/>
            </a:pPr>
            <a:r>
              <a:rPr lang="en-US" sz="850" b="1" dirty="0">
                <a:solidFill>
                  <a:srgbClr val="F59E0B"/>
                </a:solidFill>
                <a:latin typeface="Arial" pitchFamily="34" charset="0"/>
                <a:ea typeface="Arial" pitchFamily="34" charset="-122"/>
                <a:cs typeface="Arial" pitchFamily="34" charset="-120"/>
              </a:rPr>
              <a:t>🤖 AGENT 04</a:t>
            </a:r>
            <a:endParaRPr lang="en-US" sz="850" dirty="0"/>
          </a:p>
        </p:txBody>
      </p:sp>
      <p:sp>
        <p:nvSpPr>
          <p:cNvPr id="29" name="Text 27"/>
          <p:cNvSpPr/>
          <p:nvPr/>
        </p:nvSpPr>
        <p:spPr>
          <a:xfrm>
            <a:off x="6812280" y="1984248"/>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Design Agent</a:t>
            </a:r>
            <a:endParaRPr lang="en-US" sz="1050" dirty="0"/>
          </a:p>
        </p:txBody>
      </p:sp>
      <p:sp>
        <p:nvSpPr>
          <p:cNvPr id="30" name="Text 28"/>
          <p:cNvSpPr/>
          <p:nvPr/>
        </p:nvSpPr>
        <p:spPr>
          <a:xfrm>
            <a:off x="6812280" y="2331720"/>
            <a:ext cx="1691640" cy="502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Visual Prompt Engineering</a:t>
            </a:r>
            <a:endParaRPr lang="en-US" sz="800" dirty="0"/>
          </a:p>
        </p:txBody>
      </p:sp>
      <p:sp>
        <p:nvSpPr>
          <p:cNvPr id="31" name="Shape 29"/>
          <p:cNvSpPr/>
          <p:nvPr/>
        </p:nvSpPr>
        <p:spPr>
          <a:xfrm>
            <a:off x="548640" y="3108960"/>
            <a:ext cx="1874520" cy="1371600"/>
          </a:xfrm>
          <a:prstGeom prst="roundRect">
            <a:avLst>
              <a:gd name="adj" fmla="val 5333"/>
            </a:avLst>
          </a:prstGeom>
          <a:solidFill>
            <a:srgbClr val="131D31"/>
          </a:solidFill>
          <a:ln w="12700">
            <a:solidFill>
              <a:srgbClr val="233554"/>
            </a:solidFill>
            <a:prstDash val="solid"/>
          </a:ln>
        </p:spPr>
      </p:sp>
      <p:sp>
        <p:nvSpPr>
          <p:cNvPr id="32" name="Shape 30"/>
          <p:cNvSpPr/>
          <p:nvPr/>
        </p:nvSpPr>
        <p:spPr>
          <a:xfrm>
            <a:off x="548640" y="3108960"/>
            <a:ext cx="1874520" cy="36576"/>
          </a:xfrm>
          <a:prstGeom prst="rect">
            <a:avLst/>
          </a:prstGeom>
          <a:solidFill>
            <a:srgbClr val="F43F5E"/>
          </a:solidFill>
          <a:ln w="12700">
            <a:solidFill>
              <a:srgbClr val="333333"/>
            </a:solidFill>
            <a:prstDash val="solid"/>
          </a:ln>
        </p:spPr>
      </p:sp>
      <p:sp>
        <p:nvSpPr>
          <p:cNvPr id="33" name="Text 31"/>
          <p:cNvSpPr/>
          <p:nvPr/>
        </p:nvSpPr>
        <p:spPr>
          <a:xfrm>
            <a:off x="640080" y="3218688"/>
            <a:ext cx="1691640" cy="228600"/>
          </a:xfrm>
          <a:prstGeom prst="rect">
            <a:avLst/>
          </a:prstGeom>
          <a:noFill/>
          <a:ln/>
        </p:spPr>
        <p:txBody>
          <a:bodyPr wrap="square" rtlCol="0" anchor="ctr"/>
          <a:lstStyle/>
          <a:p>
            <a:pPr marL="0" indent="0">
              <a:buNone/>
            </a:pPr>
            <a:r>
              <a:rPr lang="en-US" sz="850" b="1" dirty="0">
                <a:solidFill>
                  <a:srgbClr val="F43F5E"/>
                </a:solidFill>
                <a:latin typeface="Arial" pitchFamily="34" charset="0"/>
                <a:ea typeface="Arial" pitchFamily="34" charset="-122"/>
                <a:cs typeface="Arial" pitchFamily="34" charset="-120"/>
              </a:rPr>
              <a:t>🤖 AGENT 05</a:t>
            </a:r>
            <a:endParaRPr lang="en-US" sz="850" dirty="0"/>
          </a:p>
        </p:txBody>
      </p:sp>
      <p:sp>
        <p:nvSpPr>
          <p:cNvPr id="34" name="Text 32"/>
          <p:cNvSpPr/>
          <p:nvPr/>
        </p:nvSpPr>
        <p:spPr>
          <a:xfrm>
            <a:off x="640080" y="3493008"/>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CV Quality Agent</a:t>
            </a:r>
            <a:endParaRPr lang="en-US" sz="1050" dirty="0"/>
          </a:p>
        </p:txBody>
      </p:sp>
      <p:sp>
        <p:nvSpPr>
          <p:cNvPr id="35" name="Text 33"/>
          <p:cNvSpPr/>
          <p:nvPr/>
        </p:nvSpPr>
        <p:spPr>
          <a:xfrm>
            <a:off x="640080" y="3840480"/>
            <a:ext cx="1691640" cy="502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CLIP-ViT Visual Quality Gate</a:t>
            </a:r>
            <a:endParaRPr lang="en-US" sz="800" dirty="0"/>
          </a:p>
        </p:txBody>
      </p:sp>
      <p:sp>
        <p:nvSpPr>
          <p:cNvPr id="36" name="Shape 34"/>
          <p:cNvSpPr/>
          <p:nvPr/>
        </p:nvSpPr>
        <p:spPr>
          <a:xfrm>
            <a:off x="2606040" y="3108960"/>
            <a:ext cx="1874520" cy="1371600"/>
          </a:xfrm>
          <a:prstGeom prst="roundRect">
            <a:avLst>
              <a:gd name="adj" fmla="val 5333"/>
            </a:avLst>
          </a:prstGeom>
          <a:solidFill>
            <a:srgbClr val="131D31"/>
          </a:solidFill>
          <a:ln w="12700">
            <a:solidFill>
              <a:srgbClr val="233554"/>
            </a:solidFill>
            <a:prstDash val="solid"/>
          </a:ln>
        </p:spPr>
      </p:sp>
      <p:sp>
        <p:nvSpPr>
          <p:cNvPr id="37" name="Shape 35"/>
          <p:cNvSpPr/>
          <p:nvPr/>
        </p:nvSpPr>
        <p:spPr>
          <a:xfrm>
            <a:off x="2606040" y="3108960"/>
            <a:ext cx="1874520" cy="36576"/>
          </a:xfrm>
          <a:prstGeom prst="rect">
            <a:avLst/>
          </a:prstGeom>
          <a:solidFill>
            <a:srgbClr val="6366F1"/>
          </a:solidFill>
          <a:ln w="12700">
            <a:solidFill>
              <a:srgbClr val="333333"/>
            </a:solidFill>
            <a:prstDash val="solid"/>
          </a:ln>
        </p:spPr>
      </p:sp>
      <p:sp>
        <p:nvSpPr>
          <p:cNvPr id="38" name="Text 36"/>
          <p:cNvSpPr/>
          <p:nvPr/>
        </p:nvSpPr>
        <p:spPr>
          <a:xfrm>
            <a:off x="2697480" y="3218688"/>
            <a:ext cx="1691640" cy="228600"/>
          </a:xfrm>
          <a:prstGeom prst="rect">
            <a:avLst/>
          </a:prstGeom>
          <a:noFill/>
          <a:ln/>
        </p:spPr>
        <p:txBody>
          <a:bodyPr wrap="square" rtlCol="0" anchor="ctr"/>
          <a:lstStyle/>
          <a:p>
            <a:pPr marL="0" indent="0">
              <a:buNone/>
            </a:pPr>
            <a:r>
              <a:rPr lang="en-US" sz="850" b="1" dirty="0">
                <a:solidFill>
                  <a:srgbClr val="6366F1"/>
                </a:solidFill>
                <a:latin typeface="Arial" pitchFamily="34" charset="0"/>
                <a:ea typeface="Arial" pitchFamily="34" charset="-122"/>
                <a:cs typeface="Arial" pitchFamily="34" charset="-120"/>
              </a:rPr>
              <a:t>🤖 AGENT 06</a:t>
            </a:r>
            <a:endParaRPr lang="en-US" sz="850" dirty="0"/>
          </a:p>
        </p:txBody>
      </p:sp>
      <p:sp>
        <p:nvSpPr>
          <p:cNvPr id="39" name="Text 37"/>
          <p:cNvSpPr/>
          <p:nvPr/>
        </p:nvSpPr>
        <p:spPr>
          <a:xfrm>
            <a:off x="2697480" y="3493008"/>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Analytics Agent</a:t>
            </a:r>
            <a:endParaRPr lang="en-US" sz="1050" dirty="0"/>
          </a:p>
        </p:txBody>
      </p:sp>
      <p:sp>
        <p:nvSpPr>
          <p:cNvPr id="40" name="Text 38"/>
          <p:cNvSpPr/>
          <p:nvPr/>
        </p:nvSpPr>
        <p:spPr>
          <a:xfrm>
            <a:off x="2697480" y="3840480"/>
            <a:ext cx="1691640" cy="502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Pre-Flight Scoring &amp; Forecasts</a:t>
            </a:r>
            <a:endParaRPr lang="en-US" sz="800" dirty="0"/>
          </a:p>
        </p:txBody>
      </p:sp>
      <p:sp>
        <p:nvSpPr>
          <p:cNvPr id="41" name="Shape 39"/>
          <p:cNvSpPr/>
          <p:nvPr/>
        </p:nvSpPr>
        <p:spPr>
          <a:xfrm>
            <a:off x="4663440" y="3108960"/>
            <a:ext cx="1874520" cy="1371600"/>
          </a:xfrm>
          <a:prstGeom prst="roundRect">
            <a:avLst>
              <a:gd name="adj" fmla="val 5333"/>
            </a:avLst>
          </a:prstGeom>
          <a:solidFill>
            <a:srgbClr val="131D31"/>
          </a:solidFill>
          <a:ln w="12700">
            <a:solidFill>
              <a:srgbClr val="233554"/>
            </a:solidFill>
            <a:prstDash val="solid"/>
          </a:ln>
        </p:spPr>
      </p:sp>
      <p:sp>
        <p:nvSpPr>
          <p:cNvPr id="42" name="Shape 40"/>
          <p:cNvSpPr/>
          <p:nvPr/>
        </p:nvSpPr>
        <p:spPr>
          <a:xfrm>
            <a:off x="4663440" y="3108960"/>
            <a:ext cx="1874520" cy="36576"/>
          </a:xfrm>
          <a:prstGeom prst="rect">
            <a:avLst/>
          </a:prstGeom>
          <a:solidFill>
            <a:srgbClr val="34D399"/>
          </a:solidFill>
          <a:ln w="12700">
            <a:solidFill>
              <a:srgbClr val="333333"/>
            </a:solidFill>
            <a:prstDash val="solid"/>
          </a:ln>
        </p:spPr>
      </p:sp>
      <p:sp>
        <p:nvSpPr>
          <p:cNvPr id="43" name="Text 41"/>
          <p:cNvSpPr/>
          <p:nvPr/>
        </p:nvSpPr>
        <p:spPr>
          <a:xfrm>
            <a:off x="4754880" y="3218688"/>
            <a:ext cx="1691640" cy="228600"/>
          </a:xfrm>
          <a:prstGeom prst="rect">
            <a:avLst/>
          </a:prstGeom>
          <a:noFill/>
          <a:ln/>
        </p:spPr>
        <p:txBody>
          <a:bodyPr wrap="square" rtlCol="0" anchor="ctr"/>
          <a:lstStyle/>
          <a:p>
            <a:pPr marL="0" indent="0">
              <a:buNone/>
            </a:pPr>
            <a:r>
              <a:rPr lang="en-US" sz="850" b="1" dirty="0">
                <a:solidFill>
                  <a:srgbClr val="34D399"/>
                </a:solidFill>
                <a:latin typeface="Arial" pitchFamily="34" charset="0"/>
                <a:ea typeface="Arial" pitchFamily="34" charset="-122"/>
                <a:cs typeface="Arial" pitchFamily="34" charset="-120"/>
              </a:rPr>
              <a:t>🤖 AGENT 07</a:t>
            </a:r>
            <a:endParaRPr lang="en-US" sz="850" dirty="0"/>
          </a:p>
        </p:txBody>
      </p:sp>
      <p:sp>
        <p:nvSpPr>
          <p:cNvPr id="44" name="Text 42"/>
          <p:cNvSpPr/>
          <p:nvPr/>
        </p:nvSpPr>
        <p:spPr>
          <a:xfrm>
            <a:off x="4754880" y="3493008"/>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RL Optimizer</a:t>
            </a:r>
            <a:endParaRPr lang="en-US" sz="1050" dirty="0"/>
          </a:p>
        </p:txBody>
      </p:sp>
      <p:sp>
        <p:nvSpPr>
          <p:cNvPr id="45" name="Text 43"/>
          <p:cNvSpPr/>
          <p:nvPr/>
        </p:nvSpPr>
        <p:spPr>
          <a:xfrm>
            <a:off x="4754880" y="3840480"/>
            <a:ext cx="1691640" cy="50292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PPO Policy Closed-Loop Tuning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CORE AGENTS // STRATEGY ENGINE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 Core Agent 1: Strategy Agent (The Master Strategist)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09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Strategy Agent synthesizes raw business briefs into detailed Ideal Customer Personas (ICPs), full-funnel architectures, and dynamic budget weighting.</a:t>
            </a:r>
            <a:endParaRPr lang="en-US" sz="1050" dirty="0"/>
          </a:p>
        </p:txBody>
      </p:sp>
      <p:sp>
        <p:nvSpPr>
          <p:cNvPr id="11" name="Shape 9"/>
          <p:cNvSpPr/>
          <p:nvPr/>
        </p:nvSpPr>
        <p:spPr>
          <a:xfrm>
            <a:off x="548640" y="1600200"/>
            <a:ext cx="2560320" cy="3017520"/>
          </a:xfrm>
          <a:prstGeom prst="roundRect">
            <a:avLst>
              <a:gd name="adj" fmla="val 2857"/>
            </a:avLst>
          </a:prstGeom>
          <a:solidFill>
            <a:srgbClr val="131D31"/>
          </a:solidFill>
          <a:ln w="12700">
            <a:solidFill>
              <a:srgbClr val="10B981"/>
            </a:solidFill>
            <a:prstDash val="solid"/>
          </a:ln>
        </p:spPr>
      </p:sp>
      <p:sp>
        <p:nvSpPr>
          <p:cNvPr id="12" name="Shape 10"/>
          <p:cNvSpPr/>
          <p:nvPr/>
        </p:nvSpPr>
        <p:spPr>
          <a:xfrm>
            <a:off x="731520" y="1783080"/>
            <a:ext cx="2194560" cy="228600"/>
          </a:xfrm>
          <a:prstGeom prst="roundRect">
            <a:avLst>
              <a:gd name="adj" fmla="val 20000"/>
            </a:avLst>
          </a:prstGeom>
          <a:solidFill>
            <a:srgbClr val="064E3B"/>
          </a:solidFill>
          <a:ln w="10160">
            <a:solidFill>
              <a:srgbClr val="10B981"/>
            </a:solidFill>
            <a:prstDash val="solid"/>
          </a:ln>
        </p:spPr>
      </p:sp>
      <p:sp>
        <p:nvSpPr>
          <p:cNvPr id="13" name="Text 11"/>
          <p:cNvSpPr/>
          <p:nvPr/>
        </p:nvSpPr>
        <p:spPr>
          <a:xfrm>
            <a:off x="731520" y="1801368"/>
            <a:ext cx="219456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ROBOT MODEL: STRATEGIST</a:t>
            </a:r>
            <a:endParaRPr lang="en-US" sz="800" dirty="0"/>
          </a:p>
        </p:txBody>
      </p:sp>
      <p:sp>
        <p:nvSpPr>
          <p:cNvPr id="14" name="Text 12"/>
          <p:cNvSpPr/>
          <p:nvPr/>
        </p:nvSpPr>
        <p:spPr>
          <a:xfrm>
            <a:off x="731520" y="2103120"/>
            <a:ext cx="2194560" cy="7315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731520" y="2880360"/>
            <a:ext cx="2194560" cy="27432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Strategy Agent</a:t>
            </a:r>
            <a:endParaRPr lang="en-US" sz="1300" dirty="0"/>
          </a:p>
        </p:txBody>
      </p:sp>
      <p:sp>
        <p:nvSpPr>
          <p:cNvPr id="16" name="Text 14"/>
          <p:cNvSpPr/>
          <p:nvPr/>
        </p:nvSpPr>
        <p:spPr>
          <a:xfrm>
            <a:off x="731520" y="3246120"/>
            <a:ext cx="2194560" cy="109728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Lead: Mohamed Gharieb</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Model: GPT-4o / Claude 3.5</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Contract: StrategyAgentOutput</a:t>
            </a:r>
            <a:endParaRPr lang="en-US" sz="850" dirty="0"/>
          </a:p>
        </p:txBody>
      </p:sp>
      <p:sp>
        <p:nvSpPr>
          <p:cNvPr id="17" name="Shape 15"/>
          <p:cNvSpPr/>
          <p:nvPr/>
        </p:nvSpPr>
        <p:spPr>
          <a:xfrm>
            <a:off x="3291840" y="1600200"/>
            <a:ext cx="5303520" cy="3017520"/>
          </a:xfrm>
          <a:prstGeom prst="roundRect">
            <a:avLst>
              <a:gd name="adj" fmla="val 2424"/>
            </a:avLst>
          </a:prstGeom>
          <a:solidFill>
            <a:srgbClr val="131D31"/>
          </a:solidFill>
          <a:ln w="12700">
            <a:solidFill>
              <a:srgbClr val="233554"/>
            </a:solidFill>
            <a:prstDash val="solid"/>
          </a:ln>
        </p:spPr>
      </p:sp>
      <p:sp>
        <p:nvSpPr>
          <p:cNvPr id="18" name="Text 16"/>
          <p:cNvSpPr/>
          <p:nvPr/>
        </p:nvSpPr>
        <p:spPr>
          <a:xfrm>
            <a:off x="3474720" y="1783080"/>
            <a:ext cx="4937760" cy="274320"/>
          </a:xfrm>
          <a:prstGeom prst="rect">
            <a:avLst/>
          </a:prstGeom>
          <a:noFill/>
          <a:ln/>
        </p:spPr>
        <p:txBody>
          <a:bodyPr wrap="square" rtlCol="0" anchor="ctr"/>
          <a:lstStyle/>
          <a:p>
            <a:pPr marL="0" indent="0">
              <a:buNone/>
            </a:pPr>
            <a:r>
              <a:rPr lang="en-US" sz="1150" b="1" dirty="0">
                <a:solidFill>
                  <a:srgbClr val="34D399"/>
                </a:solidFill>
                <a:latin typeface="Arial" pitchFamily="34" charset="0"/>
                <a:ea typeface="Arial" pitchFamily="34" charset="-122"/>
                <a:cs typeface="Arial" pitchFamily="34" charset="-120"/>
              </a:rPr>
              <a:t>Operational Responsibilities &amp; Intelligence</a:t>
            </a:r>
            <a:endParaRPr lang="en-US" sz="1150" dirty="0"/>
          </a:p>
        </p:txBody>
      </p:sp>
      <p:sp>
        <p:nvSpPr>
          <p:cNvPr id="19" name="Text 17"/>
          <p:cNvSpPr/>
          <p:nvPr/>
        </p:nvSpPr>
        <p:spPr>
          <a:xfrm>
            <a:off x="3474720" y="2148840"/>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ICP Synthesis:</a:t>
            </a:r>
            <a:endParaRPr lang="en-US" sz="850" dirty="0"/>
          </a:p>
        </p:txBody>
      </p:sp>
      <p:sp>
        <p:nvSpPr>
          <p:cNvPr id="20" name="Text 18"/>
          <p:cNvSpPr/>
          <p:nvPr/>
        </p:nvSpPr>
        <p:spPr>
          <a:xfrm>
            <a:off x="3657600" y="2331720"/>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Generates multi-dimensional audience psychographics, triggers, objections, and buying criteria.</a:t>
            </a:r>
            <a:endParaRPr lang="en-US" sz="800" dirty="0"/>
          </a:p>
        </p:txBody>
      </p:sp>
      <p:sp>
        <p:nvSpPr>
          <p:cNvPr id="21" name="Text 19"/>
          <p:cNvSpPr/>
          <p:nvPr/>
        </p:nvSpPr>
        <p:spPr>
          <a:xfrm>
            <a:off x="3474720" y="2715768"/>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Funnel Stage Mapping:</a:t>
            </a:r>
            <a:endParaRPr lang="en-US" sz="850" dirty="0"/>
          </a:p>
        </p:txBody>
      </p:sp>
      <p:sp>
        <p:nvSpPr>
          <p:cNvPr id="22" name="Text 20"/>
          <p:cNvSpPr/>
          <p:nvPr/>
        </p:nvSpPr>
        <p:spPr>
          <a:xfrm>
            <a:off x="3657600" y="2898648"/>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Allocates messaging across Top of Funnel (Awareness), Middle (Consideration), and Bottom (Conversion).</a:t>
            </a:r>
            <a:endParaRPr lang="en-US" sz="800" dirty="0"/>
          </a:p>
        </p:txBody>
      </p:sp>
      <p:sp>
        <p:nvSpPr>
          <p:cNvPr id="23" name="Text 21"/>
          <p:cNvSpPr/>
          <p:nvPr/>
        </p:nvSpPr>
        <p:spPr>
          <a:xfrm>
            <a:off x="3474720" y="3282696"/>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Dynamic Channel Weighting:</a:t>
            </a:r>
            <a:endParaRPr lang="en-US" sz="850" dirty="0"/>
          </a:p>
        </p:txBody>
      </p:sp>
      <p:sp>
        <p:nvSpPr>
          <p:cNvPr id="24" name="Text 22"/>
          <p:cNvSpPr/>
          <p:nvPr/>
        </p:nvSpPr>
        <p:spPr>
          <a:xfrm>
            <a:off x="3657600" y="3465576"/>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Optimizes budget percentage splits across Meta, Google Search, LinkedIn, and Email.</a:t>
            </a:r>
            <a:endParaRPr lang="en-US" sz="800" dirty="0"/>
          </a:p>
        </p:txBody>
      </p:sp>
      <p:sp>
        <p:nvSpPr>
          <p:cNvPr id="25" name="Text 23"/>
          <p:cNvSpPr/>
          <p:nvPr/>
        </p:nvSpPr>
        <p:spPr>
          <a:xfrm>
            <a:off x="3474720" y="3849624"/>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Core Messaging Pillars:</a:t>
            </a:r>
            <a:endParaRPr lang="en-US" sz="850" dirty="0"/>
          </a:p>
        </p:txBody>
      </p:sp>
      <p:sp>
        <p:nvSpPr>
          <p:cNvPr id="26" name="Text 24"/>
          <p:cNvSpPr/>
          <p:nvPr/>
        </p:nvSpPr>
        <p:spPr>
          <a:xfrm>
            <a:off x="3657600" y="4032504"/>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Defines primary value propositions and proof points enforced across all downstream agents.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CORE AGENTS // MARKET RESEARCH</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 Core Agent 2: Research Agent (The Market Intelligence Scout)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10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Research Agent conducts real-time web discovery, competitor ad analysis, and captures the exact colloquial language used by real buyers.</a:t>
            </a:r>
            <a:endParaRPr lang="en-US" sz="1050" dirty="0"/>
          </a:p>
        </p:txBody>
      </p:sp>
      <p:sp>
        <p:nvSpPr>
          <p:cNvPr id="11" name="Shape 9"/>
          <p:cNvSpPr/>
          <p:nvPr/>
        </p:nvSpPr>
        <p:spPr>
          <a:xfrm>
            <a:off x="548640" y="1600200"/>
            <a:ext cx="2560320" cy="3017520"/>
          </a:xfrm>
          <a:prstGeom prst="roundRect">
            <a:avLst>
              <a:gd name="adj" fmla="val 2857"/>
            </a:avLst>
          </a:prstGeom>
          <a:solidFill>
            <a:srgbClr val="131D31"/>
          </a:solidFill>
          <a:ln w="12700">
            <a:solidFill>
              <a:srgbClr val="0EA5E9"/>
            </a:solidFill>
            <a:prstDash val="solid"/>
          </a:ln>
        </p:spPr>
      </p:sp>
      <p:sp>
        <p:nvSpPr>
          <p:cNvPr id="12" name="Shape 10"/>
          <p:cNvSpPr/>
          <p:nvPr/>
        </p:nvSpPr>
        <p:spPr>
          <a:xfrm>
            <a:off x="731520" y="1783080"/>
            <a:ext cx="2194560" cy="228600"/>
          </a:xfrm>
          <a:prstGeom prst="roundRect">
            <a:avLst>
              <a:gd name="adj" fmla="val 20000"/>
            </a:avLst>
          </a:prstGeom>
          <a:solidFill>
            <a:srgbClr val="0C2B40"/>
          </a:solidFill>
          <a:ln w="10160">
            <a:solidFill>
              <a:srgbClr val="0EA5E9"/>
            </a:solidFill>
            <a:prstDash val="solid"/>
          </a:ln>
        </p:spPr>
      </p:sp>
      <p:sp>
        <p:nvSpPr>
          <p:cNvPr id="13" name="Text 11"/>
          <p:cNvSpPr/>
          <p:nvPr/>
        </p:nvSpPr>
        <p:spPr>
          <a:xfrm>
            <a:off x="731520" y="1801368"/>
            <a:ext cx="219456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ROBOT MODEL: RESEARCH SCOUT</a:t>
            </a:r>
            <a:endParaRPr lang="en-US" sz="800" dirty="0"/>
          </a:p>
        </p:txBody>
      </p:sp>
      <p:sp>
        <p:nvSpPr>
          <p:cNvPr id="14" name="Text 12"/>
          <p:cNvSpPr/>
          <p:nvPr/>
        </p:nvSpPr>
        <p:spPr>
          <a:xfrm>
            <a:off x="731520" y="2103120"/>
            <a:ext cx="2194560" cy="7315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731520" y="2880360"/>
            <a:ext cx="2194560" cy="27432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Research Agent</a:t>
            </a:r>
            <a:endParaRPr lang="en-US" sz="1300" dirty="0"/>
          </a:p>
        </p:txBody>
      </p:sp>
      <p:sp>
        <p:nvSpPr>
          <p:cNvPr id="16" name="Text 14"/>
          <p:cNvSpPr/>
          <p:nvPr/>
        </p:nvSpPr>
        <p:spPr>
          <a:xfrm>
            <a:off x="731520" y="3246120"/>
            <a:ext cx="2194560" cy="109728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Lead: Ahmed Awni</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Tools: SerpAPI / Qdrant RAG</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Contract: ResearchAgentOutput</a:t>
            </a:r>
            <a:endParaRPr lang="en-US" sz="850" dirty="0"/>
          </a:p>
        </p:txBody>
      </p:sp>
      <p:sp>
        <p:nvSpPr>
          <p:cNvPr id="17" name="Shape 15"/>
          <p:cNvSpPr/>
          <p:nvPr/>
        </p:nvSpPr>
        <p:spPr>
          <a:xfrm>
            <a:off x="3291840" y="1600200"/>
            <a:ext cx="5303520" cy="3017520"/>
          </a:xfrm>
          <a:prstGeom prst="roundRect">
            <a:avLst>
              <a:gd name="adj" fmla="val 2424"/>
            </a:avLst>
          </a:prstGeom>
          <a:solidFill>
            <a:srgbClr val="131D31"/>
          </a:solidFill>
          <a:ln w="12700">
            <a:solidFill>
              <a:srgbClr val="233554"/>
            </a:solidFill>
            <a:prstDash val="solid"/>
          </a:ln>
        </p:spPr>
      </p:sp>
      <p:sp>
        <p:nvSpPr>
          <p:cNvPr id="18" name="Text 16"/>
          <p:cNvSpPr/>
          <p:nvPr/>
        </p:nvSpPr>
        <p:spPr>
          <a:xfrm>
            <a:off x="3474720" y="1783080"/>
            <a:ext cx="4937760" cy="274320"/>
          </a:xfrm>
          <a:prstGeom prst="rect">
            <a:avLst/>
          </a:prstGeom>
          <a:noFill/>
          <a:ln/>
        </p:spPr>
        <p:txBody>
          <a:bodyPr wrap="square" rtlCol="0" anchor="ctr"/>
          <a:lstStyle/>
          <a:p>
            <a:pPr marL="0" indent="0">
              <a:buNone/>
            </a:pPr>
            <a:r>
              <a:rPr lang="en-US" sz="1150" b="1" dirty="0">
                <a:solidFill>
                  <a:srgbClr val="38BDF8"/>
                </a:solidFill>
                <a:latin typeface="Arial" pitchFamily="34" charset="0"/>
                <a:ea typeface="Arial" pitchFamily="34" charset="-122"/>
                <a:cs typeface="Arial" pitchFamily="34" charset="-120"/>
              </a:rPr>
              <a:t>Operational Responsibilities &amp; Intelligence</a:t>
            </a:r>
            <a:endParaRPr lang="en-US" sz="1150" dirty="0"/>
          </a:p>
        </p:txBody>
      </p:sp>
      <p:sp>
        <p:nvSpPr>
          <p:cNvPr id="19" name="Text 17"/>
          <p:cNvSpPr/>
          <p:nvPr/>
        </p:nvSpPr>
        <p:spPr>
          <a:xfrm>
            <a:off x="3474720" y="2148840"/>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Live Competitor Scraping:</a:t>
            </a:r>
            <a:endParaRPr lang="en-US" sz="850" dirty="0"/>
          </a:p>
        </p:txBody>
      </p:sp>
      <p:sp>
        <p:nvSpPr>
          <p:cNvPr id="20" name="Text 18"/>
          <p:cNvSpPr/>
          <p:nvPr/>
        </p:nvSpPr>
        <p:spPr>
          <a:xfrm>
            <a:off x="3657600" y="2331720"/>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Analyzes competitor search ads, positioning claims, and market gaps via SerpAPI.</a:t>
            </a:r>
            <a:endParaRPr lang="en-US" sz="800" dirty="0"/>
          </a:p>
        </p:txBody>
      </p:sp>
      <p:sp>
        <p:nvSpPr>
          <p:cNvPr id="21" name="Text 19"/>
          <p:cNvSpPr/>
          <p:nvPr/>
        </p:nvSpPr>
        <p:spPr>
          <a:xfrm>
            <a:off x="3474720" y="2715768"/>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Colloquial Slang Extraction:</a:t>
            </a:r>
            <a:endParaRPr lang="en-US" sz="850" dirty="0"/>
          </a:p>
        </p:txBody>
      </p:sp>
      <p:sp>
        <p:nvSpPr>
          <p:cNvPr id="22" name="Text 20"/>
          <p:cNvSpPr/>
          <p:nvPr/>
        </p:nvSpPr>
        <p:spPr>
          <a:xfrm>
            <a:off x="3657600" y="2898648"/>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Extracts verbatim buyer language and emotional phrases from forums and social threads.</a:t>
            </a:r>
            <a:endParaRPr lang="en-US" sz="800" dirty="0"/>
          </a:p>
        </p:txBody>
      </p:sp>
      <p:sp>
        <p:nvSpPr>
          <p:cNvPr id="23" name="Text 21"/>
          <p:cNvSpPr/>
          <p:nvPr/>
        </p:nvSpPr>
        <p:spPr>
          <a:xfrm>
            <a:off x="3474720" y="3282696"/>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Historical Campaign Memory:</a:t>
            </a:r>
            <a:endParaRPr lang="en-US" sz="850" dirty="0"/>
          </a:p>
        </p:txBody>
      </p:sp>
      <p:sp>
        <p:nvSpPr>
          <p:cNvPr id="24" name="Text 22"/>
          <p:cNvSpPr/>
          <p:nvPr/>
        </p:nvSpPr>
        <p:spPr>
          <a:xfrm>
            <a:off x="3657600" y="3465576"/>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Retrieves high-performing ad benchmarks and historical learnings from Qdrant vector storage.</a:t>
            </a:r>
            <a:endParaRPr lang="en-US" sz="800" dirty="0"/>
          </a:p>
        </p:txBody>
      </p:sp>
      <p:sp>
        <p:nvSpPr>
          <p:cNvPr id="25" name="Text 23"/>
          <p:cNvSpPr/>
          <p:nvPr/>
        </p:nvSpPr>
        <p:spPr>
          <a:xfrm>
            <a:off x="3474720" y="3849624"/>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Trending Sentiment Analysis:</a:t>
            </a:r>
            <a:endParaRPr lang="en-US" sz="850" dirty="0"/>
          </a:p>
        </p:txBody>
      </p:sp>
      <p:sp>
        <p:nvSpPr>
          <p:cNvPr id="26" name="Text 24"/>
          <p:cNvSpPr/>
          <p:nvPr/>
        </p:nvSpPr>
        <p:spPr>
          <a:xfrm>
            <a:off x="3657600" y="4032504"/>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Maps viral hashtags and cultural trends to ensure ad messaging feels authentic.</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CORE AGENTS // CONTENT ENGINE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 Core Agent 3: Content Agent (The Omnichannel Copywriter)</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11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Content Agent generates high-converting ad copy, email nurture sequences, social media posts, and algorithmic CTA variants tailored to channel constraints.</a:t>
            </a:r>
            <a:endParaRPr lang="en-US" sz="1050" dirty="0"/>
          </a:p>
        </p:txBody>
      </p:sp>
      <p:sp>
        <p:nvSpPr>
          <p:cNvPr id="11" name="Shape 9"/>
          <p:cNvSpPr/>
          <p:nvPr/>
        </p:nvSpPr>
        <p:spPr>
          <a:xfrm>
            <a:off x="548640" y="1600200"/>
            <a:ext cx="2560320" cy="3017520"/>
          </a:xfrm>
          <a:prstGeom prst="roundRect">
            <a:avLst>
              <a:gd name="adj" fmla="val 2857"/>
            </a:avLst>
          </a:prstGeom>
          <a:solidFill>
            <a:srgbClr val="131D31"/>
          </a:solidFill>
          <a:ln w="12700">
            <a:solidFill>
              <a:srgbClr val="8B5CF6"/>
            </a:solidFill>
            <a:prstDash val="solid"/>
          </a:ln>
        </p:spPr>
      </p:sp>
      <p:sp>
        <p:nvSpPr>
          <p:cNvPr id="12" name="Shape 10"/>
          <p:cNvSpPr/>
          <p:nvPr/>
        </p:nvSpPr>
        <p:spPr>
          <a:xfrm>
            <a:off x="731520" y="1783080"/>
            <a:ext cx="2194560" cy="228600"/>
          </a:xfrm>
          <a:prstGeom prst="roundRect">
            <a:avLst>
              <a:gd name="adj" fmla="val 20000"/>
            </a:avLst>
          </a:prstGeom>
          <a:solidFill>
            <a:srgbClr val="2E1065"/>
          </a:solidFill>
          <a:ln w="10160">
            <a:solidFill>
              <a:srgbClr val="8B5CF6"/>
            </a:solidFill>
            <a:prstDash val="solid"/>
          </a:ln>
        </p:spPr>
      </p:sp>
      <p:sp>
        <p:nvSpPr>
          <p:cNvPr id="13" name="Text 11"/>
          <p:cNvSpPr/>
          <p:nvPr/>
        </p:nvSpPr>
        <p:spPr>
          <a:xfrm>
            <a:off x="731520" y="1801368"/>
            <a:ext cx="2194560" cy="192024"/>
          </a:xfrm>
          <a:prstGeom prst="rect">
            <a:avLst/>
          </a:prstGeom>
          <a:noFill/>
          <a:ln/>
        </p:spPr>
        <p:txBody>
          <a:bodyPr wrap="square" rtlCol="0" anchor="ctr"/>
          <a:lstStyle/>
          <a:p>
            <a:pPr marL="0" indent="0" algn="ctr">
              <a:buNone/>
            </a:pPr>
            <a:r>
              <a:rPr lang="en-US" sz="800" b="1" dirty="0">
                <a:solidFill>
                  <a:srgbClr val="8B5CF6"/>
                </a:solidFill>
                <a:latin typeface="Arial" pitchFamily="34" charset="0"/>
                <a:ea typeface="Arial" pitchFamily="34" charset="-122"/>
                <a:cs typeface="Arial" pitchFamily="34" charset="-120"/>
              </a:rPr>
              <a:t>ROBOT MODEL: COPYWRITER</a:t>
            </a:r>
            <a:endParaRPr lang="en-US" sz="800" dirty="0"/>
          </a:p>
        </p:txBody>
      </p:sp>
      <p:sp>
        <p:nvSpPr>
          <p:cNvPr id="14" name="Text 12"/>
          <p:cNvSpPr/>
          <p:nvPr/>
        </p:nvSpPr>
        <p:spPr>
          <a:xfrm>
            <a:off x="731520" y="2103120"/>
            <a:ext cx="2194560" cy="7315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731520" y="2880360"/>
            <a:ext cx="2194560" cy="27432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Content Agent</a:t>
            </a:r>
            <a:endParaRPr lang="en-US" sz="1300" dirty="0"/>
          </a:p>
        </p:txBody>
      </p:sp>
      <p:sp>
        <p:nvSpPr>
          <p:cNvPr id="16" name="Text 14"/>
          <p:cNvSpPr/>
          <p:nvPr/>
        </p:nvSpPr>
        <p:spPr>
          <a:xfrm>
            <a:off x="731520" y="3246120"/>
            <a:ext cx="2194560" cy="109728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Lead: Mohamed Sleem</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Model: GPT-4o / tiktoken</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Contract: ContentAgentOutput</a:t>
            </a:r>
            <a:endParaRPr lang="en-US" sz="850" dirty="0"/>
          </a:p>
        </p:txBody>
      </p:sp>
      <p:sp>
        <p:nvSpPr>
          <p:cNvPr id="17" name="Shape 15"/>
          <p:cNvSpPr/>
          <p:nvPr/>
        </p:nvSpPr>
        <p:spPr>
          <a:xfrm>
            <a:off x="3291840" y="1600200"/>
            <a:ext cx="5303520" cy="3017520"/>
          </a:xfrm>
          <a:prstGeom prst="roundRect">
            <a:avLst>
              <a:gd name="adj" fmla="val 2424"/>
            </a:avLst>
          </a:prstGeom>
          <a:solidFill>
            <a:srgbClr val="131D31"/>
          </a:solidFill>
          <a:ln w="12700">
            <a:solidFill>
              <a:srgbClr val="233554"/>
            </a:solidFill>
            <a:prstDash val="solid"/>
          </a:ln>
        </p:spPr>
      </p:sp>
      <p:sp>
        <p:nvSpPr>
          <p:cNvPr id="18" name="Text 16"/>
          <p:cNvSpPr/>
          <p:nvPr/>
        </p:nvSpPr>
        <p:spPr>
          <a:xfrm>
            <a:off x="3474720" y="1783080"/>
            <a:ext cx="4937760" cy="274320"/>
          </a:xfrm>
          <a:prstGeom prst="rect">
            <a:avLst/>
          </a:prstGeom>
          <a:noFill/>
          <a:ln/>
        </p:spPr>
        <p:txBody>
          <a:bodyPr wrap="square" rtlCol="0" anchor="ctr"/>
          <a:lstStyle/>
          <a:p>
            <a:pPr marL="0" indent="0">
              <a:buNone/>
            </a:pPr>
            <a:r>
              <a:rPr lang="en-US" sz="1150" b="1" dirty="0">
                <a:solidFill>
                  <a:srgbClr val="8B5CF6"/>
                </a:solidFill>
                <a:latin typeface="Arial" pitchFamily="34" charset="0"/>
                <a:ea typeface="Arial" pitchFamily="34" charset="-122"/>
                <a:cs typeface="Arial" pitchFamily="34" charset="-120"/>
              </a:rPr>
              <a:t>Operational Responsibilities &amp; Intelligence</a:t>
            </a:r>
            <a:endParaRPr lang="en-US" sz="1150" dirty="0"/>
          </a:p>
        </p:txBody>
      </p:sp>
      <p:sp>
        <p:nvSpPr>
          <p:cNvPr id="19" name="Text 17"/>
          <p:cNvSpPr/>
          <p:nvPr/>
        </p:nvSpPr>
        <p:spPr>
          <a:xfrm>
            <a:off x="3474720" y="2148840"/>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Google Search RSAs:</a:t>
            </a:r>
            <a:endParaRPr lang="en-US" sz="850" dirty="0"/>
          </a:p>
        </p:txBody>
      </p:sp>
      <p:sp>
        <p:nvSpPr>
          <p:cNvPr id="20" name="Text 18"/>
          <p:cNvSpPr/>
          <p:nvPr/>
        </p:nvSpPr>
        <p:spPr>
          <a:xfrm>
            <a:off x="3657600" y="2331720"/>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Builds 15 headlines and 4 descriptions optimized for Google ad quality score and CTR.</a:t>
            </a:r>
            <a:endParaRPr lang="en-US" sz="800" dirty="0"/>
          </a:p>
        </p:txBody>
      </p:sp>
      <p:sp>
        <p:nvSpPr>
          <p:cNvPr id="21" name="Text 19"/>
          <p:cNvSpPr/>
          <p:nvPr/>
        </p:nvSpPr>
        <p:spPr>
          <a:xfrm>
            <a:off x="3474720" y="2715768"/>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Meta &amp; TikTok Creative Copy:</a:t>
            </a:r>
            <a:endParaRPr lang="en-US" sz="850" dirty="0"/>
          </a:p>
        </p:txBody>
      </p:sp>
      <p:sp>
        <p:nvSpPr>
          <p:cNvPr id="22" name="Text 20"/>
          <p:cNvSpPr/>
          <p:nvPr/>
        </p:nvSpPr>
        <p:spPr>
          <a:xfrm>
            <a:off x="3657600" y="2898648"/>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Crafts scroll-stopping hooks, emotional body text, and visual direction briefs.</a:t>
            </a:r>
            <a:endParaRPr lang="en-US" sz="800" dirty="0"/>
          </a:p>
        </p:txBody>
      </p:sp>
      <p:sp>
        <p:nvSpPr>
          <p:cNvPr id="23" name="Text 21"/>
          <p:cNvSpPr/>
          <p:nvPr/>
        </p:nvSpPr>
        <p:spPr>
          <a:xfrm>
            <a:off x="3474720" y="3282696"/>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LinkedIn Thought Leadership:</a:t>
            </a:r>
            <a:endParaRPr lang="en-US" sz="850" dirty="0"/>
          </a:p>
        </p:txBody>
      </p:sp>
      <p:sp>
        <p:nvSpPr>
          <p:cNvPr id="24" name="Text 22"/>
          <p:cNvSpPr/>
          <p:nvPr/>
        </p:nvSpPr>
        <p:spPr>
          <a:xfrm>
            <a:off x="3657600" y="3465576"/>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Generates high-authority B2B posts addressing specific executive pain points.</a:t>
            </a:r>
            <a:endParaRPr lang="en-US" sz="800" dirty="0"/>
          </a:p>
        </p:txBody>
      </p:sp>
      <p:sp>
        <p:nvSpPr>
          <p:cNvPr id="25" name="Text 23"/>
          <p:cNvSpPr/>
          <p:nvPr/>
        </p:nvSpPr>
        <p:spPr>
          <a:xfrm>
            <a:off x="3474720" y="3849624"/>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Multi-Step Email Flows:</a:t>
            </a:r>
            <a:endParaRPr lang="en-US" sz="850" dirty="0"/>
          </a:p>
        </p:txBody>
      </p:sp>
      <p:sp>
        <p:nvSpPr>
          <p:cNvPr id="26" name="Text 24"/>
          <p:cNvSpPr/>
          <p:nvPr/>
        </p:nvSpPr>
        <p:spPr>
          <a:xfrm>
            <a:off x="3657600" y="4032504"/>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Produces full lifecycle nurture sequences with subject lines, preview text, and delay logic.</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CORE AGENTS // DESIGN ENGINE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 Core Agent 4: Creative &amp; Design Agent (The Visual Engine)</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12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Design Agent translates content visual directions into prompt-engineered DALL·E 3 briefs respecting brand color palettes, lighting, and channel aspect ratios.</a:t>
            </a:r>
            <a:endParaRPr lang="en-US" sz="1050" dirty="0"/>
          </a:p>
        </p:txBody>
      </p:sp>
      <p:sp>
        <p:nvSpPr>
          <p:cNvPr id="11" name="Shape 9"/>
          <p:cNvSpPr/>
          <p:nvPr/>
        </p:nvSpPr>
        <p:spPr>
          <a:xfrm>
            <a:off x="548640" y="1600200"/>
            <a:ext cx="2560320" cy="3017520"/>
          </a:xfrm>
          <a:prstGeom prst="roundRect">
            <a:avLst>
              <a:gd name="adj" fmla="val 2857"/>
            </a:avLst>
          </a:prstGeom>
          <a:solidFill>
            <a:srgbClr val="131D31"/>
          </a:solidFill>
          <a:ln w="12700">
            <a:solidFill>
              <a:srgbClr val="F59E0B"/>
            </a:solidFill>
            <a:prstDash val="solid"/>
          </a:ln>
        </p:spPr>
      </p:sp>
      <p:sp>
        <p:nvSpPr>
          <p:cNvPr id="12" name="Shape 10"/>
          <p:cNvSpPr/>
          <p:nvPr/>
        </p:nvSpPr>
        <p:spPr>
          <a:xfrm>
            <a:off x="731520" y="1783080"/>
            <a:ext cx="2194560" cy="228600"/>
          </a:xfrm>
          <a:prstGeom prst="roundRect">
            <a:avLst>
              <a:gd name="adj" fmla="val 20000"/>
            </a:avLst>
          </a:prstGeom>
          <a:solidFill>
            <a:srgbClr val="3D2405"/>
          </a:solidFill>
          <a:ln w="10160">
            <a:solidFill>
              <a:srgbClr val="F59E0B"/>
            </a:solidFill>
            <a:prstDash val="solid"/>
          </a:ln>
        </p:spPr>
      </p:sp>
      <p:sp>
        <p:nvSpPr>
          <p:cNvPr id="13" name="Text 11"/>
          <p:cNvSpPr/>
          <p:nvPr/>
        </p:nvSpPr>
        <p:spPr>
          <a:xfrm>
            <a:off x="731520" y="1801368"/>
            <a:ext cx="2194560" cy="192024"/>
          </a:xfrm>
          <a:prstGeom prst="rect">
            <a:avLst/>
          </a:prstGeom>
          <a:noFill/>
          <a:ln/>
        </p:spPr>
        <p:txBody>
          <a:bodyPr wrap="square" rtlCol="0" anchor="ctr"/>
          <a:lstStyle/>
          <a:p>
            <a:pPr marL="0" indent="0" algn="ctr">
              <a:buNone/>
            </a:pPr>
            <a:r>
              <a:rPr lang="en-US" sz="800" b="1" dirty="0">
                <a:solidFill>
                  <a:srgbClr val="F59E0B"/>
                </a:solidFill>
                <a:latin typeface="Arial" pitchFamily="34" charset="0"/>
                <a:ea typeface="Arial" pitchFamily="34" charset="-122"/>
                <a:cs typeface="Arial" pitchFamily="34" charset="-120"/>
              </a:rPr>
              <a:t>ROBOT MODEL: VISUAL DESIGNER</a:t>
            </a:r>
            <a:endParaRPr lang="en-US" sz="800" dirty="0"/>
          </a:p>
        </p:txBody>
      </p:sp>
      <p:sp>
        <p:nvSpPr>
          <p:cNvPr id="14" name="Text 12"/>
          <p:cNvSpPr/>
          <p:nvPr/>
        </p:nvSpPr>
        <p:spPr>
          <a:xfrm>
            <a:off x="731520" y="2103120"/>
            <a:ext cx="2194560" cy="7315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731520" y="2880360"/>
            <a:ext cx="2194560" cy="27432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Design Agent</a:t>
            </a:r>
            <a:endParaRPr lang="en-US" sz="1300" dirty="0"/>
          </a:p>
        </p:txBody>
      </p:sp>
      <p:sp>
        <p:nvSpPr>
          <p:cNvPr id="16" name="Text 14"/>
          <p:cNvSpPr/>
          <p:nvPr/>
        </p:nvSpPr>
        <p:spPr>
          <a:xfrm>
            <a:off x="731520" y="3246120"/>
            <a:ext cx="2194560" cy="109728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Lead: Karem Tarek</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Models: DALL·E 3 / Pillow / CDN</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Contract: DesignAgentOutput</a:t>
            </a:r>
            <a:endParaRPr lang="en-US" sz="850" dirty="0"/>
          </a:p>
        </p:txBody>
      </p:sp>
      <p:sp>
        <p:nvSpPr>
          <p:cNvPr id="17" name="Shape 15"/>
          <p:cNvSpPr/>
          <p:nvPr/>
        </p:nvSpPr>
        <p:spPr>
          <a:xfrm>
            <a:off x="3291840" y="1600200"/>
            <a:ext cx="5303520" cy="3017520"/>
          </a:xfrm>
          <a:prstGeom prst="roundRect">
            <a:avLst>
              <a:gd name="adj" fmla="val 2424"/>
            </a:avLst>
          </a:prstGeom>
          <a:solidFill>
            <a:srgbClr val="131D31"/>
          </a:solidFill>
          <a:ln w="12700">
            <a:solidFill>
              <a:srgbClr val="233554"/>
            </a:solidFill>
            <a:prstDash val="solid"/>
          </a:ln>
        </p:spPr>
      </p:sp>
      <p:sp>
        <p:nvSpPr>
          <p:cNvPr id="18" name="Text 16"/>
          <p:cNvSpPr/>
          <p:nvPr/>
        </p:nvSpPr>
        <p:spPr>
          <a:xfrm>
            <a:off x="3474720" y="1783080"/>
            <a:ext cx="4937760" cy="274320"/>
          </a:xfrm>
          <a:prstGeom prst="rect">
            <a:avLst/>
          </a:prstGeom>
          <a:noFill/>
          <a:ln/>
        </p:spPr>
        <p:txBody>
          <a:bodyPr wrap="square" rtlCol="0" anchor="ctr"/>
          <a:lstStyle/>
          <a:p>
            <a:pPr marL="0" indent="0">
              <a:buNone/>
            </a:pPr>
            <a:r>
              <a:rPr lang="en-US" sz="1150" b="1" dirty="0">
                <a:solidFill>
                  <a:srgbClr val="F59E0B"/>
                </a:solidFill>
                <a:latin typeface="Arial" pitchFamily="34" charset="0"/>
                <a:ea typeface="Arial" pitchFamily="34" charset="-122"/>
                <a:cs typeface="Arial" pitchFamily="34" charset="-120"/>
              </a:rPr>
              <a:t>Operational Responsibilities &amp; Intelligence</a:t>
            </a:r>
            <a:endParaRPr lang="en-US" sz="1150" dirty="0"/>
          </a:p>
        </p:txBody>
      </p:sp>
      <p:sp>
        <p:nvSpPr>
          <p:cNvPr id="19" name="Text 17"/>
          <p:cNvSpPr/>
          <p:nvPr/>
        </p:nvSpPr>
        <p:spPr>
          <a:xfrm>
            <a:off x="3474720" y="2148840"/>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DALL·E 3 Prompt Optimization:</a:t>
            </a:r>
            <a:endParaRPr lang="en-US" sz="850" dirty="0"/>
          </a:p>
        </p:txBody>
      </p:sp>
      <p:sp>
        <p:nvSpPr>
          <p:cNvPr id="20" name="Text 18"/>
          <p:cNvSpPr/>
          <p:nvPr/>
        </p:nvSpPr>
        <p:spPr>
          <a:xfrm>
            <a:off x="3657600" y="2331720"/>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Transforms copy visual concepts into high-aesthetic prompts with lighting and composition rules.</a:t>
            </a:r>
            <a:endParaRPr lang="en-US" sz="800" dirty="0"/>
          </a:p>
        </p:txBody>
      </p:sp>
      <p:sp>
        <p:nvSpPr>
          <p:cNvPr id="21" name="Text 19"/>
          <p:cNvSpPr/>
          <p:nvPr/>
        </p:nvSpPr>
        <p:spPr>
          <a:xfrm>
            <a:off x="3474720" y="2715768"/>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Brand Color Harmony:</a:t>
            </a:r>
            <a:endParaRPr lang="en-US" sz="850" dirty="0"/>
          </a:p>
        </p:txBody>
      </p:sp>
      <p:sp>
        <p:nvSpPr>
          <p:cNvPr id="22" name="Text 20"/>
          <p:cNvSpPr/>
          <p:nvPr/>
        </p:nvSpPr>
        <p:spPr>
          <a:xfrm>
            <a:off x="3657600" y="2898648"/>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Enforces exact hex code palettes, visual tone rules, and typography consistency.</a:t>
            </a:r>
            <a:endParaRPr lang="en-US" sz="800" dirty="0"/>
          </a:p>
        </p:txBody>
      </p:sp>
      <p:sp>
        <p:nvSpPr>
          <p:cNvPr id="23" name="Text 21"/>
          <p:cNvSpPr/>
          <p:nvPr/>
        </p:nvSpPr>
        <p:spPr>
          <a:xfrm>
            <a:off x="3474720" y="3282696"/>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Dimension Lookup Table:</a:t>
            </a:r>
            <a:endParaRPr lang="en-US" sz="850" dirty="0"/>
          </a:p>
        </p:txBody>
      </p:sp>
      <p:sp>
        <p:nvSpPr>
          <p:cNvPr id="24" name="Text 22"/>
          <p:cNvSpPr/>
          <p:nvPr/>
        </p:nvSpPr>
        <p:spPr>
          <a:xfrm>
            <a:off x="3657600" y="3465576"/>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Automates asset formatting for Feeds (1:1), Stories (9:16), Landscape (16:9), and Banners (1.91:1).</a:t>
            </a:r>
            <a:endParaRPr lang="en-US" sz="800" dirty="0"/>
          </a:p>
        </p:txBody>
      </p:sp>
      <p:sp>
        <p:nvSpPr>
          <p:cNvPr id="25" name="Text 23"/>
          <p:cNvSpPr/>
          <p:nvPr/>
        </p:nvSpPr>
        <p:spPr>
          <a:xfrm>
            <a:off x="3474720" y="3849624"/>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Cloudinary CDN Pipeline:</a:t>
            </a:r>
            <a:endParaRPr lang="en-US" sz="850" dirty="0"/>
          </a:p>
        </p:txBody>
      </p:sp>
      <p:sp>
        <p:nvSpPr>
          <p:cNvPr id="26" name="Text 24"/>
          <p:cNvSpPr/>
          <p:nvPr/>
        </p:nvSpPr>
        <p:spPr>
          <a:xfrm>
            <a:off x="3657600" y="4032504"/>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Manages asset uploading, media optimization, and persistent secure CDN URL distribution.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CORE AGENTS // VISION QUALITY GATE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 Core Agent 5: Computer Vision Quality Agent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13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CV Agent audits visual design assets for aesthetic quality, visual contrast compliance (WCAG AAA), and semantic text-image alignment using CLIP-ViT embeddings.</a:t>
            </a:r>
            <a:endParaRPr lang="en-US" sz="1050" dirty="0"/>
          </a:p>
        </p:txBody>
      </p:sp>
      <p:sp>
        <p:nvSpPr>
          <p:cNvPr id="11" name="Shape 9"/>
          <p:cNvSpPr/>
          <p:nvPr/>
        </p:nvSpPr>
        <p:spPr>
          <a:xfrm>
            <a:off x="548640" y="1600200"/>
            <a:ext cx="2560320" cy="3017520"/>
          </a:xfrm>
          <a:prstGeom prst="roundRect">
            <a:avLst>
              <a:gd name="adj" fmla="val 2857"/>
            </a:avLst>
          </a:prstGeom>
          <a:solidFill>
            <a:srgbClr val="131D31"/>
          </a:solidFill>
          <a:ln w="12700">
            <a:solidFill>
              <a:srgbClr val="F43F5E"/>
            </a:solidFill>
            <a:prstDash val="solid"/>
          </a:ln>
        </p:spPr>
      </p:sp>
      <p:sp>
        <p:nvSpPr>
          <p:cNvPr id="12" name="Shape 10"/>
          <p:cNvSpPr/>
          <p:nvPr/>
        </p:nvSpPr>
        <p:spPr>
          <a:xfrm>
            <a:off x="731520" y="1783080"/>
            <a:ext cx="2194560" cy="228600"/>
          </a:xfrm>
          <a:prstGeom prst="roundRect">
            <a:avLst>
              <a:gd name="adj" fmla="val 20000"/>
            </a:avLst>
          </a:prstGeom>
          <a:solidFill>
            <a:srgbClr val="3B111E"/>
          </a:solidFill>
          <a:ln w="10160">
            <a:solidFill>
              <a:srgbClr val="F43F5E"/>
            </a:solidFill>
            <a:prstDash val="solid"/>
          </a:ln>
        </p:spPr>
      </p:sp>
      <p:sp>
        <p:nvSpPr>
          <p:cNvPr id="13" name="Text 11"/>
          <p:cNvSpPr/>
          <p:nvPr/>
        </p:nvSpPr>
        <p:spPr>
          <a:xfrm>
            <a:off x="731520" y="1801368"/>
            <a:ext cx="2194560" cy="192024"/>
          </a:xfrm>
          <a:prstGeom prst="rect">
            <a:avLst/>
          </a:prstGeom>
          <a:noFill/>
          <a:ln/>
        </p:spPr>
        <p:txBody>
          <a:bodyPr wrap="square" rtlCol="0" anchor="ctr"/>
          <a:lstStyle/>
          <a:p>
            <a:pPr marL="0" indent="0" algn="ctr">
              <a:buNone/>
            </a:pPr>
            <a:r>
              <a:rPr lang="en-US" sz="800" b="1" dirty="0">
                <a:solidFill>
                  <a:srgbClr val="F43F5E"/>
                </a:solidFill>
                <a:latin typeface="Arial" pitchFamily="34" charset="0"/>
                <a:ea typeface="Arial" pitchFamily="34" charset="-122"/>
                <a:cs typeface="Arial" pitchFamily="34" charset="-120"/>
              </a:rPr>
              <a:t>ROBOT MODEL: VISION AUDITOR</a:t>
            </a:r>
            <a:endParaRPr lang="en-US" sz="800" dirty="0"/>
          </a:p>
        </p:txBody>
      </p:sp>
      <p:sp>
        <p:nvSpPr>
          <p:cNvPr id="14" name="Text 12"/>
          <p:cNvSpPr/>
          <p:nvPr/>
        </p:nvSpPr>
        <p:spPr>
          <a:xfrm>
            <a:off x="731520" y="2103120"/>
            <a:ext cx="2194560" cy="7315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731520" y="2880360"/>
            <a:ext cx="2194560" cy="27432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CV Quality Agent</a:t>
            </a:r>
            <a:endParaRPr lang="en-US" sz="1300" dirty="0"/>
          </a:p>
        </p:txBody>
      </p:sp>
      <p:sp>
        <p:nvSpPr>
          <p:cNvPr id="16" name="Text 14"/>
          <p:cNvSpPr/>
          <p:nvPr/>
        </p:nvSpPr>
        <p:spPr>
          <a:xfrm>
            <a:off x="731520" y="3246120"/>
            <a:ext cx="2194560" cy="109728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Lead: Core ML Team</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Model: CLIP-ViT B/32 (ONNX)</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Contract: CVScoreOutput</a:t>
            </a:r>
            <a:endParaRPr lang="en-US" sz="850" dirty="0"/>
          </a:p>
        </p:txBody>
      </p:sp>
      <p:sp>
        <p:nvSpPr>
          <p:cNvPr id="17" name="Shape 15"/>
          <p:cNvSpPr/>
          <p:nvPr/>
        </p:nvSpPr>
        <p:spPr>
          <a:xfrm>
            <a:off x="3291840" y="1600200"/>
            <a:ext cx="5303520" cy="3017520"/>
          </a:xfrm>
          <a:prstGeom prst="roundRect">
            <a:avLst>
              <a:gd name="adj" fmla="val 2424"/>
            </a:avLst>
          </a:prstGeom>
          <a:solidFill>
            <a:srgbClr val="131D31"/>
          </a:solidFill>
          <a:ln w="12700">
            <a:solidFill>
              <a:srgbClr val="233554"/>
            </a:solidFill>
            <a:prstDash val="solid"/>
          </a:ln>
        </p:spPr>
      </p:sp>
      <p:sp>
        <p:nvSpPr>
          <p:cNvPr id="18" name="Text 16"/>
          <p:cNvSpPr/>
          <p:nvPr/>
        </p:nvSpPr>
        <p:spPr>
          <a:xfrm>
            <a:off x="3474720" y="1783080"/>
            <a:ext cx="4937760" cy="274320"/>
          </a:xfrm>
          <a:prstGeom prst="rect">
            <a:avLst/>
          </a:prstGeom>
          <a:noFill/>
          <a:ln/>
        </p:spPr>
        <p:txBody>
          <a:bodyPr wrap="square" rtlCol="0" anchor="ctr"/>
          <a:lstStyle/>
          <a:p>
            <a:pPr marL="0" indent="0">
              <a:buNone/>
            </a:pPr>
            <a:r>
              <a:rPr lang="en-US" sz="1150" b="1" dirty="0">
                <a:solidFill>
                  <a:srgbClr val="F43F5E"/>
                </a:solidFill>
                <a:latin typeface="Arial" pitchFamily="34" charset="0"/>
                <a:ea typeface="Arial" pitchFamily="34" charset="-122"/>
                <a:cs typeface="Arial" pitchFamily="34" charset="-120"/>
              </a:rPr>
              <a:t>Operational Responsibilities &amp; Intelligence</a:t>
            </a:r>
            <a:endParaRPr lang="en-US" sz="1150" dirty="0"/>
          </a:p>
        </p:txBody>
      </p:sp>
      <p:sp>
        <p:nvSpPr>
          <p:cNvPr id="19" name="Text 17"/>
          <p:cNvSpPr/>
          <p:nvPr/>
        </p:nvSpPr>
        <p:spPr>
          <a:xfrm>
            <a:off x="3474720" y="2148840"/>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CLIP Cosine Alignment (VCAS):</a:t>
            </a:r>
            <a:endParaRPr lang="en-US" sz="850" dirty="0"/>
          </a:p>
        </p:txBody>
      </p:sp>
      <p:sp>
        <p:nvSpPr>
          <p:cNvPr id="20" name="Text 18"/>
          <p:cNvSpPr/>
          <p:nvPr/>
        </p:nvSpPr>
        <p:spPr>
          <a:xfrm>
            <a:off x="3657600" y="2331720"/>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Calculates cosine similarity between 512-dim visual embeddings and ad copy text (Target ≥ 0.65).</a:t>
            </a:r>
            <a:endParaRPr lang="en-US" sz="800" dirty="0"/>
          </a:p>
        </p:txBody>
      </p:sp>
      <p:sp>
        <p:nvSpPr>
          <p:cNvPr id="21" name="Text 19"/>
          <p:cNvSpPr/>
          <p:nvPr/>
        </p:nvSpPr>
        <p:spPr>
          <a:xfrm>
            <a:off x="3474720" y="2715768"/>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Zero-Shot Aesthetic Regression:</a:t>
            </a:r>
            <a:endParaRPr lang="en-US" sz="850" dirty="0"/>
          </a:p>
        </p:txBody>
      </p:sp>
      <p:sp>
        <p:nvSpPr>
          <p:cNvPr id="22" name="Text 20"/>
          <p:cNvSpPr/>
          <p:nvPr/>
        </p:nvSpPr>
        <p:spPr>
          <a:xfrm>
            <a:off x="3657600" y="2898648"/>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Scores visual balance, composition clarity, and creative quality before publication.</a:t>
            </a:r>
            <a:endParaRPr lang="en-US" sz="800" dirty="0"/>
          </a:p>
        </p:txBody>
      </p:sp>
      <p:sp>
        <p:nvSpPr>
          <p:cNvPr id="23" name="Text 21"/>
          <p:cNvSpPr/>
          <p:nvPr/>
        </p:nvSpPr>
        <p:spPr>
          <a:xfrm>
            <a:off x="3474720" y="3282696"/>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WCAG AAA Contrast Verification:</a:t>
            </a:r>
            <a:endParaRPr lang="en-US" sz="850" dirty="0"/>
          </a:p>
        </p:txBody>
      </p:sp>
      <p:sp>
        <p:nvSpPr>
          <p:cNvPr id="24" name="Text 22"/>
          <p:cNvSpPr/>
          <p:nvPr/>
        </p:nvSpPr>
        <p:spPr>
          <a:xfrm>
            <a:off x="3657600" y="3465576"/>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Audits text overlays against background imagery to ensure maximum readability on mobile.</a:t>
            </a:r>
            <a:endParaRPr lang="en-US" sz="800" dirty="0"/>
          </a:p>
        </p:txBody>
      </p:sp>
      <p:sp>
        <p:nvSpPr>
          <p:cNvPr id="25" name="Text 23"/>
          <p:cNvSpPr/>
          <p:nvPr/>
        </p:nvSpPr>
        <p:spPr>
          <a:xfrm>
            <a:off x="3474720" y="3849624"/>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Brand Safety &amp; Artifact Filter:</a:t>
            </a:r>
            <a:endParaRPr lang="en-US" sz="850" dirty="0"/>
          </a:p>
        </p:txBody>
      </p:sp>
      <p:sp>
        <p:nvSpPr>
          <p:cNvPr id="26" name="Text 24"/>
          <p:cNvSpPr/>
          <p:nvPr/>
        </p:nvSpPr>
        <p:spPr>
          <a:xfrm>
            <a:off x="3657600" y="4032504"/>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Detects visual distortion, inappropriate elements, or low-resolution rendering.</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CORE AGENTS // EVALUATION &amp; FORECASTING</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 Core Agent 6: Predictive Analytics Agent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14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Analytics Agent evaluates the entire campaign package, predicts KPI performance with confidence intervals, and routes prioritized improvement recommendations.</a:t>
            </a:r>
            <a:endParaRPr lang="en-US" sz="1050" dirty="0"/>
          </a:p>
        </p:txBody>
      </p:sp>
      <p:sp>
        <p:nvSpPr>
          <p:cNvPr id="11" name="Shape 9"/>
          <p:cNvSpPr/>
          <p:nvPr/>
        </p:nvSpPr>
        <p:spPr>
          <a:xfrm>
            <a:off x="548640" y="1600200"/>
            <a:ext cx="2560320" cy="3017520"/>
          </a:xfrm>
          <a:prstGeom prst="roundRect">
            <a:avLst>
              <a:gd name="adj" fmla="val 2857"/>
            </a:avLst>
          </a:prstGeom>
          <a:solidFill>
            <a:srgbClr val="131D31"/>
          </a:solidFill>
          <a:ln w="12700">
            <a:solidFill>
              <a:srgbClr val="6366F1"/>
            </a:solidFill>
            <a:prstDash val="solid"/>
          </a:ln>
        </p:spPr>
      </p:sp>
      <p:sp>
        <p:nvSpPr>
          <p:cNvPr id="12" name="Shape 10"/>
          <p:cNvSpPr/>
          <p:nvPr/>
        </p:nvSpPr>
        <p:spPr>
          <a:xfrm>
            <a:off x="731520" y="1783080"/>
            <a:ext cx="2194560" cy="228600"/>
          </a:xfrm>
          <a:prstGeom prst="roundRect">
            <a:avLst>
              <a:gd name="adj" fmla="val 20000"/>
            </a:avLst>
          </a:prstGeom>
          <a:solidFill>
            <a:srgbClr val="1E1B4B"/>
          </a:solidFill>
          <a:ln w="10160">
            <a:solidFill>
              <a:srgbClr val="6366F1"/>
            </a:solidFill>
            <a:prstDash val="solid"/>
          </a:ln>
        </p:spPr>
      </p:sp>
      <p:sp>
        <p:nvSpPr>
          <p:cNvPr id="13" name="Text 11"/>
          <p:cNvSpPr/>
          <p:nvPr/>
        </p:nvSpPr>
        <p:spPr>
          <a:xfrm>
            <a:off x="731520" y="1801368"/>
            <a:ext cx="2194560" cy="192024"/>
          </a:xfrm>
          <a:prstGeom prst="rect">
            <a:avLst/>
          </a:prstGeom>
          <a:noFill/>
          <a:ln/>
        </p:spPr>
        <p:txBody>
          <a:bodyPr wrap="square" rtlCol="0" anchor="ctr"/>
          <a:lstStyle/>
          <a:p>
            <a:pPr marL="0" indent="0" algn="ctr">
              <a:buNone/>
            </a:pPr>
            <a:r>
              <a:rPr lang="en-US" sz="800" b="1" dirty="0">
                <a:solidFill>
                  <a:srgbClr val="6366F1"/>
                </a:solidFill>
                <a:latin typeface="Arial" pitchFamily="34" charset="0"/>
                <a:ea typeface="Arial" pitchFamily="34" charset="-122"/>
                <a:cs typeface="Arial" pitchFamily="34" charset="-120"/>
              </a:rPr>
              <a:t>ROBOT MODEL: ANALYST</a:t>
            </a:r>
            <a:endParaRPr lang="en-US" sz="800" dirty="0"/>
          </a:p>
        </p:txBody>
      </p:sp>
      <p:sp>
        <p:nvSpPr>
          <p:cNvPr id="14" name="Text 12"/>
          <p:cNvSpPr/>
          <p:nvPr/>
        </p:nvSpPr>
        <p:spPr>
          <a:xfrm>
            <a:off x="731520" y="2103120"/>
            <a:ext cx="2194560" cy="7315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731520" y="2880360"/>
            <a:ext cx="2194560" cy="27432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Analytics Agent</a:t>
            </a:r>
            <a:endParaRPr lang="en-US" sz="1300" dirty="0"/>
          </a:p>
        </p:txBody>
      </p:sp>
      <p:sp>
        <p:nvSpPr>
          <p:cNvPr id="16" name="Text 14"/>
          <p:cNvSpPr/>
          <p:nvPr/>
        </p:nvSpPr>
        <p:spPr>
          <a:xfrm>
            <a:off x="731520" y="3246120"/>
            <a:ext cx="2194560" cy="109728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Lead: Khaled Mohamed</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Model: GPT-4o / Ridge Regressors</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Contract: AnalyticsAgentOutput</a:t>
            </a:r>
            <a:endParaRPr lang="en-US" sz="850" dirty="0"/>
          </a:p>
        </p:txBody>
      </p:sp>
      <p:sp>
        <p:nvSpPr>
          <p:cNvPr id="17" name="Shape 15"/>
          <p:cNvSpPr/>
          <p:nvPr/>
        </p:nvSpPr>
        <p:spPr>
          <a:xfrm>
            <a:off x="3291840" y="1600200"/>
            <a:ext cx="5303520" cy="3017520"/>
          </a:xfrm>
          <a:prstGeom prst="roundRect">
            <a:avLst>
              <a:gd name="adj" fmla="val 2424"/>
            </a:avLst>
          </a:prstGeom>
          <a:solidFill>
            <a:srgbClr val="131D31"/>
          </a:solidFill>
          <a:ln w="12700">
            <a:solidFill>
              <a:srgbClr val="233554"/>
            </a:solidFill>
            <a:prstDash val="solid"/>
          </a:ln>
        </p:spPr>
      </p:sp>
      <p:sp>
        <p:nvSpPr>
          <p:cNvPr id="18" name="Text 16"/>
          <p:cNvSpPr/>
          <p:nvPr/>
        </p:nvSpPr>
        <p:spPr>
          <a:xfrm>
            <a:off x="3474720" y="1783080"/>
            <a:ext cx="4937760" cy="274320"/>
          </a:xfrm>
          <a:prstGeom prst="rect">
            <a:avLst/>
          </a:prstGeom>
          <a:noFill/>
          <a:ln/>
        </p:spPr>
        <p:txBody>
          <a:bodyPr wrap="square" rtlCol="0" anchor="ctr"/>
          <a:lstStyle/>
          <a:p>
            <a:pPr marL="0" indent="0">
              <a:buNone/>
            </a:pPr>
            <a:r>
              <a:rPr lang="en-US" sz="1150" b="1" dirty="0">
                <a:solidFill>
                  <a:srgbClr val="6366F1"/>
                </a:solidFill>
                <a:latin typeface="Arial" pitchFamily="34" charset="0"/>
                <a:ea typeface="Arial" pitchFamily="34" charset="-122"/>
                <a:cs typeface="Arial" pitchFamily="34" charset="-120"/>
              </a:rPr>
              <a:t>Operational Responsibilities &amp; Intelligence</a:t>
            </a:r>
            <a:endParaRPr lang="en-US" sz="1150" dirty="0"/>
          </a:p>
        </p:txBody>
      </p:sp>
      <p:sp>
        <p:nvSpPr>
          <p:cNvPr id="19" name="Text 17"/>
          <p:cNvSpPr/>
          <p:nvPr/>
        </p:nvSpPr>
        <p:spPr>
          <a:xfrm>
            <a:off x="3474720" y="2148840"/>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Pre-Flight Health Score:</a:t>
            </a:r>
            <a:endParaRPr lang="en-US" sz="850" dirty="0"/>
          </a:p>
        </p:txBody>
      </p:sp>
      <p:sp>
        <p:nvSpPr>
          <p:cNvPr id="20" name="Text 18"/>
          <p:cNvSpPr/>
          <p:nvPr/>
        </p:nvSpPr>
        <p:spPr>
          <a:xfrm>
            <a:off x="3657600" y="2331720"/>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Computes overall 0–100 campaign score across Strategic Coherence (SCS) and Content Relevance (CRS).</a:t>
            </a:r>
            <a:endParaRPr lang="en-US" sz="800" dirty="0"/>
          </a:p>
        </p:txBody>
      </p:sp>
      <p:sp>
        <p:nvSpPr>
          <p:cNvPr id="21" name="Text 19"/>
          <p:cNvSpPr/>
          <p:nvPr/>
        </p:nvSpPr>
        <p:spPr>
          <a:xfrm>
            <a:off x="3474720" y="2715768"/>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Predictive KPI Forecasts:</a:t>
            </a:r>
            <a:endParaRPr lang="en-US" sz="850" dirty="0"/>
          </a:p>
        </p:txBody>
      </p:sp>
      <p:sp>
        <p:nvSpPr>
          <p:cNvPr id="22" name="Text 20"/>
          <p:cNvSpPr/>
          <p:nvPr/>
        </p:nvSpPr>
        <p:spPr>
          <a:xfrm>
            <a:off x="3657600" y="2898648"/>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Estimates expected CTR, CPC, CVR, and ROAS with confidence levels based on industry benchmarks.</a:t>
            </a:r>
            <a:endParaRPr lang="en-US" sz="800" dirty="0"/>
          </a:p>
        </p:txBody>
      </p:sp>
      <p:sp>
        <p:nvSpPr>
          <p:cNvPr id="23" name="Text 21"/>
          <p:cNvSpPr/>
          <p:nvPr/>
        </p:nvSpPr>
        <p:spPr>
          <a:xfrm>
            <a:off x="3474720" y="3282696"/>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Asset-Level Scorecards:</a:t>
            </a:r>
            <a:endParaRPr lang="en-US" sz="850" dirty="0"/>
          </a:p>
        </p:txBody>
      </p:sp>
      <p:sp>
        <p:nvSpPr>
          <p:cNvPr id="24" name="Text 22"/>
          <p:cNvSpPr/>
          <p:nvPr/>
        </p:nvSpPr>
        <p:spPr>
          <a:xfrm>
            <a:off x="3657600" y="3465576"/>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Grades every headline, visual, and hook with explicit strengths and weaknesses.</a:t>
            </a:r>
            <a:endParaRPr lang="en-US" sz="800" dirty="0"/>
          </a:p>
        </p:txBody>
      </p:sp>
      <p:sp>
        <p:nvSpPr>
          <p:cNvPr id="25" name="Text 23"/>
          <p:cNvSpPr/>
          <p:nvPr/>
        </p:nvSpPr>
        <p:spPr>
          <a:xfrm>
            <a:off x="3474720" y="3849624"/>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Prioritized Improvement Routing:</a:t>
            </a:r>
            <a:endParaRPr lang="en-US" sz="850" dirty="0"/>
          </a:p>
        </p:txBody>
      </p:sp>
      <p:sp>
        <p:nvSpPr>
          <p:cNvPr id="26" name="Text 24"/>
          <p:cNvSpPr/>
          <p:nvPr/>
        </p:nvSpPr>
        <p:spPr>
          <a:xfrm>
            <a:off x="3657600" y="4032504"/>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Sorts required fixes (Critical ➔ High ➔ Medium) to feed the autonomous feedback loop.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CORE AGENTS // PPO REINFORCEMENT LEARNING</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 Core Agent 7: Deep RL Optimization Agent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15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Optimization Agent runs a continuous closed-loop Proximal Policy Optimization (PPO) policy, dynamically reallocating budget and rotating creatives based on live telemetry.</a:t>
            </a:r>
            <a:endParaRPr lang="en-US" sz="1050" dirty="0"/>
          </a:p>
        </p:txBody>
      </p:sp>
      <p:sp>
        <p:nvSpPr>
          <p:cNvPr id="11" name="Shape 9"/>
          <p:cNvSpPr/>
          <p:nvPr/>
        </p:nvSpPr>
        <p:spPr>
          <a:xfrm>
            <a:off x="548640" y="1600200"/>
            <a:ext cx="2560320" cy="3017520"/>
          </a:xfrm>
          <a:prstGeom prst="roundRect">
            <a:avLst>
              <a:gd name="adj" fmla="val 2857"/>
            </a:avLst>
          </a:prstGeom>
          <a:solidFill>
            <a:srgbClr val="131D31"/>
          </a:solidFill>
          <a:ln w="12700">
            <a:solidFill>
              <a:srgbClr val="10B981"/>
            </a:solidFill>
            <a:prstDash val="solid"/>
          </a:ln>
        </p:spPr>
      </p:sp>
      <p:sp>
        <p:nvSpPr>
          <p:cNvPr id="12" name="Shape 10"/>
          <p:cNvSpPr/>
          <p:nvPr/>
        </p:nvSpPr>
        <p:spPr>
          <a:xfrm>
            <a:off x="731520" y="1783080"/>
            <a:ext cx="2194560" cy="228600"/>
          </a:xfrm>
          <a:prstGeom prst="roundRect">
            <a:avLst>
              <a:gd name="adj" fmla="val 20000"/>
            </a:avLst>
          </a:prstGeom>
          <a:solidFill>
            <a:srgbClr val="064E3B"/>
          </a:solidFill>
          <a:ln w="10160">
            <a:solidFill>
              <a:srgbClr val="10B981"/>
            </a:solidFill>
            <a:prstDash val="solid"/>
          </a:ln>
        </p:spPr>
      </p:sp>
      <p:sp>
        <p:nvSpPr>
          <p:cNvPr id="13" name="Text 11"/>
          <p:cNvSpPr/>
          <p:nvPr/>
        </p:nvSpPr>
        <p:spPr>
          <a:xfrm>
            <a:off x="731520" y="1801368"/>
            <a:ext cx="219456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ROBOT MODEL: RL OPTIMIZER</a:t>
            </a:r>
            <a:endParaRPr lang="en-US" sz="800" dirty="0"/>
          </a:p>
        </p:txBody>
      </p:sp>
      <p:sp>
        <p:nvSpPr>
          <p:cNvPr id="14" name="Text 12"/>
          <p:cNvSpPr/>
          <p:nvPr/>
        </p:nvSpPr>
        <p:spPr>
          <a:xfrm>
            <a:off x="731520" y="2103120"/>
            <a:ext cx="2194560" cy="7315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731520" y="2880360"/>
            <a:ext cx="2194560" cy="274320"/>
          </a:xfrm>
          <a:prstGeom prst="rect">
            <a:avLst/>
          </a:prstGeom>
          <a:noFill/>
          <a:ln/>
        </p:spPr>
        <p:txBody>
          <a:bodyPr wrap="square" rtlCol="0" anchor="ctr"/>
          <a:lstStyle/>
          <a:p>
            <a:pPr marL="0" indent="0" algn="ctr">
              <a:buNone/>
            </a:pPr>
            <a:r>
              <a:rPr lang="en-US" sz="1300" b="1" dirty="0">
                <a:solidFill>
                  <a:srgbClr val="F8FAFC"/>
                </a:solidFill>
                <a:latin typeface="Arial" pitchFamily="34" charset="0"/>
                <a:ea typeface="Arial" pitchFamily="34" charset="-122"/>
                <a:cs typeface="Arial" pitchFamily="34" charset="-120"/>
              </a:rPr>
              <a:t>Optimization Agent</a:t>
            </a:r>
            <a:endParaRPr lang="en-US" sz="1300" dirty="0"/>
          </a:p>
        </p:txBody>
      </p:sp>
      <p:sp>
        <p:nvSpPr>
          <p:cNvPr id="16" name="Text 14"/>
          <p:cNvSpPr/>
          <p:nvPr/>
        </p:nvSpPr>
        <p:spPr>
          <a:xfrm>
            <a:off x="731520" y="3246120"/>
            <a:ext cx="2194560" cy="109728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Engine: PyTorch PPO</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Algorithm: Clipped Surrogate Policy</a:t>
            </a:r>
            <a:endParaRPr lang="en-US" sz="850" dirty="0"/>
          </a:p>
          <a:p>
            <a:pPr marL="0" indent="0" algn="ctr">
              <a:buNone/>
            </a:pPr>
            <a:r>
              <a:rPr lang="en-US" sz="850" dirty="0">
                <a:solidFill>
                  <a:srgbClr val="94A3B8"/>
                </a:solidFill>
                <a:latin typeface="Arial" pitchFamily="34" charset="0"/>
                <a:ea typeface="Arial" pitchFamily="34" charset="-122"/>
                <a:cs typeface="Arial" pitchFamily="34" charset="-120"/>
              </a:rPr>
              <a:t>Contract: OptimizationOutput</a:t>
            </a:r>
            <a:endParaRPr lang="en-US" sz="850" dirty="0"/>
          </a:p>
        </p:txBody>
      </p:sp>
      <p:sp>
        <p:nvSpPr>
          <p:cNvPr id="17" name="Shape 15"/>
          <p:cNvSpPr/>
          <p:nvPr/>
        </p:nvSpPr>
        <p:spPr>
          <a:xfrm>
            <a:off x="3291840" y="1600200"/>
            <a:ext cx="5303520" cy="3017520"/>
          </a:xfrm>
          <a:prstGeom prst="roundRect">
            <a:avLst>
              <a:gd name="adj" fmla="val 2424"/>
            </a:avLst>
          </a:prstGeom>
          <a:solidFill>
            <a:srgbClr val="131D31"/>
          </a:solidFill>
          <a:ln w="12700">
            <a:solidFill>
              <a:srgbClr val="233554"/>
            </a:solidFill>
            <a:prstDash val="solid"/>
          </a:ln>
        </p:spPr>
      </p:sp>
      <p:sp>
        <p:nvSpPr>
          <p:cNvPr id="18" name="Text 16"/>
          <p:cNvSpPr/>
          <p:nvPr/>
        </p:nvSpPr>
        <p:spPr>
          <a:xfrm>
            <a:off x="3474720" y="1783080"/>
            <a:ext cx="4937760" cy="274320"/>
          </a:xfrm>
          <a:prstGeom prst="rect">
            <a:avLst/>
          </a:prstGeom>
          <a:noFill/>
          <a:ln/>
        </p:spPr>
        <p:txBody>
          <a:bodyPr wrap="square" rtlCol="0" anchor="ctr"/>
          <a:lstStyle/>
          <a:p>
            <a:pPr marL="0" indent="0">
              <a:buNone/>
            </a:pPr>
            <a:r>
              <a:rPr lang="en-US" sz="1150" b="1" dirty="0">
                <a:solidFill>
                  <a:srgbClr val="34D399"/>
                </a:solidFill>
                <a:latin typeface="Arial" pitchFamily="34" charset="0"/>
                <a:ea typeface="Arial" pitchFamily="34" charset="-122"/>
                <a:cs typeface="Arial" pitchFamily="34" charset="-120"/>
              </a:rPr>
              <a:t>Operational Responsibilities &amp; Intelligence</a:t>
            </a:r>
            <a:endParaRPr lang="en-US" sz="1150" dirty="0"/>
          </a:p>
        </p:txBody>
      </p:sp>
      <p:sp>
        <p:nvSpPr>
          <p:cNvPr id="19" name="Text 17"/>
          <p:cNvSpPr/>
          <p:nvPr/>
        </p:nvSpPr>
        <p:spPr>
          <a:xfrm>
            <a:off x="3474720" y="2148840"/>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Markov Decision Process (MDP):</a:t>
            </a:r>
            <a:endParaRPr lang="en-US" sz="850" dirty="0"/>
          </a:p>
        </p:txBody>
      </p:sp>
      <p:sp>
        <p:nvSpPr>
          <p:cNvPr id="20" name="Text 18"/>
          <p:cNvSpPr/>
          <p:nvPr/>
        </p:nvSpPr>
        <p:spPr>
          <a:xfrm>
            <a:off x="3657600" y="2331720"/>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State (S_t) monitors live CTR, CPC, and fatigue. Action (A_t) shifts budget and adjusts bids.</a:t>
            </a:r>
            <a:endParaRPr lang="en-US" sz="800" dirty="0"/>
          </a:p>
        </p:txBody>
      </p:sp>
      <p:sp>
        <p:nvSpPr>
          <p:cNvPr id="21" name="Text 19"/>
          <p:cNvSpPr/>
          <p:nvPr/>
        </p:nvSpPr>
        <p:spPr>
          <a:xfrm>
            <a:off x="3474720" y="2715768"/>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Multi-Objective Reward Function:</a:t>
            </a:r>
            <a:endParaRPr lang="en-US" sz="850" dirty="0"/>
          </a:p>
        </p:txBody>
      </p:sp>
      <p:sp>
        <p:nvSpPr>
          <p:cNvPr id="22" name="Text 20"/>
          <p:cNvSpPr/>
          <p:nvPr/>
        </p:nvSpPr>
        <p:spPr>
          <a:xfrm>
            <a:off x="3657600" y="2898648"/>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R_t = w1*ΔROAS - w2*CPA - λ*Penalty. Balances revenue growth against spend caps.</a:t>
            </a:r>
            <a:endParaRPr lang="en-US" sz="800" dirty="0"/>
          </a:p>
        </p:txBody>
      </p:sp>
      <p:sp>
        <p:nvSpPr>
          <p:cNvPr id="23" name="Text 21"/>
          <p:cNvSpPr/>
          <p:nvPr/>
        </p:nvSpPr>
        <p:spPr>
          <a:xfrm>
            <a:off x="3474720" y="3282696"/>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PPO Policy Gradient Convergence:</a:t>
            </a:r>
            <a:endParaRPr lang="en-US" sz="850" dirty="0"/>
          </a:p>
        </p:txBody>
      </p:sp>
      <p:sp>
        <p:nvSpPr>
          <p:cNvPr id="24" name="Text 22"/>
          <p:cNvSpPr/>
          <p:nvPr/>
        </p:nvSpPr>
        <p:spPr>
          <a:xfrm>
            <a:off x="3657600" y="3465576"/>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Clipped surrogate objective prevents destructively large policy shifts.</a:t>
            </a:r>
            <a:endParaRPr lang="en-US" sz="800" dirty="0"/>
          </a:p>
        </p:txBody>
      </p:sp>
      <p:sp>
        <p:nvSpPr>
          <p:cNvPr id="25" name="Text 23"/>
          <p:cNvSpPr/>
          <p:nvPr/>
        </p:nvSpPr>
        <p:spPr>
          <a:xfrm>
            <a:off x="3474720" y="3849624"/>
            <a:ext cx="49377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 Autonomous Creative Rotation:</a:t>
            </a:r>
            <a:endParaRPr lang="en-US" sz="850" dirty="0"/>
          </a:p>
        </p:txBody>
      </p:sp>
      <p:sp>
        <p:nvSpPr>
          <p:cNvPr id="26" name="Text 24"/>
          <p:cNvSpPr/>
          <p:nvPr/>
        </p:nvSpPr>
        <p:spPr>
          <a:xfrm>
            <a:off x="3657600" y="4032504"/>
            <a:ext cx="4754880" cy="32004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Detects creative fatigue in real-time and swaps in fresh high-performing variants.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DATA INTEGRITY // CONTRACT ENFORCEMENT</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Coordinated Collaboration &amp; Zero Context Drift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16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How ADPilot Pro prevents hallucinations and quality degradation across agents through typed Pydantic v2 contracts and centralized state management.</a:t>
            </a:r>
            <a:endParaRPr lang="en-US" sz="1050" dirty="0"/>
          </a:p>
        </p:txBody>
      </p:sp>
      <p:sp>
        <p:nvSpPr>
          <p:cNvPr id="11" name="Shape 9"/>
          <p:cNvSpPr/>
          <p:nvPr/>
        </p:nvSpPr>
        <p:spPr>
          <a:xfrm>
            <a:off x="548640" y="1645920"/>
            <a:ext cx="2514600" cy="2971800"/>
          </a:xfrm>
          <a:prstGeom prst="roundRect">
            <a:avLst>
              <a:gd name="adj" fmla="val 2909"/>
            </a:avLst>
          </a:prstGeom>
          <a:solidFill>
            <a:srgbClr val="131D31"/>
          </a:solidFill>
          <a:ln w="12700">
            <a:solidFill>
              <a:srgbClr val="233554"/>
            </a:solidFill>
            <a:prstDash val="solid"/>
          </a:ln>
        </p:spPr>
      </p:sp>
      <p:sp>
        <p:nvSpPr>
          <p:cNvPr id="12" name="Shape 10"/>
          <p:cNvSpPr/>
          <p:nvPr/>
        </p:nvSpPr>
        <p:spPr>
          <a:xfrm>
            <a:off x="731520" y="1783080"/>
            <a:ext cx="1920240" cy="228600"/>
          </a:xfrm>
          <a:prstGeom prst="roundRect">
            <a:avLst>
              <a:gd name="adj" fmla="val 20000"/>
            </a:avLst>
          </a:prstGeom>
          <a:solidFill>
            <a:srgbClr val="064E3B"/>
          </a:solidFill>
          <a:ln w="10160">
            <a:solidFill>
              <a:srgbClr val="10B981"/>
            </a:solidFill>
            <a:prstDash val="solid"/>
          </a:ln>
        </p:spPr>
      </p:sp>
      <p:sp>
        <p:nvSpPr>
          <p:cNvPr id="13" name="Text 11"/>
          <p:cNvSpPr/>
          <p:nvPr/>
        </p:nvSpPr>
        <p:spPr>
          <a:xfrm>
            <a:off x="731520" y="1801368"/>
            <a:ext cx="192024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PYDANTIC V2 CONTRACTS</a:t>
            </a:r>
            <a:endParaRPr lang="en-US" sz="800" dirty="0"/>
          </a:p>
        </p:txBody>
      </p:sp>
      <p:sp>
        <p:nvSpPr>
          <p:cNvPr id="14" name="Text 12"/>
          <p:cNvSpPr/>
          <p:nvPr/>
        </p:nvSpPr>
        <p:spPr>
          <a:xfrm>
            <a:off x="731520" y="2084832"/>
            <a:ext cx="2148840" cy="32004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Runtime Type Validation</a:t>
            </a:r>
            <a:endParaRPr lang="en-US" sz="1200" dirty="0"/>
          </a:p>
        </p:txBody>
      </p:sp>
      <p:sp>
        <p:nvSpPr>
          <p:cNvPr id="15" name="Text 13"/>
          <p:cNvSpPr/>
          <p:nvPr/>
        </p:nvSpPr>
        <p:spPr>
          <a:xfrm>
            <a:off x="731520" y="2450592"/>
            <a:ext cx="2148840" cy="182880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JSON schemas injected directly into LLM prompts.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Automatic validation of field types and business logic.</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Automatic error retry mechanism (SVER &lt; 5%).</a:t>
            </a:r>
            <a:endParaRPr lang="en-US" sz="850" dirty="0"/>
          </a:p>
        </p:txBody>
      </p:sp>
      <p:sp>
        <p:nvSpPr>
          <p:cNvPr id="16" name="Shape 14"/>
          <p:cNvSpPr/>
          <p:nvPr/>
        </p:nvSpPr>
        <p:spPr>
          <a:xfrm>
            <a:off x="3291840" y="1645920"/>
            <a:ext cx="2514600" cy="2971800"/>
          </a:xfrm>
          <a:prstGeom prst="roundRect">
            <a:avLst>
              <a:gd name="adj" fmla="val 2909"/>
            </a:avLst>
          </a:prstGeom>
          <a:solidFill>
            <a:srgbClr val="131D31"/>
          </a:solidFill>
          <a:ln w="12700">
            <a:solidFill>
              <a:srgbClr val="233554"/>
            </a:solidFill>
            <a:prstDash val="solid"/>
          </a:ln>
        </p:spPr>
      </p:sp>
      <p:sp>
        <p:nvSpPr>
          <p:cNvPr id="17" name="Shape 15"/>
          <p:cNvSpPr/>
          <p:nvPr/>
        </p:nvSpPr>
        <p:spPr>
          <a:xfrm>
            <a:off x="3474720" y="1783080"/>
            <a:ext cx="1920240" cy="228600"/>
          </a:xfrm>
          <a:prstGeom prst="roundRect">
            <a:avLst>
              <a:gd name="adj" fmla="val 20000"/>
            </a:avLst>
          </a:prstGeom>
          <a:solidFill>
            <a:srgbClr val="0C2B40"/>
          </a:solidFill>
          <a:ln w="10160">
            <a:solidFill>
              <a:srgbClr val="0EA5E9"/>
            </a:solidFill>
            <a:prstDash val="solid"/>
          </a:ln>
        </p:spPr>
      </p:sp>
      <p:sp>
        <p:nvSpPr>
          <p:cNvPr id="18" name="Text 16"/>
          <p:cNvSpPr/>
          <p:nvPr/>
        </p:nvSpPr>
        <p:spPr>
          <a:xfrm>
            <a:off x="3474720" y="1801368"/>
            <a:ext cx="192024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STATE SYNCHRONIZATION</a:t>
            </a:r>
            <a:endParaRPr lang="en-US" sz="800" dirty="0"/>
          </a:p>
        </p:txBody>
      </p:sp>
      <p:sp>
        <p:nvSpPr>
          <p:cNvPr id="19" name="Text 17"/>
          <p:cNvSpPr/>
          <p:nvPr/>
        </p:nvSpPr>
        <p:spPr>
          <a:xfrm>
            <a:off x="3474720" y="2084832"/>
            <a:ext cx="2148840" cy="32004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Redis &amp; Vector Memory</a:t>
            </a:r>
            <a:endParaRPr lang="en-US" sz="1200" dirty="0"/>
          </a:p>
        </p:txBody>
      </p:sp>
      <p:sp>
        <p:nvSpPr>
          <p:cNvPr id="20" name="Text 18"/>
          <p:cNvSpPr/>
          <p:nvPr/>
        </p:nvSpPr>
        <p:spPr>
          <a:xfrm>
            <a:off x="3474720" y="2450592"/>
            <a:ext cx="2148840" cy="182880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Immutable CampaignContext passed as global state.</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Redis 7 in-memory broker handles inter-agent messaging.</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Qdrant stores high-performing historical campaign embeddings.</a:t>
            </a:r>
            <a:endParaRPr lang="en-US" sz="850" dirty="0"/>
          </a:p>
        </p:txBody>
      </p:sp>
      <p:sp>
        <p:nvSpPr>
          <p:cNvPr id="21" name="Shape 19"/>
          <p:cNvSpPr/>
          <p:nvPr/>
        </p:nvSpPr>
        <p:spPr>
          <a:xfrm>
            <a:off x="6035040" y="1645920"/>
            <a:ext cx="2514600" cy="2971800"/>
          </a:xfrm>
          <a:prstGeom prst="roundRect">
            <a:avLst>
              <a:gd name="adj" fmla="val 2909"/>
            </a:avLst>
          </a:prstGeom>
          <a:solidFill>
            <a:srgbClr val="131D31"/>
          </a:solidFill>
          <a:ln w="12700">
            <a:solidFill>
              <a:srgbClr val="233554"/>
            </a:solidFill>
            <a:prstDash val="solid"/>
          </a:ln>
        </p:spPr>
      </p:sp>
      <p:sp>
        <p:nvSpPr>
          <p:cNvPr id="22" name="Shape 20"/>
          <p:cNvSpPr/>
          <p:nvPr/>
        </p:nvSpPr>
        <p:spPr>
          <a:xfrm>
            <a:off x="6217920" y="1783080"/>
            <a:ext cx="1920240" cy="228600"/>
          </a:xfrm>
          <a:prstGeom prst="roundRect">
            <a:avLst>
              <a:gd name="adj" fmla="val 20000"/>
            </a:avLst>
          </a:prstGeom>
          <a:solidFill>
            <a:srgbClr val="1E1B4B"/>
          </a:solidFill>
          <a:ln w="10160">
            <a:solidFill>
              <a:srgbClr val="6366F1"/>
            </a:solidFill>
            <a:prstDash val="solid"/>
          </a:ln>
        </p:spPr>
      </p:sp>
      <p:sp>
        <p:nvSpPr>
          <p:cNvPr id="23" name="Text 21"/>
          <p:cNvSpPr/>
          <p:nvPr/>
        </p:nvSpPr>
        <p:spPr>
          <a:xfrm>
            <a:off x="6217920" y="1801368"/>
            <a:ext cx="1920240" cy="192024"/>
          </a:xfrm>
          <a:prstGeom prst="rect">
            <a:avLst/>
          </a:prstGeom>
          <a:noFill/>
          <a:ln/>
        </p:spPr>
        <p:txBody>
          <a:bodyPr wrap="square" rtlCol="0" anchor="ctr"/>
          <a:lstStyle/>
          <a:p>
            <a:pPr marL="0" indent="0" algn="ctr">
              <a:buNone/>
            </a:pPr>
            <a:r>
              <a:rPr lang="en-US" sz="800" b="1" dirty="0">
                <a:solidFill>
                  <a:srgbClr val="6366F1"/>
                </a:solidFill>
                <a:latin typeface="Arial" pitchFamily="34" charset="0"/>
                <a:ea typeface="Arial" pitchFamily="34" charset="-122"/>
                <a:cs typeface="Arial" pitchFamily="34" charset="-120"/>
              </a:rPr>
              <a:t>SURGICAL ROUTING</a:t>
            </a:r>
            <a:endParaRPr lang="en-US" sz="800" dirty="0"/>
          </a:p>
        </p:txBody>
      </p:sp>
      <p:sp>
        <p:nvSpPr>
          <p:cNvPr id="24" name="Text 22"/>
          <p:cNvSpPr/>
          <p:nvPr/>
        </p:nvSpPr>
        <p:spPr>
          <a:xfrm>
            <a:off x="6217920" y="2084832"/>
            <a:ext cx="2148840" cy="32004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Targeted Agent Re-Run</a:t>
            </a:r>
            <a:endParaRPr lang="en-US" sz="1200" dirty="0"/>
          </a:p>
        </p:txBody>
      </p:sp>
      <p:sp>
        <p:nvSpPr>
          <p:cNvPr id="25" name="Text 23"/>
          <p:cNvSpPr/>
          <p:nvPr/>
        </p:nvSpPr>
        <p:spPr>
          <a:xfrm>
            <a:off x="6217920" y="2450592"/>
            <a:ext cx="2148840" cy="182880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Feedback classifier parses human notes.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Re-executes ONLY affected agents rather than full pipeline.</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Saves ~70% token costs and reduces latency to seconds.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KNOWLEDGE ENGINE // MEMORY ARCHITECTURE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Multi-Tier Memory Engine &amp; Epistemic Hybrid RAG</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17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Persistent context retention combining short-term execution memory, brand identity rules, and Qdrant vector retrieval with BM25 hybrid search.</a:t>
            </a:r>
            <a:endParaRPr lang="en-US" sz="1050" dirty="0"/>
          </a:p>
        </p:txBody>
      </p:sp>
      <p:sp>
        <p:nvSpPr>
          <p:cNvPr id="11" name="Shape 9"/>
          <p:cNvSpPr/>
          <p:nvPr/>
        </p:nvSpPr>
        <p:spPr>
          <a:xfrm>
            <a:off x="548640" y="1645920"/>
            <a:ext cx="2560320" cy="2971800"/>
          </a:xfrm>
          <a:prstGeom prst="roundRect">
            <a:avLst>
              <a:gd name="adj" fmla="val 2857"/>
            </a:avLst>
          </a:prstGeom>
          <a:solidFill>
            <a:srgbClr val="131D31"/>
          </a:solidFill>
          <a:ln w="12700">
            <a:solidFill>
              <a:srgbClr val="233554"/>
            </a:solidFill>
            <a:prstDash val="solid"/>
          </a:ln>
        </p:spPr>
      </p:sp>
      <p:sp>
        <p:nvSpPr>
          <p:cNvPr id="12" name="Shape 10"/>
          <p:cNvSpPr/>
          <p:nvPr/>
        </p:nvSpPr>
        <p:spPr>
          <a:xfrm>
            <a:off x="685800" y="1783080"/>
            <a:ext cx="2286000" cy="228600"/>
          </a:xfrm>
          <a:prstGeom prst="roundRect">
            <a:avLst>
              <a:gd name="adj" fmla="val 20000"/>
            </a:avLst>
          </a:prstGeom>
          <a:solidFill>
            <a:srgbClr val="1E293B"/>
          </a:solidFill>
          <a:ln w="10160">
            <a:solidFill>
              <a:srgbClr val="0EA5E9"/>
            </a:solidFill>
            <a:prstDash val="solid"/>
          </a:ln>
        </p:spPr>
      </p:sp>
      <p:sp>
        <p:nvSpPr>
          <p:cNvPr id="13" name="Text 11"/>
          <p:cNvSpPr/>
          <p:nvPr/>
        </p:nvSpPr>
        <p:spPr>
          <a:xfrm>
            <a:off x="685800" y="1801368"/>
            <a:ext cx="228600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SHORT-TERM MEMORY</a:t>
            </a:r>
            <a:endParaRPr lang="en-US" sz="800" dirty="0"/>
          </a:p>
        </p:txBody>
      </p:sp>
      <p:sp>
        <p:nvSpPr>
          <p:cNvPr id="14" name="Text 12"/>
          <p:cNvSpPr/>
          <p:nvPr/>
        </p:nvSpPr>
        <p:spPr>
          <a:xfrm>
            <a:off x="685800" y="2103120"/>
            <a:ext cx="228600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Execution Context</a:t>
            </a:r>
            <a:endParaRPr lang="en-US" sz="1150" dirty="0"/>
          </a:p>
        </p:txBody>
      </p:sp>
      <p:sp>
        <p:nvSpPr>
          <p:cNvPr id="15" name="Text 13"/>
          <p:cNvSpPr/>
          <p:nvPr/>
        </p:nvSpPr>
        <p:spPr>
          <a:xfrm>
            <a:off x="685800" y="2514600"/>
            <a:ext cx="228600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Manages in-flight DAG state in Redis 7</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Caches intermediate agent outputs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Prevents redundant token generation</a:t>
            </a:r>
            <a:endParaRPr lang="en-US" sz="850" dirty="0"/>
          </a:p>
        </p:txBody>
      </p:sp>
      <p:sp>
        <p:nvSpPr>
          <p:cNvPr id="16" name="Shape 14"/>
          <p:cNvSpPr/>
          <p:nvPr/>
        </p:nvSpPr>
        <p:spPr>
          <a:xfrm>
            <a:off x="3291840" y="1645920"/>
            <a:ext cx="2560320" cy="2971800"/>
          </a:xfrm>
          <a:prstGeom prst="roundRect">
            <a:avLst>
              <a:gd name="adj" fmla="val 2857"/>
            </a:avLst>
          </a:prstGeom>
          <a:solidFill>
            <a:srgbClr val="131D31"/>
          </a:solidFill>
          <a:ln w="12700">
            <a:solidFill>
              <a:srgbClr val="233554"/>
            </a:solidFill>
            <a:prstDash val="solid"/>
          </a:ln>
        </p:spPr>
      </p:sp>
      <p:sp>
        <p:nvSpPr>
          <p:cNvPr id="17" name="Shape 15"/>
          <p:cNvSpPr/>
          <p:nvPr/>
        </p:nvSpPr>
        <p:spPr>
          <a:xfrm>
            <a:off x="3429000" y="1783080"/>
            <a:ext cx="2286000" cy="228600"/>
          </a:xfrm>
          <a:prstGeom prst="roundRect">
            <a:avLst>
              <a:gd name="adj" fmla="val 20000"/>
            </a:avLst>
          </a:prstGeom>
          <a:solidFill>
            <a:srgbClr val="1E293B"/>
          </a:solidFill>
          <a:ln w="10160">
            <a:solidFill>
              <a:srgbClr val="10B981"/>
            </a:solidFill>
            <a:prstDash val="solid"/>
          </a:ln>
        </p:spPr>
      </p:sp>
      <p:sp>
        <p:nvSpPr>
          <p:cNvPr id="18" name="Text 16"/>
          <p:cNvSpPr/>
          <p:nvPr/>
        </p:nvSpPr>
        <p:spPr>
          <a:xfrm>
            <a:off x="3429000" y="1801368"/>
            <a:ext cx="228600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BRAND IDENTITY MEMORY</a:t>
            </a:r>
            <a:endParaRPr lang="en-US" sz="800" dirty="0"/>
          </a:p>
        </p:txBody>
      </p:sp>
      <p:sp>
        <p:nvSpPr>
          <p:cNvPr id="19" name="Text 17"/>
          <p:cNvSpPr/>
          <p:nvPr/>
        </p:nvSpPr>
        <p:spPr>
          <a:xfrm>
            <a:off x="3429000" y="2103120"/>
            <a:ext cx="228600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Long-Term Guidelines</a:t>
            </a:r>
            <a:endParaRPr lang="en-US" sz="1150" dirty="0"/>
          </a:p>
        </p:txBody>
      </p:sp>
      <p:sp>
        <p:nvSpPr>
          <p:cNvPr id="20" name="Text 18"/>
          <p:cNvSpPr/>
          <p:nvPr/>
        </p:nvSpPr>
        <p:spPr>
          <a:xfrm>
            <a:off x="3429000" y="2514600"/>
            <a:ext cx="228600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Preserves brand voice guidelines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Enforces tone restrictions &amp; hex codes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Ensures cross-campaign brand coherence</a:t>
            </a:r>
            <a:endParaRPr lang="en-US" sz="850" dirty="0"/>
          </a:p>
        </p:txBody>
      </p:sp>
      <p:sp>
        <p:nvSpPr>
          <p:cNvPr id="21" name="Shape 19"/>
          <p:cNvSpPr/>
          <p:nvPr/>
        </p:nvSpPr>
        <p:spPr>
          <a:xfrm>
            <a:off x="6035040" y="1645920"/>
            <a:ext cx="2560320" cy="2971800"/>
          </a:xfrm>
          <a:prstGeom prst="roundRect">
            <a:avLst>
              <a:gd name="adj" fmla="val 2857"/>
            </a:avLst>
          </a:prstGeom>
          <a:solidFill>
            <a:srgbClr val="131D31"/>
          </a:solidFill>
          <a:ln w="12700">
            <a:solidFill>
              <a:srgbClr val="233554"/>
            </a:solidFill>
            <a:prstDash val="solid"/>
          </a:ln>
        </p:spPr>
      </p:sp>
      <p:sp>
        <p:nvSpPr>
          <p:cNvPr id="22" name="Shape 20"/>
          <p:cNvSpPr/>
          <p:nvPr/>
        </p:nvSpPr>
        <p:spPr>
          <a:xfrm>
            <a:off x="6172200" y="1783080"/>
            <a:ext cx="2286000" cy="228600"/>
          </a:xfrm>
          <a:prstGeom prst="roundRect">
            <a:avLst>
              <a:gd name="adj" fmla="val 20000"/>
            </a:avLst>
          </a:prstGeom>
          <a:solidFill>
            <a:srgbClr val="1E293B"/>
          </a:solidFill>
          <a:ln w="10160">
            <a:solidFill>
              <a:srgbClr val="8B5CF6"/>
            </a:solidFill>
            <a:prstDash val="solid"/>
          </a:ln>
        </p:spPr>
      </p:sp>
      <p:sp>
        <p:nvSpPr>
          <p:cNvPr id="23" name="Text 21"/>
          <p:cNvSpPr/>
          <p:nvPr/>
        </p:nvSpPr>
        <p:spPr>
          <a:xfrm>
            <a:off x="6172200" y="1801368"/>
            <a:ext cx="2286000" cy="192024"/>
          </a:xfrm>
          <a:prstGeom prst="rect">
            <a:avLst/>
          </a:prstGeom>
          <a:noFill/>
          <a:ln/>
        </p:spPr>
        <p:txBody>
          <a:bodyPr wrap="square" rtlCol="0" anchor="ctr"/>
          <a:lstStyle/>
          <a:p>
            <a:pPr marL="0" indent="0" algn="ctr">
              <a:buNone/>
            </a:pPr>
            <a:r>
              <a:rPr lang="en-US" sz="800" b="1" dirty="0">
                <a:solidFill>
                  <a:srgbClr val="8B5CF6"/>
                </a:solidFill>
                <a:latin typeface="Arial" pitchFamily="34" charset="0"/>
                <a:ea typeface="Arial" pitchFamily="34" charset="-122"/>
                <a:cs typeface="Arial" pitchFamily="34" charset="-120"/>
              </a:rPr>
              <a:t>HYBRID RAG (BM25 + QDRANT)</a:t>
            </a:r>
            <a:endParaRPr lang="en-US" sz="800" dirty="0"/>
          </a:p>
        </p:txBody>
      </p:sp>
      <p:sp>
        <p:nvSpPr>
          <p:cNvPr id="24" name="Text 22"/>
          <p:cNvSpPr/>
          <p:nvPr/>
        </p:nvSpPr>
        <p:spPr>
          <a:xfrm>
            <a:off x="6172200" y="2103120"/>
            <a:ext cx="228600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Historical Intelligence</a:t>
            </a:r>
            <a:endParaRPr lang="en-US" sz="1150" dirty="0"/>
          </a:p>
        </p:txBody>
      </p:sp>
      <p:sp>
        <p:nvSpPr>
          <p:cNvPr id="25" name="Text 23"/>
          <p:cNvSpPr/>
          <p:nvPr/>
        </p:nvSpPr>
        <p:spPr>
          <a:xfrm>
            <a:off x="6172200" y="2514600"/>
            <a:ext cx="228600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Dense vector search via Qdrant</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Sparse keyword matching via BM25</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Cross-encoder re-ranking for accuracy</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RELIABILITY // CONSTRAINT GUARDS</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Autonomous Self-Healing &amp; Correction Engine</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18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An autonomous reliability buffer that audits pipeline execution states, detects constraint violations, and executes deterministic remediation actions.</a:t>
            </a:r>
            <a:endParaRPr lang="en-US" sz="1050" dirty="0"/>
          </a:p>
        </p:txBody>
      </p:sp>
      <p:sp>
        <p:nvSpPr>
          <p:cNvPr id="11" name="Shape 9"/>
          <p:cNvSpPr/>
          <p:nvPr/>
        </p:nvSpPr>
        <p:spPr>
          <a:xfrm>
            <a:off x="548640" y="1645920"/>
            <a:ext cx="1874520" cy="2971800"/>
          </a:xfrm>
          <a:prstGeom prst="roundRect">
            <a:avLst>
              <a:gd name="adj" fmla="val 3902"/>
            </a:avLst>
          </a:prstGeom>
          <a:solidFill>
            <a:srgbClr val="131D31"/>
          </a:solidFill>
          <a:ln w="12700">
            <a:solidFill>
              <a:srgbClr val="233554"/>
            </a:solidFill>
            <a:prstDash val="solid"/>
          </a:ln>
        </p:spPr>
      </p:sp>
      <p:sp>
        <p:nvSpPr>
          <p:cNvPr id="12" name="Shape 10"/>
          <p:cNvSpPr/>
          <p:nvPr/>
        </p:nvSpPr>
        <p:spPr>
          <a:xfrm>
            <a:off x="548640" y="1645920"/>
            <a:ext cx="1874520" cy="36576"/>
          </a:xfrm>
          <a:prstGeom prst="rect">
            <a:avLst/>
          </a:prstGeom>
          <a:solidFill>
            <a:srgbClr val="F43F5E"/>
          </a:solidFill>
          <a:ln w="12700">
            <a:solidFill>
              <a:srgbClr val="333333"/>
            </a:solidFill>
            <a:prstDash val="solid"/>
          </a:ln>
        </p:spPr>
      </p:sp>
      <p:sp>
        <p:nvSpPr>
          <p:cNvPr id="13" name="Text 11"/>
          <p:cNvSpPr/>
          <p:nvPr/>
        </p:nvSpPr>
        <p:spPr>
          <a:xfrm>
            <a:off x="640080" y="1783080"/>
            <a:ext cx="1691640" cy="228600"/>
          </a:xfrm>
          <a:prstGeom prst="rect">
            <a:avLst/>
          </a:prstGeom>
          <a:noFill/>
          <a:ln/>
        </p:spPr>
        <p:txBody>
          <a:bodyPr wrap="square" rtlCol="0" anchor="ctr"/>
          <a:lstStyle/>
          <a:p>
            <a:pPr marL="0" indent="0">
              <a:buNone/>
            </a:pPr>
            <a:r>
              <a:rPr lang="en-US" sz="800" b="1" dirty="0">
                <a:solidFill>
                  <a:srgbClr val="F43F5E"/>
                </a:solidFill>
                <a:latin typeface="Arial" pitchFamily="34" charset="0"/>
                <a:ea typeface="Arial" pitchFamily="34" charset="-122"/>
                <a:cs typeface="Arial" pitchFamily="34" charset="-120"/>
              </a:rPr>
              <a:t>01. CONSTRAINT GUARD</a:t>
            </a:r>
            <a:endParaRPr lang="en-US" sz="800" dirty="0"/>
          </a:p>
        </p:txBody>
      </p:sp>
      <p:sp>
        <p:nvSpPr>
          <p:cNvPr id="14" name="Text 12"/>
          <p:cNvSpPr/>
          <p:nvPr/>
        </p:nvSpPr>
        <p:spPr>
          <a:xfrm>
            <a:off x="6400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Rule Violation Audit</a:t>
            </a:r>
            <a:endParaRPr lang="en-US" sz="1050" dirty="0"/>
          </a:p>
        </p:txBody>
      </p:sp>
      <p:sp>
        <p:nvSpPr>
          <p:cNvPr id="15" name="Text 13"/>
          <p:cNvSpPr/>
          <p:nvPr/>
        </p:nvSpPr>
        <p:spPr>
          <a:xfrm>
            <a:off x="6400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Audits budget overflow, negative spend, character caps, and brand safety infractions.</a:t>
            </a:r>
            <a:endParaRPr lang="en-US" sz="800" dirty="0"/>
          </a:p>
        </p:txBody>
      </p:sp>
      <p:sp>
        <p:nvSpPr>
          <p:cNvPr id="16" name="Shape 14"/>
          <p:cNvSpPr/>
          <p:nvPr/>
        </p:nvSpPr>
        <p:spPr>
          <a:xfrm>
            <a:off x="2606040" y="1645920"/>
            <a:ext cx="1874520" cy="2971800"/>
          </a:xfrm>
          <a:prstGeom prst="roundRect">
            <a:avLst>
              <a:gd name="adj" fmla="val 3902"/>
            </a:avLst>
          </a:prstGeom>
          <a:solidFill>
            <a:srgbClr val="131D31"/>
          </a:solidFill>
          <a:ln w="12700">
            <a:solidFill>
              <a:srgbClr val="233554"/>
            </a:solidFill>
            <a:prstDash val="solid"/>
          </a:ln>
        </p:spPr>
      </p:sp>
      <p:sp>
        <p:nvSpPr>
          <p:cNvPr id="17" name="Shape 15"/>
          <p:cNvSpPr/>
          <p:nvPr/>
        </p:nvSpPr>
        <p:spPr>
          <a:xfrm>
            <a:off x="2606040" y="1645920"/>
            <a:ext cx="1874520" cy="36576"/>
          </a:xfrm>
          <a:prstGeom prst="rect">
            <a:avLst/>
          </a:prstGeom>
          <a:solidFill>
            <a:srgbClr val="F59E0B"/>
          </a:solidFill>
          <a:ln w="12700">
            <a:solidFill>
              <a:srgbClr val="333333"/>
            </a:solidFill>
            <a:prstDash val="solid"/>
          </a:ln>
        </p:spPr>
      </p:sp>
      <p:sp>
        <p:nvSpPr>
          <p:cNvPr id="18" name="Text 16"/>
          <p:cNvSpPr/>
          <p:nvPr/>
        </p:nvSpPr>
        <p:spPr>
          <a:xfrm>
            <a:off x="2697480" y="1783080"/>
            <a:ext cx="1691640" cy="228600"/>
          </a:xfrm>
          <a:prstGeom prst="rect">
            <a:avLst/>
          </a:prstGeom>
          <a:noFill/>
          <a:ln/>
        </p:spPr>
        <p:txBody>
          <a:bodyPr wrap="square" rtlCol="0" anchor="ctr"/>
          <a:lstStyle/>
          <a:p>
            <a:pPr marL="0" indent="0">
              <a:buNone/>
            </a:pPr>
            <a:r>
              <a:rPr lang="en-US" sz="800" b="1" dirty="0">
                <a:solidFill>
                  <a:srgbClr val="F59E0B"/>
                </a:solidFill>
                <a:latin typeface="Arial" pitchFamily="34" charset="0"/>
                <a:ea typeface="Arial" pitchFamily="34" charset="-122"/>
                <a:cs typeface="Arial" pitchFamily="34" charset="-120"/>
              </a:rPr>
              <a:t>02. PROBLEM CLASSIFIER</a:t>
            </a:r>
            <a:endParaRPr lang="en-US" sz="800" dirty="0"/>
          </a:p>
        </p:txBody>
      </p:sp>
      <p:sp>
        <p:nvSpPr>
          <p:cNvPr id="19" name="Text 17"/>
          <p:cNvSpPr/>
          <p:nvPr/>
        </p:nvSpPr>
        <p:spPr>
          <a:xfrm>
            <a:off x="26974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Root Cause Classification</a:t>
            </a:r>
            <a:endParaRPr lang="en-US" sz="1050" dirty="0"/>
          </a:p>
        </p:txBody>
      </p:sp>
      <p:sp>
        <p:nvSpPr>
          <p:cNvPr id="20" name="Text 18"/>
          <p:cNvSpPr/>
          <p:nvPr/>
        </p:nvSpPr>
        <p:spPr>
          <a:xfrm>
            <a:off x="26974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Classifies whether error stems from formatting, strategy mismatch, or copy length.</a:t>
            </a:r>
            <a:endParaRPr lang="en-US" sz="800" dirty="0"/>
          </a:p>
        </p:txBody>
      </p:sp>
      <p:sp>
        <p:nvSpPr>
          <p:cNvPr id="21" name="Shape 19"/>
          <p:cNvSpPr/>
          <p:nvPr/>
        </p:nvSpPr>
        <p:spPr>
          <a:xfrm>
            <a:off x="4663440" y="1645920"/>
            <a:ext cx="1874520" cy="2971800"/>
          </a:xfrm>
          <a:prstGeom prst="roundRect">
            <a:avLst>
              <a:gd name="adj" fmla="val 3902"/>
            </a:avLst>
          </a:prstGeom>
          <a:solidFill>
            <a:srgbClr val="131D31"/>
          </a:solidFill>
          <a:ln w="12700">
            <a:solidFill>
              <a:srgbClr val="233554"/>
            </a:solidFill>
            <a:prstDash val="solid"/>
          </a:ln>
        </p:spPr>
      </p:sp>
      <p:sp>
        <p:nvSpPr>
          <p:cNvPr id="22" name="Shape 20"/>
          <p:cNvSpPr/>
          <p:nvPr/>
        </p:nvSpPr>
        <p:spPr>
          <a:xfrm>
            <a:off x="4663440" y="1645920"/>
            <a:ext cx="1874520" cy="36576"/>
          </a:xfrm>
          <a:prstGeom prst="rect">
            <a:avLst/>
          </a:prstGeom>
          <a:solidFill>
            <a:srgbClr val="0EA5E9"/>
          </a:solidFill>
          <a:ln w="12700">
            <a:solidFill>
              <a:srgbClr val="333333"/>
            </a:solidFill>
            <a:prstDash val="solid"/>
          </a:ln>
        </p:spPr>
      </p:sp>
      <p:sp>
        <p:nvSpPr>
          <p:cNvPr id="23" name="Text 21"/>
          <p:cNvSpPr/>
          <p:nvPr/>
        </p:nvSpPr>
        <p:spPr>
          <a:xfrm>
            <a:off x="4754880" y="1783080"/>
            <a:ext cx="1691640" cy="228600"/>
          </a:xfrm>
          <a:prstGeom prst="rect">
            <a:avLst/>
          </a:prstGeom>
          <a:noFill/>
          <a:ln/>
        </p:spPr>
        <p:txBody>
          <a:bodyPr wrap="square" rtlCol="0" anchor="ctr"/>
          <a:lstStyle/>
          <a:p>
            <a:pPr marL="0" indent="0">
              <a:buNone/>
            </a:pPr>
            <a:r>
              <a:rPr lang="en-US" sz="800" b="1" dirty="0">
                <a:solidFill>
                  <a:srgbClr val="0EA5E9"/>
                </a:solidFill>
                <a:latin typeface="Arial" pitchFamily="34" charset="0"/>
                <a:ea typeface="Arial" pitchFamily="34" charset="-122"/>
                <a:cs typeface="Arial" pitchFamily="34" charset="-120"/>
              </a:rPr>
              <a:t>03. AGENT ROUTER</a:t>
            </a:r>
            <a:endParaRPr lang="en-US" sz="800" dirty="0"/>
          </a:p>
        </p:txBody>
      </p:sp>
      <p:sp>
        <p:nvSpPr>
          <p:cNvPr id="24" name="Text 22"/>
          <p:cNvSpPr/>
          <p:nvPr/>
        </p:nvSpPr>
        <p:spPr>
          <a:xfrm>
            <a:off x="47548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Targeted Re-Prompting</a:t>
            </a:r>
            <a:endParaRPr lang="en-US" sz="1050" dirty="0"/>
          </a:p>
        </p:txBody>
      </p:sp>
      <p:sp>
        <p:nvSpPr>
          <p:cNvPr id="25" name="Text 23"/>
          <p:cNvSpPr/>
          <p:nvPr/>
        </p:nvSpPr>
        <p:spPr>
          <a:xfrm>
            <a:off x="47548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Constructs targeted remediation prompt and commands specific agent to re-execute.</a:t>
            </a:r>
            <a:endParaRPr lang="en-US" sz="800" dirty="0"/>
          </a:p>
        </p:txBody>
      </p:sp>
      <p:sp>
        <p:nvSpPr>
          <p:cNvPr id="26" name="Shape 24"/>
          <p:cNvSpPr/>
          <p:nvPr/>
        </p:nvSpPr>
        <p:spPr>
          <a:xfrm>
            <a:off x="6720840" y="1645920"/>
            <a:ext cx="1874520" cy="2971800"/>
          </a:xfrm>
          <a:prstGeom prst="roundRect">
            <a:avLst>
              <a:gd name="adj" fmla="val 3902"/>
            </a:avLst>
          </a:prstGeom>
          <a:solidFill>
            <a:srgbClr val="131D31"/>
          </a:solidFill>
          <a:ln w="12700">
            <a:solidFill>
              <a:srgbClr val="233554"/>
            </a:solidFill>
            <a:prstDash val="solid"/>
          </a:ln>
        </p:spPr>
      </p:sp>
      <p:sp>
        <p:nvSpPr>
          <p:cNvPr id="27" name="Shape 25"/>
          <p:cNvSpPr/>
          <p:nvPr/>
        </p:nvSpPr>
        <p:spPr>
          <a:xfrm>
            <a:off x="6720840" y="1645920"/>
            <a:ext cx="1874520" cy="36576"/>
          </a:xfrm>
          <a:prstGeom prst="rect">
            <a:avLst/>
          </a:prstGeom>
          <a:solidFill>
            <a:srgbClr val="10B981"/>
          </a:solidFill>
          <a:ln w="12700">
            <a:solidFill>
              <a:srgbClr val="333333"/>
            </a:solidFill>
            <a:prstDash val="solid"/>
          </a:ln>
        </p:spPr>
      </p:sp>
      <p:sp>
        <p:nvSpPr>
          <p:cNvPr id="28" name="Text 26"/>
          <p:cNvSpPr/>
          <p:nvPr/>
        </p:nvSpPr>
        <p:spPr>
          <a:xfrm>
            <a:off x="6812280" y="1783080"/>
            <a:ext cx="1691640" cy="228600"/>
          </a:xfrm>
          <a:prstGeom prst="rect">
            <a:avLst/>
          </a:prstGeom>
          <a:noFill/>
          <a:ln/>
        </p:spPr>
        <p:txBody>
          <a:bodyPr wrap="square" rtlCol="0" anchor="ctr"/>
          <a:lstStyle/>
          <a:p>
            <a:pPr marL="0" indent="0">
              <a:buNone/>
            </a:pPr>
            <a:r>
              <a:rPr lang="en-US" sz="800" b="1" dirty="0">
                <a:solidFill>
                  <a:srgbClr val="10B981"/>
                </a:solidFill>
                <a:latin typeface="Arial" pitchFamily="34" charset="0"/>
                <a:ea typeface="Arial" pitchFamily="34" charset="-122"/>
                <a:cs typeface="Arial" pitchFamily="34" charset="-120"/>
              </a:rPr>
              <a:t>04. AUTO-RESOLVE</a:t>
            </a:r>
            <a:endParaRPr lang="en-US" sz="800" dirty="0"/>
          </a:p>
        </p:txBody>
      </p:sp>
      <p:sp>
        <p:nvSpPr>
          <p:cNvPr id="29" name="Text 27"/>
          <p:cNvSpPr/>
          <p:nvPr/>
        </p:nvSpPr>
        <p:spPr>
          <a:xfrm>
            <a:off x="68122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Zero Pipeline Crash</a:t>
            </a:r>
            <a:endParaRPr lang="en-US" sz="1050" dirty="0"/>
          </a:p>
        </p:txBody>
      </p:sp>
      <p:sp>
        <p:nvSpPr>
          <p:cNvPr id="30" name="Text 28"/>
          <p:cNvSpPr/>
          <p:nvPr/>
        </p:nvSpPr>
        <p:spPr>
          <a:xfrm>
            <a:off x="68122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Resolves 95%+ of edge cases autonomously without requiring human intervention.</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TECHNOLOGY FOUNDATION // PRODUCTION STACK</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The 5-Tier Enterprise Technology Stack</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19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 production-grade infrastructure combining modern frontend frameworks, asynchronous APIs, multi-modal AI, and enterprise storage.</a:t>
            </a:r>
            <a:endParaRPr lang="en-US" sz="1050" dirty="0"/>
          </a:p>
        </p:txBody>
      </p:sp>
      <p:sp>
        <p:nvSpPr>
          <p:cNvPr id="11" name="Shape 9"/>
          <p:cNvSpPr/>
          <p:nvPr/>
        </p:nvSpPr>
        <p:spPr>
          <a:xfrm>
            <a:off x="548640" y="1645920"/>
            <a:ext cx="8046720" cy="512064"/>
          </a:xfrm>
          <a:prstGeom prst="roundRect">
            <a:avLst>
              <a:gd name="adj" fmla="val 14286"/>
            </a:avLst>
          </a:prstGeom>
          <a:solidFill>
            <a:srgbClr val="131D31"/>
          </a:solidFill>
          <a:ln w="12700">
            <a:solidFill>
              <a:srgbClr val="233554"/>
            </a:solidFill>
            <a:prstDash val="solid"/>
          </a:ln>
        </p:spPr>
      </p:sp>
      <p:sp>
        <p:nvSpPr>
          <p:cNvPr id="12" name="Shape 10"/>
          <p:cNvSpPr/>
          <p:nvPr/>
        </p:nvSpPr>
        <p:spPr>
          <a:xfrm>
            <a:off x="548640" y="1645920"/>
            <a:ext cx="54864" cy="512064"/>
          </a:xfrm>
          <a:prstGeom prst="rect">
            <a:avLst/>
          </a:prstGeom>
          <a:solidFill>
            <a:srgbClr val="8B5CF6"/>
          </a:solidFill>
          <a:ln w="12700">
            <a:solidFill>
              <a:srgbClr val="333333"/>
            </a:solidFill>
            <a:prstDash val="solid"/>
          </a:ln>
        </p:spPr>
      </p:sp>
      <p:sp>
        <p:nvSpPr>
          <p:cNvPr id="13" name="Text 11"/>
          <p:cNvSpPr/>
          <p:nvPr/>
        </p:nvSpPr>
        <p:spPr>
          <a:xfrm>
            <a:off x="731520" y="1755648"/>
            <a:ext cx="1005840" cy="274320"/>
          </a:xfrm>
          <a:prstGeom prst="rect">
            <a:avLst/>
          </a:prstGeom>
          <a:noFill/>
          <a:ln/>
        </p:spPr>
        <p:txBody>
          <a:bodyPr wrap="square" rtlCol="0" anchor="ctr"/>
          <a:lstStyle/>
          <a:p>
            <a:pPr marL="0" indent="0">
              <a:buNone/>
            </a:pPr>
            <a:r>
              <a:rPr lang="en-US" sz="900" b="1" dirty="0">
                <a:solidFill>
                  <a:srgbClr val="8B5CF6"/>
                </a:solidFill>
                <a:latin typeface="Arial" pitchFamily="34" charset="0"/>
                <a:ea typeface="Arial" pitchFamily="34" charset="-122"/>
                <a:cs typeface="Arial" pitchFamily="34" charset="-120"/>
              </a:rPr>
              <a:t>LAYER 5</a:t>
            </a:r>
            <a:endParaRPr lang="en-US" sz="900" dirty="0"/>
          </a:p>
        </p:txBody>
      </p:sp>
      <p:sp>
        <p:nvSpPr>
          <p:cNvPr id="14" name="Text 12"/>
          <p:cNvSpPr/>
          <p:nvPr/>
        </p:nvSpPr>
        <p:spPr>
          <a:xfrm>
            <a:off x="1828800" y="1755648"/>
            <a:ext cx="2560320" cy="27432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Presentation &amp; Governance</a:t>
            </a:r>
            <a:endParaRPr lang="en-US" sz="1000" dirty="0"/>
          </a:p>
        </p:txBody>
      </p:sp>
      <p:sp>
        <p:nvSpPr>
          <p:cNvPr id="15" name="Text 13"/>
          <p:cNvSpPr/>
          <p:nvPr/>
        </p:nvSpPr>
        <p:spPr>
          <a:xfrm>
            <a:off x="4389120" y="1755648"/>
            <a:ext cx="4023360" cy="27432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React 18 SPA • TypeScript 5 • TailwindCSS • Real-time WebSockets</a:t>
            </a:r>
            <a:endParaRPr lang="en-US" sz="850" dirty="0"/>
          </a:p>
        </p:txBody>
      </p:sp>
      <p:sp>
        <p:nvSpPr>
          <p:cNvPr id="16" name="Shape 14"/>
          <p:cNvSpPr/>
          <p:nvPr/>
        </p:nvSpPr>
        <p:spPr>
          <a:xfrm>
            <a:off x="548640" y="2231136"/>
            <a:ext cx="8046720" cy="512064"/>
          </a:xfrm>
          <a:prstGeom prst="roundRect">
            <a:avLst>
              <a:gd name="adj" fmla="val 14286"/>
            </a:avLst>
          </a:prstGeom>
          <a:solidFill>
            <a:srgbClr val="131D31"/>
          </a:solidFill>
          <a:ln w="12700">
            <a:solidFill>
              <a:srgbClr val="233554"/>
            </a:solidFill>
            <a:prstDash val="solid"/>
          </a:ln>
        </p:spPr>
      </p:sp>
      <p:sp>
        <p:nvSpPr>
          <p:cNvPr id="17" name="Shape 15"/>
          <p:cNvSpPr/>
          <p:nvPr/>
        </p:nvSpPr>
        <p:spPr>
          <a:xfrm>
            <a:off x="548640" y="2231136"/>
            <a:ext cx="54864" cy="512064"/>
          </a:xfrm>
          <a:prstGeom prst="rect">
            <a:avLst/>
          </a:prstGeom>
          <a:solidFill>
            <a:srgbClr val="6366F1"/>
          </a:solidFill>
          <a:ln w="12700">
            <a:solidFill>
              <a:srgbClr val="333333"/>
            </a:solidFill>
            <a:prstDash val="solid"/>
          </a:ln>
        </p:spPr>
      </p:sp>
      <p:sp>
        <p:nvSpPr>
          <p:cNvPr id="18" name="Text 16"/>
          <p:cNvSpPr/>
          <p:nvPr/>
        </p:nvSpPr>
        <p:spPr>
          <a:xfrm>
            <a:off x="731520" y="2340864"/>
            <a:ext cx="1005840" cy="274320"/>
          </a:xfrm>
          <a:prstGeom prst="rect">
            <a:avLst/>
          </a:prstGeom>
          <a:noFill/>
          <a:ln/>
        </p:spPr>
        <p:txBody>
          <a:bodyPr wrap="square" rtlCol="0" anchor="ctr"/>
          <a:lstStyle/>
          <a:p>
            <a:pPr marL="0" indent="0">
              <a:buNone/>
            </a:pPr>
            <a:r>
              <a:rPr lang="en-US" sz="900" b="1" dirty="0">
                <a:solidFill>
                  <a:srgbClr val="6366F1"/>
                </a:solidFill>
                <a:latin typeface="Arial" pitchFamily="34" charset="0"/>
                <a:ea typeface="Arial" pitchFamily="34" charset="-122"/>
                <a:cs typeface="Arial" pitchFamily="34" charset="-120"/>
              </a:rPr>
              <a:t>LAYER 4</a:t>
            </a:r>
            <a:endParaRPr lang="en-US" sz="900" dirty="0"/>
          </a:p>
        </p:txBody>
      </p:sp>
      <p:sp>
        <p:nvSpPr>
          <p:cNvPr id="19" name="Text 17"/>
          <p:cNvSpPr/>
          <p:nvPr/>
        </p:nvSpPr>
        <p:spPr>
          <a:xfrm>
            <a:off x="1828800" y="2340864"/>
            <a:ext cx="2560320" cy="27432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Orchestration &amp; Gateway</a:t>
            </a:r>
            <a:endParaRPr lang="en-US" sz="1000" dirty="0"/>
          </a:p>
        </p:txBody>
      </p:sp>
      <p:sp>
        <p:nvSpPr>
          <p:cNvPr id="20" name="Text 18"/>
          <p:cNvSpPr/>
          <p:nvPr/>
        </p:nvSpPr>
        <p:spPr>
          <a:xfrm>
            <a:off x="4389120" y="2340864"/>
            <a:ext cx="4023360" cy="27432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FastAPI REST Gateway • Celery Workers • CrewAI DAG • Redis 7 Pub/Sub</a:t>
            </a:r>
            <a:endParaRPr lang="en-US" sz="850" dirty="0"/>
          </a:p>
        </p:txBody>
      </p:sp>
      <p:sp>
        <p:nvSpPr>
          <p:cNvPr id="21" name="Shape 19"/>
          <p:cNvSpPr/>
          <p:nvPr/>
        </p:nvSpPr>
        <p:spPr>
          <a:xfrm>
            <a:off x="548640" y="2816352"/>
            <a:ext cx="8046720" cy="512064"/>
          </a:xfrm>
          <a:prstGeom prst="roundRect">
            <a:avLst>
              <a:gd name="adj" fmla="val 14286"/>
            </a:avLst>
          </a:prstGeom>
          <a:solidFill>
            <a:srgbClr val="131D31"/>
          </a:solidFill>
          <a:ln w="12700">
            <a:solidFill>
              <a:srgbClr val="233554"/>
            </a:solidFill>
            <a:prstDash val="solid"/>
          </a:ln>
        </p:spPr>
      </p:sp>
      <p:sp>
        <p:nvSpPr>
          <p:cNvPr id="22" name="Shape 20"/>
          <p:cNvSpPr/>
          <p:nvPr/>
        </p:nvSpPr>
        <p:spPr>
          <a:xfrm>
            <a:off x="548640" y="2816352"/>
            <a:ext cx="54864" cy="512064"/>
          </a:xfrm>
          <a:prstGeom prst="rect">
            <a:avLst/>
          </a:prstGeom>
          <a:solidFill>
            <a:srgbClr val="10B981"/>
          </a:solidFill>
          <a:ln w="12700">
            <a:solidFill>
              <a:srgbClr val="333333"/>
            </a:solidFill>
            <a:prstDash val="solid"/>
          </a:ln>
        </p:spPr>
      </p:sp>
      <p:sp>
        <p:nvSpPr>
          <p:cNvPr id="23" name="Text 21"/>
          <p:cNvSpPr/>
          <p:nvPr/>
        </p:nvSpPr>
        <p:spPr>
          <a:xfrm>
            <a:off x="731520" y="2926080"/>
            <a:ext cx="1005840" cy="274320"/>
          </a:xfrm>
          <a:prstGeom prst="rect">
            <a:avLst/>
          </a:prstGeom>
          <a:noFill/>
          <a:ln/>
        </p:spPr>
        <p:txBody>
          <a:bodyPr wrap="square" rtlCol="0" anchor="ctr"/>
          <a:lstStyle/>
          <a:p>
            <a:pPr marL="0" indent="0">
              <a:buNone/>
            </a:pPr>
            <a:r>
              <a:rPr lang="en-US" sz="900" b="1" dirty="0">
                <a:solidFill>
                  <a:srgbClr val="10B981"/>
                </a:solidFill>
                <a:latin typeface="Arial" pitchFamily="34" charset="0"/>
                <a:ea typeface="Arial" pitchFamily="34" charset="-122"/>
                <a:cs typeface="Arial" pitchFamily="34" charset="-120"/>
              </a:rPr>
              <a:t>LAYER 3</a:t>
            </a:r>
            <a:endParaRPr lang="en-US" sz="900" dirty="0"/>
          </a:p>
        </p:txBody>
      </p:sp>
      <p:sp>
        <p:nvSpPr>
          <p:cNvPr id="24" name="Text 22"/>
          <p:cNvSpPr/>
          <p:nvPr/>
        </p:nvSpPr>
        <p:spPr>
          <a:xfrm>
            <a:off x="1828800" y="2926080"/>
            <a:ext cx="2560320" cy="27432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Multi-Modal AI Engine</a:t>
            </a:r>
            <a:endParaRPr lang="en-US" sz="1000" dirty="0"/>
          </a:p>
        </p:txBody>
      </p:sp>
      <p:sp>
        <p:nvSpPr>
          <p:cNvPr id="25" name="Text 23"/>
          <p:cNvSpPr/>
          <p:nvPr/>
        </p:nvSpPr>
        <p:spPr>
          <a:xfrm>
            <a:off x="4389120" y="2926080"/>
            <a:ext cx="4023360" cy="27432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OpenAI GPT-4o • DALL·E 3 • CLIP-ViT B/32 • PyTorch PPO Reinforcement Learning</a:t>
            </a:r>
            <a:endParaRPr lang="en-US" sz="850" dirty="0"/>
          </a:p>
        </p:txBody>
      </p:sp>
      <p:sp>
        <p:nvSpPr>
          <p:cNvPr id="26" name="Shape 24"/>
          <p:cNvSpPr/>
          <p:nvPr/>
        </p:nvSpPr>
        <p:spPr>
          <a:xfrm>
            <a:off x="548640" y="3401568"/>
            <a:ext cx="8046720" cy="512064"/>
          </a:xfrm>
          <a:prstGeom prst="roundRect">
            <a:avLst>
              <a:gd name="adj" fmla="val 14286"/>
            </a:avLst>
          </a:prstGeom>
          <a:solidFill>
            <a:srgbClr val="131D31"/>
          </a:solidFill>
          <a:ln w="12700">
            <a:solidFill>
              <a:srgbClr val="233554"/>
            </a:solidFill>
            <a:prstDash val="solid"/>
          </a:ln>
        </p:spPr>
      </p:sp>
      <p:sp>
        <p:nvSpPr>
          <p:cNvPr id="27" name="Shape 25"/>
          <p:cNvSpPr/>
          <p:nvPr/>
        </p:nvSpPr>
        <p:spPr>
          <a:xfrm>
            <a:off x="548640" y="3401568"/>
            <a:ext cx="54864" cy="512064"/>
          </a:xfrm>
          <a:prstGeom prst="rect">
            <a:avLst/>
          </a:prstGeom>
          <a:solidFill>
            <a:srgbClr val="0EA5E9"/>
          </a:solidFill>
          <a:ln w="12700">
            <a:solidFill>
              <a:srgbClr val="333333"/>
            </a:solidFill>
            <a:prstDash val="solid"/>
          </a:ln>
        </p:spPr>
      </p:sp>
      <p:sp>
        <p:nvSpPr>
          <p:cNvPr id="28" name="Text 26"/>
          <p:cNvSpPr/>
          <p:nvPr/>
        </p:nvSpPr>
        <p:spPr>
          <a:xfrm>
            <a:off x="731520" y="3511296"/>
            <a:ext cx="1005840" cy="274320"/>
          </a:xfrm>
          <a:prstGeom prst="rect">
            <a:avLst/>
          </a:prstGeom>
          <a:noFill/>
          <a:ln/>
        </p:spPr>
        <p:txBody>
          <a:bodyPr wrap="square" rtlCol="0" anchor="ctr"/>
          <a:lstStyle/>
          <a:p>
            <a:pPr marL="0" indent="0">
              <a:buNone/>
            </a:pPr>
            <a:r>
              <a:rPr lang="en-US" sz="900" b="1" dirty="0">
                <a:solidFill>
                  <a:srgbClr val="0EA5E9"/>
                </a:solidFill>
                <a:latin typeface="Arial" pitchFamily="34" charset="0"/>
                <a:ea typeface="Arial" pitchFamily="34" charset="-122"/>
                <a:cs typeface="Arial" pitchFamily="34" charset="-120"/>
              </a:rPr>
              <a:t>LAYER 2</a:t>
            </a:r>
            <a:endParaRPr lang="en-US" sz="900" dirty="0"/>
          </a:p>
        </p:txBody>
      </p:sp>
      <p:sp>
        <p:nvSpPr>
          <p:cNvPr id="29" name="Text 27"/>
          <p:cNvSpPr/>
          <p:nvPr/>
        </p:nvSpPr>
        <p:spPr>
          <a:xfrm>
            <a:off x="1828800" y="3511296"/>
            <a:ext cx="2560320" cy="27432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Validation &amp; Correction</a:t>
            </a:r>
            <a:endParaRPr lang="en-US" sz="1000" dirty="0"/>
          </a:p>
        </p:txBody>
      </p:sp>
      <p:sp>
        <p:nvSpPr>
          <p:cNvPr id="30" name="Text 28"/>
          <p:cNvSpPr/>
          <p:nvPr/>
        </p:nvSpPr>
        <p:spPr>
          <a:xfrm>
            <a:off x="4389120" y="3511296"/>
            <a:ext cx="4023360" cy="27432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Pydantic v2 Type Guards • SCS / CRS / VCAS Rubrics • Constraint Guards</a:t>
            </a:r>
            <a:endParaRPr lang="en-US" sz="850" dirty="0"/>
          </a:p>
        </p:txBody>
      </p:sp>
      <p:sp>
        <p:nvSpPr>
          <p:cNvPr id="31" name="Shape 29"/>
          <p:cNvSpPr/>
          <p:nvPr/>
        </p:nvSpPr>
        <p:spPr>
          <a:xfrm>
            <a:off x="548640" y="3986784"/>
            <a:ext cx="8046720" cy="512064"/>
          </a:xfrm>
          <a:prstGeom prst="roundRect">
            <a:avLst>
              <a:gd name="adj" fmla="val 14286"/>
            </a:avLst>
          </a:prstGeom>
          <a:solidFill>
            <a:srgbClr val="131D31"/>
          </a:solidFill>
          <a:ln w="12700">
            <a:solidFill>
              <a:srgbClr val="233554"/>
            </a:solidFill>
            <a:prstDash val="solid"/>
          </a:ln>
        </p:spPr>
      </p:sp>
      <p:sp>
        <p:nvSpPr>
          <p:cNvPr id="32" name="Shape 30"/>
          <p:cNvSpPr/>
          <p:nvPr/>
        </p:nvSpPr>
        <p:spPr>
          <a:xfrm>
            <a:off x="548640" y="3986784"/>
            <a:ext cx="54864" cy="512064"/>
          </a:xfrm>
          <a:prstGeom prst="rect">
            <a:avLst/>
          </a:prstGeom>
          <a:solidFill>
            <a:srgbClr val="F59E0B"/>
          </a:solidFill>
          <a:ln w="12700">
            <a:solidFill>
              <a:srgbClr val="333333"/>
            </a:solidFill>
            <a:prstDash val="solid"/>
          </a:ln>
        </p:spPr>
      </p:sp>
      <p:sp>
        <p:nvSpPr>
          <p:cNvPr id="33" name="Text 31"/>
          <p:cNvSpPr/>
          <p:nvPr/>
        </p:nvSpPr>
        <p:spPr>
          <a:xfrm>
            <a:off x="731520" y="4096512"/>
            <a:ext cx="1005840" cy="274320"/>
          </a:xfrm>
          <a:prstGeom prst="rect">
            <a:avLst/>
          </a:prstGeom>
          <a:noFill/>
          <a:ln/>
        </p:spPr>
        <p:txBody>
          <a:bodyPr wrap="square" rtlCol="0" anchor="ctr"/>
          <a:lstStyle/>
          <a:p>
            <a:pPr marL="0" indent="0">
              <a:buNone/>
            </a:pPr>
            <a:r>
              <a:rPr lang="en-US" sz="900" b="1" dirty="0">
                <a:solidFill>
                  <a:srgbClr val="F59E0B"/>
                </a:solidFill>
                <a:latin typeface="Arial" pitchFamily="34" charset="0"/>
                <a:ea typeface="Arial" pitchFamily="34" charset="-122"/>
                <a:cs typeface="Arial" pitchFamily="34" charset="-120"/>
              </a:rPr>
              <a:t>LAYER 1</a:t>
            </a:r>
            <a:endParaRPr lang="en-US" sz="900" dirty="0"/>
          </a:p>
        </p:txBody>
      </p:sp>
      <p:sp>
        <p:nvSpPr>
          <p:cNvPr id="34" name="Text 32"/>
          <p:cNvSpPr/>
          <p:nvPr/>
        </p:nvSpPr>
        <p:spPr>
          <a:xfrm>
            <a:off x="1828800" y="4096512"/>
            <a:ext cx="2560320" cy="27432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Data &amp; Storage Layer</a:t>
            </a:r>
            <a:endParaRPr lang="en-US" sz="1000" dirty="0"/>
          </a:p>
        </p:txBody>
      </p:sp>
      <p:sp>
        <p:nvSpPr>
          <p:cNvPr id="35" name="Text 33"/>
          <p:cNvSpPr/>
          <p:nvPr/>
        </p:nvSpPr>
        <p:spPr>
          <a:xfrm>
            <a:off x="4389120" y="4096512"/>
            <a:ext cx="4023360" cy="27432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PostgreSQL 15 (Relational) • MongoDB 7 (Docs) • Qdrant (Vectors) • Cloudinary CDN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GOVERNANCE &amp; SAFETY // CONTROL GATEWAY</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Enterprise Control: Human-in-the-Loop Governance</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20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Enterprise safety without bottlenecking velocity. Human directors inspect, approve, or refine campaigns with immutable audit trails.</a:t>
            </a:r>
            <a:endParaRPr lang="en-US" sz="1050" dirty="0"/>
          </a:p>
        </p:txBody>
      </p:sp>
      <p:sp>
        <p:nvSpPr>
          <p:cNvPr id="11" name="Shape 9"/>
          <p:cNvSpPr/>
          <p:nvPr/>
        </p:nvSpPr>
        <p:spPr>
          <a:xfrm>
            <a:off x="548640" y="1645920"/>
            <a:ext cx="1874520" cy="2971800"/>
          </a:xfrm>
          <a:prstGeom prst="roundRect">
            <a:avLst>
              <a:gd name="adj" fmla="val 3902"/>
            </a:avLst>
          </a:prstGeom>
          <a:solidFill>
            <a:srgbClr val="131D31"/>
          </a:solidFill>
          <a:ln w="12700">
            <a:solidFill>
              <a:srgbClr val="233554"/>
            </a:solidFill>
            <a:prstDash val="solid"/>
          </a:ln>
        </p:spPr>
      </p:sp>
      <p:sp>
        <p:nvSpPr>
          <p:cNvPr id="12" name="Shape 10"/>
          <p:cNvSpPr/>
          <p:nvPr/>
        </p:nvSpPr>
        <p:spPr>
          <a:xfrm>
            <a:off x="548640" y="1645920"/>
            <a:ext cx="1874520" cy="36576"/>
          </a:xfrm>
          <a:prstGeom prst="rect">
            <a:avLst/>
          </a:prstGeom>
          <a:solidFill>
            <a:srgbClr val="10B981"/>
          </a:solidFill>
          <a:ln w="12700">
            <a:solidFill>
              <a:srgbClr val="333333"/>
            </a:solidFill>
            <a:prstDash val="solid"/>
          </a:ln>
        </p:spPr>
      </p:sp>
      <p:sp>
        <p:nvSpPr>
          <p:cNvPr id="13" name="Text 11"/>
          <p:cNvSpPr/>
          <p:nvPr/>
        </p:nvSpPr>
        <p:spPr>
          <a:xfrm>
            <a:off x="640080" y="1783080"/>
            <a:ext cx="1691640" cy="411480"/>
          </a:xfrm>
          <a:prstGeom prst="rect">
            <a:avLst/>
          </a:prstGeom>
          <a:noFill/>
          <a:ln/>
        </p:spPr>
        <p:txBody>
          <a:bodyPr wrap="square" rtlCol="0" anchor="ctr"/>
          <a:lstStyle/>
          <a:p>
            <a:pPr marL="0" indent="0">
              <a:buNone/>
            </a:pPr>
            <a:r>
              <a:rPr lang="en-US" sz="2400" b="1" dirty="0">
                <a:solidFill>
                  <a:srgbClr val="10B981"/>
                </a:solidFill>
                <a:latin typeface="Arial" pitchFamily="34" charset="0"/>
                <a:ea typeface="Arial" pitchFamily="34" charset="-122"/>
                <a:cs typeface="Arial" pitchFamily="34" charset="-120"/>
              </a:rPr>
              <a:t>01</a:t>
            </a:r>
            <a:endParaRPr lang="en-US" sz="2400" dirty="0"/>
          </a:p>
        </p:txBody>
      </p:sp>
      <p:sp>
        <p:nvSpPr>
          <p:cNvPr id="14" name="Text 12"/>
          <p:cNvSpPr/>
          <p:nvPr/>
        </p:nvSpPr>
        <p:spPr>
          <a:xfrm>
            <a:off x="640080" y="22860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AI Proposes</a:t>
            </a:r>
            <a:endParaRPr lang="en-US" sz="1050" dirty="0"/>
          </a:p>
        </p:txBody>
      </p:sp>
      <p:sp>
        <p:nvSpPr>
          <p:cNvPr id="15" name="Text 13"/>
          <p:cNvSpPr/>
          <p:nvPr/>
        </p:nvSpPr>
        <p:spPr>
          <a:xfrm>
            <a:off x="640080" y="2651760"/>
            <a:ext cx="1691640" cy="182880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Specialized agents assemble complete campaign package with scorecards.</a:t>
            </a:r>
            <a:endParaRPr lang="en-US" sz="800" dirty="0"/>
          </a:p>
        </p:txBody>
      </p:sp>
      <p:sp>
        <p:nvSpPr>
          <p:cNvPr id="16" name="Shape 14"/>
          <p:cNvSpPr/>
          <p:nvPr/>
        </p:nvSpPr>
        <p:spPr>
          <a:xfrm>
            <a:off x="2606040" y="1645920"/>
            <a:ext cx="1874520" cy="2971800"/>
          </a:xfrm>
          <a:prstGeom prst="roundRect">
            <a:avLst>
              <a:gd name="adj" fmla="val 3902"/>
            </a:avLst>
          </a:prstGeom>
          <a:solidFill>
            <a:srgbClr val="131D31"/>
          </a:solidFill>
          <a:ln w="12700">
            <a:solidFill>
              <a:srgbClr val="233554"/>
            </a:solidFill>
            <a:prstDash val="solid"/>
          </a:ln>
        </p:spPr>
      </p:sp>
      <p:sp>
        <p:nvSpPr>
          <p:cNvPr id="17" name="Shape 15"/>
          <p:cNvSpPr/>
          <p:nvPr/>
        </p:nvSpPr>
        <p:spPr>
          <a:xfrm>
            <a:off x="2606040" y="1645920"/>
            <a:ext cx="1874520" cy="36576"/>
          </a:xfrm>
          <a:prstGeom prst="rect">
            <a:avLst/>
          </a:prstGeom>
          <a:solidFill>
            <a:srgbClr val="0EA5E9"/>
          </a:solidFill>
          <a:ln w="12700">
            <a:solidFill>
              <a:srgbClr val="333333"/>
            </a:solidFill>
            <a:prstDash val="solid"/>
          </a:ln>
        </p:spPr>
      </p:sp>
      <p:sp>
        <p:nvSpPr>
          <p:cNvPr id="18" name="Text 16"/>
          <p:cNvSpPr/>
          <p:nvPr/>
        </p:nvSpPr>
        <p:spPr>
          <a:xfrm>
            <a:off x="2697480" y="1783080"/>
            <a:ext cx="1691640" cy="411480"/>
          </a:xfrm>
          <a:prstGeom prst="rect">
            <a:avLst/>
          </a:prstGeom>
          <a:noFill/>
          <a:ln/>
        </p:spPr>
        <p:txBody>
          <a:bodyPr wrap="square" rtlCol="0" anchor="ctr"/>
          <a:lstStyle/>
          <a:p>
            <a:pPr marL="0" indent="0">
              <a:buNone/>
            </a:pPr>
            <a:r>
              <a:rPr lang="en-US" sz="2400" b="1" dirty="0">
                <a:solidFill>
                  <a:srgbClr val="0EA5E9"/>
                </a:solidFill>
                <a:latin typeface="Arial" pitchFamily="34" charset="0"/>
                <a:ea typeface="Arial" pitchFamily="34" charset="-122"/>
                <a:cs typeface="Arial" pitchFamily="34" charset="-120"/>
              </a:rPr>
              <a:t>02</a:t>
            </a:r>
            <a:endParaRPr lang="en-US" sz="2400" dirty="0"/>
          </a:p>
        </p:txBody>
      </p:sp>
      <p:sp>
        <p:nvSpPr>
          <p:cNvPr id="19" name="Text 17"/>
          <p:cNvSpPr/>
          <p:nvPr/>
        </p:nvSpPr>
        <p:spPr>
          <a:xfrm>
            <a:off x="2697480" y="22860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Executive Review</a:t>
            </a:r>
            <a:endParaRPr lang="en-US" sz="1050" dirty="0"/>
          </a:p>
        </p:txBody>
      </p:sp>
      <p:sp>
        <p:nvSpPr>
          <p:cNvPr id="20" name="Text 18"/>
          <p:cNvSpPr/>
          <p:nvPr/>
        </p:nvSpPr>
        <p:spPr>
          <a:xfrm>
            <a:off x="2697480" y="2651760"/>
            <a:ext cx="1691640" cy="182880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Marketing Director reviews strategy, copy variants, and predicted KPIs.</a:t>
            </a:r>
            <a:endParaRPr lang="en-US" sz="800" dirty="0"/>
          </a:p>
        </p:txBody>
      </p:sp>
      <p:sp>
        <p:nvSpPr>
          <p:cNvPr id="21" name="Shape 19"/>
          <p:cNvSpPr/>
          <p:nvPr/>
        </p:nvSpPr>
        <p:spPr>
          <a:xfrm>
            <a:off x="4663440" y="1645920"/>
            <a:ext cx="1874520" cy="2971800"/>
          </a:xfrm>
          <a:prstGeom prst="roundRect">
            <a:avLst>
              <a:gd name="adj" fmla="val 3902"/>
            </a:avLst>
          </a:prstGeom>
          <a:solidFill>
            <a:srgbClr val="131D31"/>
          </a:solidFill>
          <a:ln w="12700">
            <a:solidFill>
              <a:srgbClr val="233554"/>
            </a:solidFill>
            <a:prstDash val="solid"/>
          </a:ln>
        </p:spPr>
      </p:sp>
      <p:sp>
        <p:nvSpPr>
          <p:cNvPr id="22" name="Shape 20"/>
          <p:cNvSpPr/>
          <p:nvPr/>
        </p:nvSpPr>
        <p:spPr>
          <a:xfrm>
            <a:off x="4663440" y="1645920"/>
            <a:ext cx="1874520" cy="36576"/>
          </a:xfrm>
          <a:prstGeom prst="rect">
            <a:avLst/>
          </a:prstGeom>
          <a:solidFill>
            <a:srgbClr val="8B5CF6"/>
          </a:solidFill>
          <a:ln w="12700">
            <a:solidFill>
              <a:srgbClr val="333333"/>
            </a:solidFill>
            <a:prstDash val="solid"/>
          </a:ln>
        </p:spPr>
      </p:sp>
      <p:sp>
        <p:nvSpPr>
          <p:cNvPr id="23" name="Text 21"/>
          <p:cNvSpPr/>
          <p:nvPr/>
        </p:nvSpPr>
        <p:spPr>
          <a:xfrm>
            <a:off x="4754880" y="1783080"/>
            <a:ext cx="1691640" cy="411480"/>
          </a:xfrm>
          <a:prstGeom prst="rect">
            <a:avLst/>
          </a:prstGeom>
          <a:noFill/>
          <a:ln/>
        </p:spPr>
        <p:txBody>
          <a:bodyPr wrap="square" rtlCol="0" anchor="ctr"/>
          <a:lstStyle/>
          <a:p>
            <a:pPr marL="0" indent="0">
              <a:buNone/>
            </a:pPr>
            <a:r>
              <a:rPr lang="en-US" sz="2400" b="1" dirty="0">
                <a:solidFill>
                  <a:srgbClr val="8B5CF6"/>
                </a:solidFill>
                <a:latin typeface="Arial" pitchFamily="34" charset="0"/>
                <a:ea typeface="Arial" pitchFamily="34" charset="-122"/>
                <a:cs typeface="Arial" pitchFamily="34" charset="-120"/>
              </a:rPr>
              <a:t>03</a:t>
            </a:r>
            <a:endParaRPr lang="en-US" sz="2400" dirty="0"/>
          </a:p>
        </p:txBody>
      </p:sp>
      <p:sp>
        <p:nvSpPr>
          <p:cNvPr id="24" name="Text 22"/>
          <p:cNvSpPr/>
          <p:nvPr/>
        </p:nvSpPr>
        <p:spPr>
          <a:xfrm>
            <a:off x="4754880" y="22860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Decision Gateway</a:t>
            </a:r>
            <a:endParaRPr lang="en-US" sz="1050" dirty="0"/>
          </a:p>
        </p:txBody>
      </p:sp>
      <p:sp>
        <p:nvSpPr>
          <p:cNvPr id="25" name="Text 23"/>
          <p:cNvSpPr/>
          <p:nvPr/>
        </p:nvSpPr>
        <p:spPr>
          <a:xfrm>
            <a:off x="4754880" y="2651760"/>
            <a:ext cx="1691640" cy="182880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One-click Approve, Reject, or enter natural-language change requests.</a:t>
            </a:r>
            <a:endParaRPr lang="en-US" sz="800" dirty="0"/>
          </a:p>
        </p:txBody>
      </p:sp>
      <p:sp>
        <p:nvSpPr>
          <p:cNvPr id="26" name="Shape 24"/>
          <p:cNvSpPr/>
          <p:nvPr/>
        </p:nvSpPr>
        <p:spPr>
          <a:xfrm>
            <a:off x="6720840" y="1645920"/>
            <a:ext cx="1874520" cy="2971800"/>
          </a:xfrm>
          <a:prstGeom prst="roundRect">
            <a:avLst>
              <a:gd name="adj" fmla="val 3902"/>
            </a:avLst>
          </a:prstGeom>
          <a:solidFill>
            <a:srgbClr val="131D31"/>
          </a:solidFill>
          <a:ln w="12700">
            <a:solidFill>
              <a:srgbClr val="233554"/>
            </a:solidFill>
            <a:prstDash val="solid"/>
          </a:ln>
        </p:spPr>
      </p:sp>
      <p:sp>
        <p:nvSpPr>
          <p:cNvPr id="27" name="Shape 25"/>
          <p:cNvSpPr/>
          <p:nvPr/>
        </p:nvSpPr>
        <p:spPr>
          <a:xfrm>
            <a:off x="6720840" y="1645920"/>
            <a:ext cx="1874520" cy="36576"/>
          </a:xfrm>
          <a:prstGeom prst="rect">
            <a:avLst/>
          </a:prstGeom>
          <a:solidFill>
            <a:srgbClr val="F59E0B"/>
          </a:solidFill>
          <a:ln w="12700">
            <a:solidFill>
              <a:srgbClr val="333333"/>
            </a:solidFill>
            <a:prstDash val="solid"/>
          </a:ln>
        </p:spPr>
      </p:sp>
      <p:sp>
        <p:nvSpPr>
          <p:cNvPr id="28" name="Text 26"/>
          <p:cNvSpPr/>
          <p:nvPr/>
        </p:nvSpPr>
        <p:spPr>
          <a:xfrm>
            <a:off x="6812280" y="1783080"/>
            <a:ext cx="1691640" cy="411480"/>
          </a:xfrm>
          <a:prstGeom prst="rect">
            <a:avLst/>
          </a:prstGeom>
          <a:noFill/>
          <a:ln/>
        </p:spPr>
        <p:txBody>
          <a:bodyPr wrap="square" rtlCol="0" anchor="ctr"/>
          <a:lstStyle/>
          <a:p>
            <a:pPr marL="0" indent="0">
              <a:buNone/>
            </a:pPr>
            <a:r>
              <a:rPr lang="en-US" sz="2400" b="1" dirty="0">
                <a:solidFill>
                  <a:srgbClr val="F59E0B"/>
                </a:solidFill>
                <a:latin typeface="Arial" pitchFamily="34" charset="0"/>
                <a:ea typeface="Arial" pitchFamily="34" charset="-122"/>
                <a:cs typeface="Arial" pitchFamily="34" charset="-120"/>
              </a:rPr>
              <a:t>04</a:t>
            </a:r>
            <a:endParaRPr lang="en-US" sz="2400" dirty="0"/>
          </a:p>
        </p:txBody>
      </p:sp>
      <p:sp>
        <p:nvSpPr>
          <p:cNvPr id="29" name="Text 27"/>
          <p:cNvSpPr/>
          <p:nvPr/>
        </p:nvSpPr>
        <p:spPr>
          <a:xfrm>
            <a:off x="6812280" y="22860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Surgical Re-Run</a:t>
            </a:r>
            <a:endParaRPr lang="en-US" sz="1050" dirty="0"/>
          </a:p>
        </p:txBody>
      </p:sp>
      <p:sp>
        <p:nvSpPr>
          <p:cNvPr id="30" name="Text 28"/>
          <p:cNvSpPr/>
          <p:nvPr/>
        </p:nvSpPr>
        <p:spPr>
          <a:xfrm>
            <a:off x="6812280" y="2651760"/>
            <a:ext cx="1691640" cy="182880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LLM classifier re-runs ONLY the minimal affected agent subset.</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DISPATCH ENGINE // OMNICHANNEL ADAPTERS</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Multi-Channel Publishing &amp; Ad Network Adapters</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21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Automated campaign dispatch with native platform adapters for Google Ads, Meta Ads, LinkedIn Marketing Solutions, and lifecycle email.</a:t>
            </a:r>
            <a:endParaRPr lang="en-US" sz="1050" dirty="0"/>
          </a:p>
        </p:txBody>
      </p:sp>
      <p:sp>
        <p:nvSpPr>
          <p:cNvPr id="11" name="Shape 9"/>
          <p:cNvSpPr/>
          <p:nvPr/>
        </p:nvSpPr>
        <p:spPr>
          <a:xfrm>
            <a:off x="548640" y="1645920"/>
            <a:ext cx="1874520" cy="2971800"/>
          </a:xfrm>
          <a:prstGeom prst="roundRect">
            <a:avLst>
              <a:gd name="adj" fmla="val 3902"/>
            </a:avLst>
          </a:prstGeom>
          <a:solidFill>
            <a:srgbClr val="131D31"/>
          </a:solidFill>
          <a:ln w="12700">
            <a:solidFill>
              <a:srgbClr val="233554"/>
            </a:solidFill>
            <a:prstDash val="solid"/>
          </a:ln>
        </p:spPr>
      </p:sp>
      <p:sp>
        <p:nvSpPr>
          <p:cNvPr id="12" name="Shape 10"/>
          <p:cNvSpPr/>
          <p:nvPr/>
        </p:nvSpPr>
        <p:spPr>
          <a:xfrm>
            <a:off x="548640" y="1645920"/>
            <a:ext cx="1874520" cy="36576"/>
          </a:xfrm>
          <a:prstGeom prst="rect">
            <a:avLst/>
          </a:prstGeom>
          <a:solidFill>
            <a:srgbClr val="0EA5E9"/>
          </a:solidFill>
          <a:ln w="12700">
            <a:solidFill>
              <a:srgbClr val="333333"/>
            </a:solidFill>
            <a:prstDash val="solid"/>
          </a:ln>
        </p:spPr>
      </p:sp>
      <p:sp>
        <p:nvSpPr>
          <p:cNvPr id="13" name="Shape 11"/>
          <p:cNvSpPr/>
          <p:nvPr/>
        </p:nvSpPr>
        <p:spPr>
          <a:xfrm>
            <a:off x="640080" y="1783080"/>
            <a:ext cx="1691640" cy="201168"/>
          </a:xfrm>
          <a:prstGeom prst="roundRect">
            <a:avLst>
              <a:gd name="adj" fmla="val 22727"/>
            </a:avLst>
          </a:prstGeom>
          <a:solidFill>
            <a:srgbClr val="1E293B"/>
          </a:solidFill>
          <a:ln w="10160">
            <a:solidFill>
              <a:srgbClr val="0EA5E9"/>
            </a:solidFill>
            <a:prstDash val="solid"/>
          </a:ln>
        </p:spPr>
      </p:sp>
      <p:sp>
        <p:nvSpPr>
          <p:cNvPr id="14" name="Text 12"/>
          <p:cNvSpPr/>
          <p:nvPr/>
        </p:nvSpPr>
        <p:spPr>
          <a:xfrm>
            <a:off x="640080" y="1801368"/>
            <a:ext cx="1691640" cy="164592"/>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SEARCH &amp; DISPLAY</a:t>
            </a:r>
            <a:endParaRPr lang="en-US" sz="800" dirty="0"/>
          </a:p>
        </p:txBody>
      </p:sp>
      <p:sp>
        <p:nvSpPr>
          <p:cNvPr id="15" name="Text 13"/>
          <p:cNvSpPr/>
          <p:nvPr/>
        </p:nvSpPr>
        <p:spPr>
          <a:xfrm>
            <a:off x="6400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Google Ads Adapter</a:t>
            </a:r>
            <a:endParaRPr lang="en-US" sz="1050" dirty="0"/>
          </a:p>
        </p:txBody>
      </p:sp>
      <p:sp>
        <p:nvSpPr>
          <p:cNvPr id="16" name="Text 14"/>
          <p:cNvSpPr/>
          <p:nvPr/>
        </p:nvSpPr>
        <p:spPr>
          <a:xfrm>
            <a:off x="6400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Automatic RSA keyword grouping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Bidding strategy sync</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Negative keyword injection</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Budget scheduling</a:t>
            </a:r>
            <a:endParaRPr lang="en-US" sz="800" dirty="0"/>
          </a:p>
        </p:txBody>
      </p:sp>
      <p:sp>
        <p:nvSpPr>
          <p:cNvPr id="17" name="Shape 15"/>
          <p:cNvSpPr/>
          <p:nvPr/>
        </p:nvSpPr>
        <p:spPr>
          <a:xfrm>
            <a:off x="2606040" y="1645920"/>
            <a:ext cx="1874520" cy="2971800"/>
          </a:xfrm>
          <a:prstGeom prst="roundRect">
            <a:avLst>
              <a:gd name="adj" fmla="val 3902"/>
            </a:avLst>
          </a:prstGeom>
          <a:solidFill>
            <a:srgbClr val="131D31"/>
          </a:solidFill>
          <a:ln w="12700">
            <a:solidFill>
              <a:srgbClr val="233554"/>
            </a:solidFill>
            <a:prstDash val="solid"/>
          </a:ln>
        </p:spPr>
      </p:sp>
      <p:sp>
        <p:nvSpPr>
          <p:cNvPr id="18" name="Shape 16"/>
          <p:cNvSpPr/>
          <p:nvPr/>
        </p:nvSpPr>
        <p:spPr>
          <a:xfrm>
            <a:off x="2606040" y="1645920"/>
            <a:ext cx="1874520" cy="36576"/>
          </a:xfrm>
          <a:prstGeom prst="rect">
            <a:avLst/>
          </a:prstGeom>
          <a:solidFill>
            <a:srgbClr val="10B981"/>
          </a:solidFill>
          <a:ln w="12700">
            <a:solidFill>
              <a:srgbClr val="333333"/>
            </a:solidFill>
            <a:prstDash val="solid"/>
          </a:ln>
        </p:spPr>
      </p:sp>
      <p:sp>
        <p:nvSpPr>
          <p:cNvPr id="19" name="Shape 17"/>
          <p:cNvSpPr/>
          <p:nvPr/>
        </p:nvSpPr>
        <p:spPr>
          <a:xfrm>
            <a:off x="2697480" y="1783080"/>
            <a:ext cx="1691640" cy="201168"/>
          </a:xfrm>
          <a:prstGeom prst="roundRect">
            <a:avLst>
              <a:gd name="adj" fmla="val 22727"/>
            </a:avLst>
          </a:prstGeom>
          <a:solidFill>
            <a:srgbClr val="1E293B"/>
          </a:solidFill>
          <a:ln w="10160">
            <a:solidFill>
              <a:srgbClr val="10B981"/>
            </a:solidFill>
            <a:prstDash val="solid"/>
          </a:ln>
        </p:spPr>
      </p:sp>
      <p:sp>
        <p:nvSpPr>
          <p:cNvPr id="20" name="Text 18"/>
          <p:cNvSpPr/>
          <p:nvPr/>
        </p:nvSpPr>
        <p:spPr>
          <a:xfrm>
            <a:off x="2697480" y="1801368"/>
            <a:ext cx="1691640" cy="164592"/>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FACEBOOK &amp; INSTAGRAM</a:t>
            </a:r>
            <a:endParaRPr lang="en-US" sz="800" dirty="0"/>
          </a:p>
        </p:txBody>
      </p:sp>
      <p:sp>
        <p:nvSpPr>
          <p:cNvPr id="21" name="Text 19"/>
          <p:cNvSpPr/>
          <p:nvPr/>
        </p:nvSpPr>
        <p:spPr>
          <a:xfrm>
            <a:off x="26974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Meta Ads Adapter</a:t>
            </a:r>
            <a:endParaRPr lang="en-US" sz="1050" dirty="0"/>
          </a:p>
        </p:txBody>
      </p:sp>
      <p:sp>
        <p:nvSpPr>
          <p:cNvPr id="22" name="Text 20"/>
          <p:cNvSpPr/>
          <p:nvPr/>
        </p:nvSpPr>
        <p:spPr>
          <a:xfrm>
            <a:off x="26974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Feed &amp; Story creative formatting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Advantage+ audience sync</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Carousel asset packaging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Dynamic creative testing</a:t>
            </a:r>
            <a:endParaRPr lang="en-US" sz="800" dirty="0"/>
          </a:p>
        </p:txBody>
      </p:sp>
      <p:sp>
        <p:nvSpPr>
          <p:cNvPr id="23" name="Shape 21"/>
          <p:cNvSpPr/>
          <p:nvPr/>
        </p:nvSpPr>
        <p:spPr>
          <a:xfrm>
            <a:off x="4663440" y="1645920"/>
            <a:ext cx="1874520" cy="2971800"/>
          </a:xfrm>
          <a:prstGeom prst="roundRect">
            <a:avLst>
              <a:gd name="adj" fmla="val 3902"/>
            </a:avLst>
          </a:prstGeom>
          <a:solidFill>
            <a:srgbClr val="131D31"/>
          </a:solidFill>
          <a:ln w="12700">
            <a:solidFill>
              <a:srgbClr val="233554"/>
            </a:solidFill>
            <a:prstDash val="solid"/>
          </a:ln>
        </p:spPr>
      </p:sp>
      <p:sp>
        <p:nvSpPr>
          <p:cNvPr id="24" name="Shape 22"/>
          <p:cNvSpPr/>
          <p:nvPr/>
        </p:nvSpPr>
        <p:spPr>
          <a:xfrm>
            <a:off x="4663440" y="1645920"/>
            <a:ext cx="1874520" cy="36576"/>
          </a:xfrm>
          <a:prstGeom prst="rect">
            <a:avLst/>
          </a:prstGeom>
          <a:solidFill>
            <a:srgbClr val="6366F1"/>
          </a:solidFill>
          <a:ln w="12700">
            <a:solidFill>
              <a:srgbClr val="333333"/>
            </a:solidFill>
            <a:prstDash val="solid"/>
          </a:ln>
        </p:spPr>
      </p:sp>
      <p:sp>
        <p:nvSpPr>
          <p:cNvPr id="25" name="Shape 23"/>
          <p:cNvSpPr/>
          <p:nvPr/>
        </p:nvSpPr>
        <p:spPr>
          <a:xfrm>
            <a:off x="4754880" y="1783080"/>
            <a:ext cx="1691640" cy="201168"/>
          </a:xfrm>
          <a:prstGeom prst="roundRect">
            <a:avLst>
              <a:gd name="adj" fmla="val 22727"/>
            </a:avLst>
          </a:prstGeom>
          <a:solidFill>
            <a:srgbClr val="1E293B"/>
          </a:solidFill>
          <a:ln w="10160">
            <a:solidFill>
              <a:srgbClr val="6366F1"/>
            </a:solidFill>
            <a:prstDash val="solid"/>
          </a:ln>
        </p:spPr>
      </p:sp>
      <p:sp>
        <p:nvSpPr>
          <p:cNvPr id="26" name="Text 24"/>
          <p:cNvSpPr/>
          <p:nvPr/>
        </p:nvSpPr>
        <p:spPr>
          <a:xfrm>
            <a:off x="4754880" y="1801368"/>
            <a:ext cx="1691640" cy="164592"/>
          </a:xfrm>
          <a:prstGeom prst="rect">
            <a:avLst/>
          </a:prstGeom>
          <a:noFill/>
          <a:ln/>
        </p:spPr>
        <p:txBody>
          <a:bodyPr wrap="square" rtlCol="0" anchor="ctr"/>
          <a:lstStyle/>
          <a:p>
            <a:pPr marL="0" indent="0" algn="ctr">
              <a:buNone/>
            </a:pPr>
            <a:r>
              <a:rPr lang="en-US" sz="800" b="1" dirty="0">
                <a:solidFill>
                  <a:srgbClr val="6366F1"/>
                </a:solidFill>
                <a:latin typeface="Arial" pitchFamily="34" charset="0"/>
                <a:ea typeface="Arial" pitchFamily="34" charset="-122"/>
                <a:cs typeface="Arial" pitchFamily="34" charset="-120"/>
              </a:rPr>
              <a:t>B2B MARKETING</a:t>
            </a:r>
            <a:endParaRPr lang="en-US" sz="800" dirty="0"/>
          </a:p>
        </p:txBody>
      </p:sp>
      <p:sp>
        <p:nvSpPr>
          <p:cNvPr id="27" name="Text 25"/>
          <p:cNvSpPr/>
          <p:nvPr/>
        </p:nvSpPr>
        <p:spPr>
          <a:xfrm>
            <a:off x="47548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LinkedIn Adapter</a:t>
            </a:r>
            <a:endParaRPr lang="en-US" sz="1050" dirty="0"/>
          </a:p>
        </p:txBody>
      </p:sp>
      <p:sp>
        <p:nvSpPr>
          <p:cNvPr id="28" name="Text 26"/>
          <p:cNvSpPr/>
          <p:nvPr/>
        </p:nvSpPr>
        <p:spPr>
          <a:xfrm>
            <a:off x="47548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Matched audience targeting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Sponsored thought leadership</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Lead gen form integration</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Account-based marketing</a:t>
            </a:r>
            <a:endParaRPr lang="en-US" sz="800" dirty="0"/>
          </a:p>
        </p:txBody>
      </p:sp>
      <p:sp>
        <p:nvSpPr>
          <p:cNvPr id="29" name="Shape 27"/>
          <p:cNvSpPr/>
          <p:nvPr/>
        </p:nvSpPr>
        <p:spPr>
          <a:xfrm>
            <a:off x="6720840" y="1645920"/>
            <a:ext cx="1874520" cy="2971800"/>
          </a:xfrm>
          <a:prstGeom prst="roundRect">
            <a:avLst>
              <a:gd name="adj" fmla="val 3902"/>
            </a:avLst>
          </a:prstGeom>
          <a:solidFill>
            <a:srgbClr val="131D31"/>
          </a:solidFill>
          <a:ln w="12700">
            <a:solidFill>
              <a:srgbClr val="233554"/>
            </a:solidFill>
            <a:prstDash val="solid"/>
          </a:ln>
        </p:spPr>
      </p:sp>
      <p:sp>
        <p:nvSpPr>
          <p:cNvPr id="30" name="Shape 28"/>
          <p:cNvSpPr/>
          <p:nvPr/>
        </p:nvSpPr>
        <p:spPr>
          <a:xfrm>
            <a:off x="6720840" y="1645920"/>
            <a:ext cx="1874520" cy="36576"/>
          </a:xfrm>
          <a:prstGeom prst="rect">
            <a:avLst/>
          </a:prstGeom>
          <a:solidFill>
            <a:srgbClr val="F59E0B"/>
          </a:solidFill>
          <a:ln w="12700">
            <a:solidFill>
              <a:srgbClr val="333333"/>
            </a:solidFill>
            <a:prstDash val="solid"/>
          </a:ln>
        </p:spPr>
      </p:sp>
      <p:sp>
        <p:nvSpPr>
          <p:cNvPr id="31" name="Shape 29"/>
          <p:cNvSpPr/>
          <p:nvPr/>
        </p:nvSpPr>
        <p:spPr>
          <a:xfrm>
            <a:off x="6812280" y="1783080"/>
            <a:ext cx="1691640" cy="201168"/>
          </a:xfrm>
          <a:prstGeom prst="roundRect">
            <a:avLst>
              <a:gd name="adj" fmla="val 22727"/>
            </a:avLst>
          </a:prstGeom>
          <a:solidFill>
            <a:srgbClr val="1E293B"/>
          </a:solidFill>
          <a:ln w="10160">
            <a:solidFill>
              <a:srgbClr val="F59E0B"/>
            </a:solidFill>
            <a:prstDash val="solid"/>
          </a:ln>
        </p:spPr>
      </p:sp>
      <p:sp>
        <p:nvSpPr>
          <p:cNvPr id="32" name="Text 30"/>
          <p:cNvSpPr/>
          <p:nvPr/>
        </p:nvSpPr>
        <p:spPr>
          <a:xfrm>
            <a:off x="6812280" y="1801368"/>
            <a:ext cx="1691640" cy="164592"/>
          </a:xfrm>
          <a:prstGeom prst="rect">
            <a:avLst/>
          </a:prstGeom>
          <a:noFill/>
          <a:ln/>
        </p:spPr>
        <p:txBody>
          <a:bodyPr wrap="square" rtlCol="0" anchor="ctr"/>
          <a:lstStyle/>
          <a:p>
            <a:pPr marL="0" indent="0" algn="ctr">
              <a:buNone/>
            </a:pPr>
            <a:r>
              <a:rPr lang="en-US" sz="800" b="1" dirty="0">
                <a:solidFill>
                  <a:srgbClr val="F59E0B"/>
                </a:solidFill>
                <a:latin typeface="Arial" pitchFamily="34" charset="0"/>
                <a:ea typeface="Arial" pitchFamily="34" charset="-122"/>
                <a:cs typeface="Arial" pitchFamily="34" charset="-120"/>
              </a:rPr>
              <a:t>NEWSLETTER &amp; DRIP</a:t>
            </a:r>
            <a:endParaRPr lang="en-US" sz="800" dirty="0"/>
          </a:p>
        </p:txBody>
      </p:sp>
      <p:sp>
        <p:nvSpPr>
          <p:cNvPr id="33" name="Text 31"/>
          <p:cNvSpPr/>
          <p:nvPr/>
        </p:nvSpPr>
        <p:spPr>
          <a:xfrm>
            <a:off x="68122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Lifecycle Email Adapter</a:t>
            </a:r>
            <a:endParaRPr lang="en-US" sz="1050" dirty="0"/>
          </a:p>
        </p:txBody>
      </p:sp>
      <p:sp>
        <p:nvSpPr>
          <p:cNvPr id="34" name="Text 32"/>
          <p:cNvSpPr/>
          <p:nvPr/>
        </p:nvSpPr>
        <p:spPr>
          <a:xfrm>
            <a:off x="68122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Mailchimp / SendGrid sync</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Automated drip delay triggers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Subject line A/B testing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Dynamic persona tagging</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REAL-TIME TELEMETRY // ANOMALY DETECTION</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Live Monitoring &amp; Statistical Anomaly Telemetry</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22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Continuous post-launch auditing protecting ad spend capital against sudden CAC spikes, ad fatigue, and broken landing page conversions.</a:t>
            </a:r>
            <a:endParaRPr lang="en-US" sz="1050" dirty="0"/>
          </a:p>
        </p:txBody>
      </p:sp>
      <p:sp>
        <p:nvSpPr>
          <p:cNvPr id="11" name="Shape 9"/>
          <p:cNvSpPr/>
          <p:nvPr/>
        </p:nvSpPr>
        <p:spPr>
          <a:xfrm>
            <a:off x="548640" y="1658890"/>
            <a:ext cx="1874520" cy="2971800"/>
          </a:xfrm>
          <a:prstGeom prst="roundRect">
            <a:avLst>
              <a:gd name="adj" fmla="val 3902"/>
            </a:avLst>
          </a:prstGeom>
          <a:solidFill>
            <a:srgbClr val="131D31"/>
          </a:solidFill>
          <a:ln w="12700">
            <a:solidFill>
              <a:srgbClr val="233554"/>
            </a:solidFill>
            <a:prstDash val="solid"/>
          </a:ln>
        </p:spPr>
      </p:sp>
      <p:sp>
        <p:nvSpPr>
          <p:cNvPr id="12" name="Shape 10"/>
          <p:cNvSpPr/>
          <p:nvPr/>
        </p:nvSpPr>
        <p:spPr>
          <a:xfrm>
            <a:off x="548640" y="1645920"/>
            <a:ext cx="1874520" cy="36576"/>
          </a:xfrm>
          <a:prstGeom prst="rect">
            <a:avLst/>
          </a:prstGeom>
          <a:solidFill>
            <a:srgbClr val="0EA5E9"/>
          </a:solidFill>
          <a:ln w="12700">
            <a:solidFill>
              <a:srgbClr val="333333"/>
            </a:solidFill>
            <a:prstDash val="solid"/>
          </a:ln>
        </p:spPr>
      </p:sp>
      <p:sp>
        <p:nvSpPr>
          <p:cNvPr id="13" name="Shape 11"/>
          <p:cNvSpPr/>
          <p:nvPr/>
        </p:nvSpPr>
        <p:spPr>
          <a:xfrm>
            <a:off x="640080" y="1783080"/>
            <a:ext cx="1691640" cy="201168"/>
          </a:xfrm>
          <a:prstGeom prst="roundRect">
            <a:avLst>
              <a:gd name="adj" fmla="val 22727"/>
            </a:avLst>
          </a:prstGeom>
          <a:solidFill>
            <a:srgbClr val="1E293B"/>
          </a:solidFill>
          <a:ln w="10160">
            <a:solidFill>
              <a:srgbClr val="0EA5E9"/>
            </a:solidFill>
            <a:prstDash val="solid"/>
          </a:ln>
        </p:spPr>
      </p:sp>
      <p:sp>
        <p:nvSpPr>
          <p:cNvPr id="14" name="Text 12"/>
          <p:cNvSpPr/>
          <p:nvPr/>
        </p:nvSpPr>
        <p:spPr>
          <a:xfrm>
            <a:off x="640080" y="1801368"/>
            <a:ext cx="1691640" cy="164592"/>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TIME-SERIES INGESTION</a:t>
            </a:r>
            <a:endParaRPr lang="en-US" sz="800" dirty="0"/>
          </a:p>
        </p:txBody>
      </p:sp>
      <p:sp>
        <p:nvSpPr>
          <p:cNvPr id="15" name="Text 13"/>
          <p:cNvSpPr/>
          <p:nvPr/>
        </p:nvSpPr>
        <p:spPr>
          <a:xfrm>
            <a:off x="640080" y="2057400"/>
            <a:ext cx="1691640" cy="32004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Hourly Telemetry</a:t>
            </a:r>
            <a:endParaRPr lang="en-US" sz="1000" dirty="0"/>
          </a:p>
        </p:txBody>
      </p:sp>
      <p:sp>
        <p:nvSpPr>
          <p:cNvPr id="16" name="Text 14"/>
          <p:cNvSpPr/>
          <p:nvPr/>
        </p:nvSpPr>
        <p:spPr>
          <a:xfrm>
            <a:off x="6400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Ingests live impressions, clicks, spend, and conversion events across active networks.</a:t>
            </a:r>
            <a:endParaRPr lang="en-US" sz="800" dirty="0"/>
          </a:p>
        </p:txBody>
      </p:sp>
      <p:sp>
        <p:nvSpPr>
          <p:cNvPr id="17" name="Shape 15"/>
          <p:cNvSpPr/>
          <p:nvPr/>
        </p:nvSpPr>
        <p:spPr>
          <a:xfrm>
            <a:off x="2606040" y="1645920"/>
            <a:ext cx="1874520" cy="2971800"/>
          </a:xfrm>
          <a:prstGeom prst="roundRect">
            <a:avLst>
              <a:gd name="adj" fmla="val 3902"/>
            </a:avLst>
          </a:prstGeom>
          <a:solidFill>
            <a:srgbClr val="131D31"/>
          </a:solidFill>
          <a:ln w="12700">
            <a:solidFill>
              <a:srgbClr val="233554"/>
            </a:solidFill>
            <a:prstDash val="solid"/>
          </a:ln>
        </p:spPr>
      </p:sp>
      <p:sp>
        <p:nvSpPr>
          <p:cNvPr id="18" name="Shape 16"/>
          <p:cNvSpPr/>
          <p:nvPr/>
        </p:nvSpPr>
        <p:spPr>
          <a:xfrm>
            <a:off x="2606040" y="1645920"/>
            <a:ext cx="1874520" cy="36576"/>
          </a:xfrm>
          <a:prstGeom prst="rect">
            <a:avLst/>
          </a:prstGeom>
          <a:solidFill>
            <a:srgbClr val="F43F5E"/>
          </a:solidFill>
          <a:ln w="12700">
            <a:solidFill>
              <a:srgbClr val="333333"/>
            </a:solidFill>
            <a:prstDash val="solid"/>
          </a:ln>
        </p:spPr>
      </p:sp>
      <p:sp>
        <p:nvSpPr>
          <p:cNvPr id="19" name="Shape 17"/>
          <p:cNvSpPr/>
          <p:nvPr/>
        </p:nvSpPr>
        <p:spPr>
          <a:xfrm>
            <a:off x="2697480" y="1737360"/>
            <a:ext cx="1691640" cy="246888"/>
          </a:xfrm>
          <a:prstGeom prst="roundRect">
            <a:avLst>
              <a:gd name="adj" fmla="val 22727"/>
            </a:avLst>
          </a:prstGeom>
          <a:solidFill>
            <a:srgbClr val="1E293B"/>
          </a:solidFill>
          <a:ln w="10160">
            <a:solidFill>
              <a:srgbClr val="F43F5E"/>
            </a:solidFill>
            <a:prstDash val="solid"/>
          </a:ln>
        </p:spPr>
      </p:sp>
      <p:sp>
        <p:nvSpPr>
          <p:cNvPr id="20" name="Text 18"/>
          <p:cNvSpPr/>
          <p:nvPr/>
        </p:nvSpPr>
        <p:spPr>
          <a:xfrm>
            <a:off x="2697480" y="1828800"/>
            <a:ext cx="1691640" cy="82296"/>
          </a:xfrm>
          <a:prstGeom prst="rect">
            <a:avLst/>
          </a:prstGeom>
          <a:noFill/>
          <a:ln/>
        </p:spPr>
        <p:txBody>
          <a:bodyPr wrap="square" rtlCol="0" anchor="ctr"/>
          <a:lstStyle/>
          <a:p>
            <a:pPr marL="0" indent="0" algn="ctr">
              <a:buNone/>
            </a:pPr>
            <a:r>
              <a:rPr lang="en-US" sz="800" b="1" dirty="0">
                <a:solidFill>
                  <a:srgbClr val="F43F5E"/>
                </a:solidFill>
                <a:latin typeface="Arial" pitchFamily="34" charset="0"/>
                <a:ea typeface="Arial" pitchFamily="34" charset="-122"/>
                <a:cs typeface="Arial" pitchFamily="34" charset="-120"/>
              </a:rPr>
              <a:t>Z-SCORE ANOMALY DETECTOR</a:t>
            </a:r>
            <a:endParaRPr lang="en-US" sz="800" dirty="0"/>
          </a:p>
        </p:txBody>
      </p:sp>
      <p:sp>
        <p:nvSpPr>
          <p:cNvPr id="21" name="Text 19"/>
          <p:cNvSpPr/>
          <p:nvPr/>
        </p:nvSpPr>
        <p:spPr>
          <a:xfrm>
            <a:off x="2697480" y="2057400"/>
            <a:ext cx="1691640" cy="32004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Statistical Outlier Audit</a:t>
            </a:r>
            <a:endParaRPr lang="en-US" sz="1000" dirty="0"/>
          </a:p>
        </p:txBody>
      </p:sp>
      <p:sp>
        <p:nvSpPr>
          <p:cNvPr id="22" name="Text 20"/>
          <p:cNvSpPr/>
          <p:nvPr/>
        </p:nvSpPr>
        <p:spPr>
          <a:xfrm>
            <a:off x="26974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Computes rolling Z-scores against predicted baselines to detect anomalous CPC surges.</a:t>
            </a:r>
            <a:endParaRPr lang="en-US" sz="800" dirty="0"/>
          </a:p>
        </p:txBody>
      </p:sp>
      <p:sp>
        <p:nvSpPr>
          <p:cNvPr id="23" name="Shape 21"/>
          <p:cNvSpPr/>
          <p:nvPr/>
        </p:nvSpPr>
        <p:spPr>
          <a:xfrm>
            <a:off x="4663440" y="1645920"/>
            <a:ext cx="1874520" cy="2971800"/>
          </a:xfrm>
          <a:prstGeom prst="roundRect">
            <a:avLst>
              <a:gd name="adj" fmla="val 3902"/>
            </a:avLst>
          </a:prstGeom>
          <a:solidFill>
            <a:srgbClr val="131D31"/>
          </a:solidFill>
          <a:ln w="12700">
            <a:solidFill>
              <a:srgbClr val="233554"/>
            </a:solidFill>
            <a:prstDash val="solid"/>
          </a:ln>
        </p:spPr>
      </p:sp>
      <p:sp>
        <p:nvSpPr>
          <p:cNvPr id="24" name="Shape 22"/>
          <p:cNvSpPr/>
          <p:nvPr/>
        </p:nvSpPr>
        <p:spPr>
          <a:xfrm>
            <a:off x="4663440" y="1645920"/>
            <a:ext cx="1874520" cy="36576"/>
          </a:xfrm>
          <a:prstGeom prst="rect">
            <a:avLst/>
          </a:prstGeom>
          <a:solidFill>
            <a:srgbClr val="F59E0B"/>
          </a:solidFill>
          <a:ln w="12700">
            <a:solidFill>
              <a:srgbClr val="333333"/>
            </a:solidFill>
            <a:prstDash val="solid"/>
          </a:ln>
        </p:spPr>
      </p:sp>
      <p:sp>
        <p:nvSpPr>
          <p:cNvPr id="25" name="Shape 23"/>
          <p:cNvSpPr/>
          <p:nvPr/>
        </p:nvSpPr>
        <p:spPr>
          <a:xfrm>
            <a:off x="4754880" y="1783080"/>
            <a:ext cx="1691640" cy="201168"/>
          </a:xfrm>
          <a:prstGeom prst="roundRect">
            <a:avLst>
              <a:gd name="adj" fmla="val 22727"/>
            </a:avLst>
          </a:prstGeom>
          <a:solidFill>
            <a:srgbClr val="1E293B"/>
          </a:solidFill>
          <a:ln w="10160">
            <a:solidFill>
              <a:srgbClr val="F59E0B"/>
            </a:solidFill>
            <a:prstDash val="solid"/>
          </a:ln>
        </p:spPr>
      </p:sp>
      <p:sp>
        <p:nvSpPr>
          <p:cNvPr id="26" name="Text 24"/>
          <p:cNvSpPr/>
          <p:nvPr/>
        </p:nvSpPr>
        <p:spPr>
          <a:xfrm>
            <a:off x="4754880" y="1801368"/>
            <a:ext cx="1691640" cy="164592"/>
          </a:xfrm>
          <a:prstGeom prst="rect">
            <a:avLst/>
          </a:prstGeom>
          <a:noFill/>
          <a:ln/>
        </p:spPr>
        <p:txBody>
          <a:bodyPr wrap="square" rtlCol="0" anchor="ctr"/>
          <a:lstStyle/>
          <a:p>
            <a:pPr marL="0" indent="0" algn="ctr">
              <a:buNone/>
            </a:pPr>
            <a:r>
              <a:rPr lang="en-US" sz="800" b="1" dirty="0">
                <a:solidFill>
                  <a:srgbClr val="F59E0B"/>
                </a:solidFill>
                <a:latin typeface="Arial" pitchFamily="34" charset="0"/>
                <a:ea typeface="Arial" pitchFamily="34" charset="-122"/>
                <a:cs typeface="Arial" pitchFamily="34" charset="-120"/>
              </a:rPr>
              <a:t>CREATIVE FATIGUE ALERT</a:t>
            </a:r>
            <a:endParaRPr lang="en-US" sz="800" dirty="0"/>
          </a:p>
        </p:txBody>
      </p:sp>
      <p:sp>
        <p:nvSpPr>
          <p:cNvPr id="27" name="Text 25"/>
          <p:cNvSpPr/>
          <p:nvPr/>
        </p:nvSpPr>
        <p:spPr>
          <a:xfrm>
            <a:off x="4754880" y="2057400"/>
            <a:ext cx="1691640" cy="32004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Decay Mitigation</a:t>
            </a:r>
            <a:endParaRPr lang="en-US" sz="1000" dirty="0"/>
          </a:p>
        </p:txBody>
      </p:sp>
      <p:sp>
        <p:nvSpPr>
          <p:cNvPr id="28" name="Text 26"/>
          <p:cNvSpPr/>
          <p:nvPr/>
        </p:nvSpPr>
        <p:spPr>
          <a:xfrm>
            <a:off x="47548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Flags CTR decay curves and triggers the RL Optimizer to activate fresh creative variants.</a:t>
            </a:r>
            <a:endParaRPr lang="en-US" sz="800" dirty="0"/>
          </a:p>
        </p:txBody>
      </p:sp>
      <p:sp>
        <p:nvSpPr>
          <p:cNvPr id="29" name="Shape 27"/>
          <p:cNvSpPr/>
          <p:nvPr/>
        </p:nvSpPr>
        <p:spPr>
          <a:xfrm>
            <a:off x="6720840" y="1645920"/>
            <a:ext cx="1874520" cy="2971800"/>
          </a:xfrm>
          <a:prstGeom prst="roundRect">
            <a:avLst>
              <a:gd name="adj" fmla="val 3902"/>
            </a:avLst>
          </a:prstGeom>
          <a:solidFill>
            <a:srgbClr val="131D31"/>
          </a:solidFill>
          <a:ln w="12700">
            <a:solidFill>
              <a:srgbClr val="233554"/>
            </a:solidFill>
            <a:prstDash val="solid"/>
          </a:ln>
        </p:spPr>
      </p:sp>
      <p:sp>
        <p:nvSpPr>
          <p:cNvPr id="30" name="Shape 28"/>
          <p:cNvSpPr/>
          <p:nvPr/>
        </p:nvSpPr>
        <p:spPr>
          <a:xfrm>
            <a:off x="6720840" y="1645920"/>
            <a:ext cx="1874520" cy="36576"/>
          </a:xfrm>
          <a:prstGeom prst="rect">
            <a:avLst/>
          </a:prstGeom>
          <a:solidFill>
            <a:srgbClr val="10B981"/>
          </a:solidFill>
          <a:ln w="12700">
            <a:solidFill>
              <a:srgbClr val="333333"/>
            </a:solidFill>
            <a:prstDash val="solid"/>
          </a:ln>
        </p:spPr>
      </p:sp>
      <p:sp>
        <p:nvSpPr>
          <p:cNvPr id="31" name="Shape 29"/>
          <p:cNvSpPr/>
          <p:nvPr/>
        </p:nvSpPr>
        <p:spPr>
          <a:xfrm>
            <a:off x="6812280" y="1783080"/>
            <a:ext cx="1691640" cy="201168"/>
          </a:xfrm>
          <a:prstGeom prst="roundRect">
            <a:avLst>
              <a:gd name="adj" fmla="val 22727"/>
            </a:avLst>
          </a:prstGeom>
          <a:solidFill>
            <a:srgbClr val="1E293B"/>
          </a:solidFill>
          <a:ln w="10160">
            <a:solidFill>
              <a:srgbClr val="10B981"/>
            </a:solidFill>
            <a:prstDash val="solid"/>
          </a:ln>
        </p:spPr>
      </p:sp>
      <p:sp>
        <p:nvSpPr>
          <p:cNvPr id="32" name="Text 30"/>
          <p:cNvSpPr/>
          <p:nvPr/>
        </p:nvSpPr>
        <p:spPr>
          <a:xfrm>
            <a:off x="6812280" y="1801368"/>
            <a:ext cx="1691640" cy="164592"/>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CLOSED-LOOP ROUTER</a:t>
            </a:r>
            <a:endParaRPr lang="en-US" sz="800" dirty="0"/>
          </a:p>
        </p:txBody>
      </p:sp>
      <p:sp>
        <p:nvSpPr>
          <p:cNvPr id="33" name="Text 31"/>
          <p:cNvSpPr/>
          <p:nvPr/>
        </p:nvSpPr>
        <p:spPr>
          <a:xfrm>
            <a:off x="6812280" y="2057400"/>
            <a:ext cx="1691640" cy="320040"/>
          </a:xfrm>
          <a:prstGeom prst="rect">
            <a:avLst/>
          </a:prstGeom>
          <a:noFill/>
          <a:ln/>
        </p:spPr>
        <p:txBody>
          <a:bodyPr wrap="square" rtlCol="0" anchor="ctr"/>
          <a:lstStyle/>
          <a:p>
            <a:pPr marL="0" indent="0">
              <a:buNone/>
            </a:pPr>
            <a:r>
              <a:rPr lang="en-US" sz="1000" b="1" dirty="0">
                <a:solidFill>
                  <a:srgbClr val="F8FAFC"/>
                </a:solidFill>
                <a:latin typeface="Arial" pitchFamily="34" charset="0"/>
                <a:ea typeface="Arial" pitchFamily="34" charset="-122"/>
                <a:cs typeface="Arial" pitchFamily="34" charset="-120"/>
              </a:rPr>
              <a:t>Automated Circuit Breaker</a:t>
            </a:r>
            <a:endParaRPr lang="en-US" sz="1000" dirty="0"/>
          </a:p>
        </p:txBody>
      </p:sp>
      <p:sp>
        <p:nvSpPr>
          <p:cNvPr id="34" name="Text 32"/>
          <p:cNvSpPr/>
          <p:nvPr/>
        </p:nvSpPr>
        <p:spPr>
          <a:xfrm>
            <a:off x="68122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Pauses decaying ad sets autonomously if CPA exceeds safety thresholds by &gt;35%.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PRODUCT REALITY // PRODUCTION DASHBOARD</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Real Product Evidence: Working Enterprise Platform</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23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ADPilot Pro is not a conceptual mockup. It is a live software platform featuring a React 18 single-page application and FastAPI backend.</a:t>
            </a:r>
            <a:endParaRPr lang="en-US" sz="1050" dirty="0"/>
          </a:p>
        </p:txBody>
      </p:sp>
      <p:sp>
        <p:nvSpPr>
          <p:cNvPr id="11" name="Shape 9"/>
          <p:cNvSpPr/>
          <p:nvPr/>
        </p:nvSpPr>
        <p:spPr>
          <a:xfrm>
            <a:off x="548640" y="1645920"/>
            <a:ext cx="2514600" cy="2971800"/>
          </a:xfrm>
          <a:prstGeom prst="roundRect">
            <a:avLst>
              <a:gd name="adj" fmla="val 2909"/>
            </a:avLst>
          </a:prstGeom>
          <a:solidFill>
            <a:srgbClr val="131D31"/>
          </a:solidFill>
          <a:ln w="12700">
            <a:solidFill>
              <a:srgbClr val="233554"/>
            </a:solidFill>
            <a:prstDash val="solid"/>
          </a:ln>
        </p:spPr>
      </p:sp>
      <p:sp>
        <p:nvSpPr>
          <p:cNvPr id="12" name="Shape 10"/>
          <p:cNvSpPr/>
          <p:nvPr/>
        </p:nvSpPr>
        <p:spPr>
          <a:xfrm>
            <a:off x="731520" y="1783080"/>
            <a:ext cx="1645920" cy="228600"/>
          </a:xfrm>
          <a:prstGeom prst="roundRect">
            <a:avLst>
              <a:gd name="adj" fmla="val 20000"/>
            </a:avLst>
          </a:prstGeom>
          <a:solidFill>
            <a:srgbClr val="064E3B"/>
          </a:solidFill>
          <a:ln w="10160">
            <a:solidFill>
              <a:srgbClr val="10B981"/>
            </a:solidFill>
            <a:prstDash val="solid"/>
          </a:ln>
        </p:spPr>
      </p:sp>
      <p:sp>
        <p:nvSpPr>
          <p:cNvPr id="13" name="Text 11"/>
          <p:cNvSpPr/>
          <p:nvPr/>
        </p:nvSpPr>
        <p:spPr>
          <a:xfrm>
            <a:off x="731520" y="1801368"/>
            <a:ext cx="164592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REACT 18 SPA</a:t>
            </a:r>
            <a:endParaRPr lang="en-US" sz="800" dirty="0"/>
          </a:p>
        </p:txBody>
      </p:sp>
      <p:sp>
        <p:nvSpPr>
          <p:cNvPr id="14" name="Text 12"/>
          <p:cNvSpPr/>
          <p:nvPr/>
        </p:nvSpPr>
        <p:spPr>
          <a:xfrm>
            <a:off x="731520" y="2084832"/>
            <a:ext cx="214884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Real-Time Dashboard</a:t>
            </a:r>
            <a:endParaRPr lang="en-US" sz="1150" dirty="0"/>
          </a:p>
        </p:txBody>
      </p:sp>
      <p:sp>
        <p:nvSpPr>
          <p:cNvPr id="15" name="Text 13"/>
          <p:cNvSpPr/>
          <p:nvPr/>
        </p:nvSpPr>
        <p:spPr>
          <a:xfrm>
            <a:off x="731520" y="2450592"/>
            <a:ext cx="214884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Interactive campaign wizard</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Live WebSocket progress streaming</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Multi-tab campaign results viewer</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Visual asset &amp; copy preview</a:t>
            </a:r>
            <a:endParaRPr lang="en-US" sz="850" dirty="0"/>
          </a:p>
        </p:txBody>
      </p:sp>
      <p:sp>
        <p:nvSpPr>
          <p:cNvPr id="16" name="Shape 14"/>
          <p:cNvSpPr/>
          <p:nvPr/>
        </p:nvSpPr>
        <p:spPr>
          <a:xfrm>
            <a:off x="3291840" y="1645920"/>
            <a:ext cx="2514600" cy="2971800"/>
          </a:xfrm>
          <a:prstGeom prst="roundRect">
            <a:avLst>
              <a:gd name="adj" fmla="val 2909"/>
            </a:avLst>
          </a:prstGeom>
          <a:solidFill>
            <a:srgbClr val="131D31"/>
          </a:solidFill>
          <a:ln w="12700">
            <a:solidFill>
              <a:srgbClr val="233554"/>
            </a:solidFill>
            <a:prstDash val="solid"/>
          </a:ln>
        </p:spPr>
      </p:sp>
      <p:sp>
        <p:nvSpPr>
          <p:cNvPr id="17" name="Shape 15"/>
          <p:cNvSpPr/>
          <p:nvPr/>
        </p:nvSpPr>
        <p:spPr>
          <a:xfrm>
            <a:off x="3474720" y="1783080"/>
            <a:ext cx="1645920" cy="228600"/>
          </a:xfrm>
          <a:prstGeom prst="roundRect">
            <a:avLst>
              <a:gd name="adj" fmla="val 20000"/>
            </a:avLst>
          </a:prstGeom>
          <a:solidFill>
            <a:srgbClr val="0C2B40"/>
          </a:solidFill>
          <a:ln w="10160">
            <a:solidFill>
              <a:srgbClr val="0EA5E9"/>
            </a:solidFill>
            <a:prstDash val="solid"/>
          </a:ln>
        </p:spPr>
      </p:sp>
      <p:sp>
        <p:nvSpPr>
          <p:cNvPr id="18" name="Text 16"/>
          <p:cNvSpPr/>
          <p:nvPr/>
        </p:nvSpPr>
        <p:spPr>
          <a:xfrm>
            <a:off x="3474720" y="1801368"/>
            <a:ext cx="164592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FASTAPI BACKEND</a:t>
            </a:r>
            <a:endParaRPr lang="en-US" sz="800" dirty="0"/>
          </a:p>
        </p:txBody>
      </p:sp>
      <p:sp>
        <p:nvSpPr>
          <p:cNvPr id="19" name="Text 17"/>
          <p:cNvSpPr/>
          <p:nvPr/>
        </p:nvSpPr>
        <p:spPr>
          <a:xfrm>
            <a:off x="3474720" y="2084832"/>
            <a:ext cx="214884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Production Architecture</a:t>
            </a:r>
            <a:endParaRPr lang="en-US" sz="1150" dirty="0"/>
          </a:p>
        </p:txBody>
      </p:sp>
      <p:sp>
        <p:nvSpPr>
          <p:cNvPr id="20" name="Text 18"/>
          <p:cNvSpPr/>
          <p:nvPr/>
        </p:nvSpPr>
        <p:spPr>
          <a:xfrm>
            <a:off x="3474720" y="2450592"/>
            <a:ext cx="214884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Asynchronous REST API gateway</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Celery background worker queue</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Redis state broker &amp; cache</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PostgreSQL + MongoDB persistence</a:t>
            </a:r>
            <a:endParaRPr lang="en-US" sz="850" dirty="0"/>
          </a:p>
        </p:txBody>
      </p:sp>
      <p:sp>
        <p:nvSpPr>
          <p:cNvPr id="21" name="Shape 19"/>
          <p:cNvSpPr/>
          <p:nvPr/>
        </p:nvSpPr>
        <p:spPr>
          <a:xfrm>
            <a:off x="6035040" y="1645920"/>
            <a:ext cx="2514600" cy="2971800"/>
          </a:xfrm>
          <a:prstGeom prst="roundRect">
            <a:avLst>
              <a:gd name="adj" fmla="val 2909"/>
            </a:avLst>
          </a:prstGeom>
          <a:solidFill>
            <a:srgbClr val="131D31"/>
          </a:solidFill>
          <a:ln w="12700">
            <a:solidFill>
              <a:srgbClr val="233554"/>
            </a:solidFill>
            <a:prstDash val="solid"/>
          </a:ln>
        </p:spPr>
      </p:sp>
      <p:sp>
        <p:nvSpPr>
          <p:cNvPr id="22" name="Shape 20"/>
          <p:cNvSpPr/>
          <p:nvPr/>
        </p:nvSpPr>
        <p:spPr>
          <a:xfrm>
            <a:off x="6217920" y="1783080"/>
            <a:ext cx="1645920" cy="228600"/>
          </a:xfrm>
          <a:prstGeom prst="roundRect">
            <a:avLst>
              <a:gd name="adj" fmla="val 20000"/>
            </a:avLst>
          </a:prstGeom>
          <a:solidFill>
            <a:srgbClr val="1E1B4B"/>
          </a:solidFill>
          <a:ln w="10160">
            <a:solidFill>
              <a:srgbClr val="6366F1"/>
            </a:solidFill>
            <a:prstDash val="solid"/>
          </a:ln>
        </p:spPr>
      </p:sp>
      <p:sp>
        <p:nvSpPr>
          <p:cNvPr id="23" name="Text 21"/>
          <p:cNvSpPr/>
          <p:nvPr/>
        </p:nvSpPr>
        <p:spPr>
          <a:xfrm>
            <a:off x="6217920" y="1801368"/>
            <a:ext cx="1645920" cy="192024"/>
          </a:xfrm>
          <a:prstGeom prst="rect">
            <a:avLst/>
          </a:prstGeom>
          <a:noFill/>
          <a:ln/>
        </p:spPr>
        <p:txBody>
          <a:bodyPr wrap="square" rtlCol="0" anchor="ctr"/>
          <a:lstStyle/>
          <a:p>
            <a:pPr marL="0" indent="0" algn="ctr">
              <a:buNone/>
            </a:pPr>
            <a:r>
              <a:rPr lang="en-US" sz="800" b="1" dirty="0">
                <a:solidFill>
                  <a:srgbClr val="6366F1"/>
                </a:solidFill>
                <a:latin typeface="Arial" pitchFamily="34" charset="0"/>
                <a:ea typeface="Arial" pitchFamily="34" charset="-122"/>
                <a:cs typeface="Arial" pitchFamily="34" charset="-120"/>
              </a:rPr>
              <a:t>VALIDATED CODEBASE</a:t>
            </a:r>
            <a:endParaRPr lang="en-US" sz="800" dirty="0"/>
          </a:p>
        </p:txBody>
      </p:sp>
      <p:sp>
        <p:nvSpPr>
          <p:cNvPr id="24" name="Text 22"/>
          <p:cNvSpPr/>
          <p:nvPr/>
        </p:nvSpPr>
        <p:spPr>
          <a:xfrm>
            <a:off x="6217920" y="2084832"/>
            <a:ext cx="214884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269 Passing Tests</a:t>
            </a:r>
            <a:endParaRPr lang="en-US" sz="1150" dirty="0"/>
          </a:p>
        </p:txBody>
      </p:sp>
      <p:sp>
        <p:nvSpPr>
          <p:cNvPr id="25" name="Text 23"/>
          <p:cNvSpPr/>
          <p:nvPr/>
        </p:nvSpPr>
        <p:spPr>
          <a:xfrm>
            <a:off x="6217920" y="2450592"/>
            <a:ext cx="214884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BaseAgent abstract inheritance</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100% typed Pydantic v2 contracts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Docker Compose multi-service setup</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CI/CD GitHub Actions pipeline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TECHNICAL RIGOR // EMPIRICAL BENCHMARKS</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Scientific Evaluation &amp; Validation Benchmarks</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24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ADPilot Pro's performance is measured through rigorous academic rubrics, computer vision cosine alignment, and quantitative pipeline benchmarks.</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2971801"/>
        </p:xfrm>
        <a:graphic>
          <a:graphicData uri="http://schemas.openxmlformats.org/drawingml/2006/table">
            <a:tbl>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24543">
                <a:tc>
                  <a:txBody>
                    <a:bodyPr/>
                    <a:lstStyle/>
                    <a:p>
                      <a:pPr marL="0" indent="0">
                        <a:buNone/>
                      </a:pPr>
                      <a:r>
                        <a:rPr lang="en-US" sz="850" b="1" dirty="0">
                          <a:solidFill>
                            <a:srgbClr val="10B981"/>
                          </a:solidFill>
                        </a:rPr>
                        <a:t>Metric Name</a:t>
                      </a:r>
                      <a:endParaRPr lang="en-US" sz="85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E293B"/>
                    </a:solidFill>
                  </a:tcPr>
                </a:tc>
                <a:tc>
                  <a:txBody>
                    <a:bodyPr/>
                    <a:lstStyle/>
                    <a:p>
                      <a:pPr marL="0" indent="0">
                        <a:buNone/>
                      </a:pPr>
                      <a:r>
                        <a:rPr lang="en-US" sz="850" b="1" dirty="0">
                          <a:solidFill>
                            <a:srgbClr val="10B981"/>
                          </a:solidFill>
                        </a:rPr>
                        <a:t>Target</a:t>
                      </a:r>
                      <a:endParaRPr lang="en-US" sz="85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E293B"/>
                    </a:solidFill>
                  </a:tcPr>
                </a:tc>
                <a:tc>
                  <a:txBody>
                    <a:bodyPr/>
                    <a:lstStyle/>
                    <a:p>
                      <a:pPr marL="0" indent="0">
                        <a:buNone/>
                      </a:pPr>
                      <a:r>
                        <a:rPr lang="en-US" sz="850" b="1" dirty="0">
                          <a:solidFill>
                            <a:srgbClr val="10B981"/>
                          </a:solidFill>
                        </a:rPr>
                        <a:t>Measurement Method</a:t>
                      </a:r>
                      <a:endParaRPr lang="en-US" sz="85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E293B"/>
                    </a:solidFill>
                  </a:tcPr>
                </a:tc>
                <a:tc>
                  <a:txBody>
                    <a:bodyPr/>
                    <a:lstStyle/>
                    <a:p>
                      <a:pPr marL="0" indent="0">
                        <a:buNone/>
                      </a:pPr>
                      <a:r>
                        <a:rPr lang="en-US" sz="850" b="1" dirty="0">
                          <a:solidFill>
                            <a:srgbClr val="10B981"/>
                          </a:solidFill>
                        </a:rPr>
                        <a:t>Scientific Reference</a:t>
                      </a:r>
                      <a:endParaRPr lang="en-US" sz="85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24543">
                <a:tc>
                  <a:txBody>
                    <a:bodyPr/>
                    <a:lstStyle/>
                    <a:p>
                      <a:pPr marL="0" indent="0">
                        <a:buNone/>
                      </a:pPr>
                      <a:r>
                        <a:rPr lang="en-US" sz="800" dirty="0">
                          <a:solidFill>
                            <a:srgbClr val="F8FAFC"/>
                          </a:solidFill>
                        </a:rPr>
                        <a:t>Strategic Coherence Score (SCS)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34D399"/>
                          </a:solidFill>
                        </a:rPr>
                        <a:t>≥ 75 / 100</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Blind Expert Panel (n=2, κ ≥ 0.70)</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Xi et al. (2025) Agentic AI Survey</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1"/>
                  </a:ext>
                </a:extLst>
              </a:tr>
              <a:tr h="424543">
                <a:tc>
                  <a:txBody>
                    <a:bodyPr/>
                    <a:lstStyle/>
                    <a:p>
                      <a:pPr marL="0" indent="0">
                        <a:buNone/>
                      </a:pPr>
                      <a:r>
                        <a:rPr lang="en-US" sz="800" dirty="0">
                          <a:solidFill>
                            <a:srgbClr val="F8FAFC"/>
                          </a:solidFill>
                        </a:rPr>
                        <a:t>Content Relevance Score (CRS)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34D399"/>
                          </a:solidFill>
                        </a:rPr>
                        <a:t>≥ 72 / 100</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Persona &amp; Brand Voice Rubric</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Reisenbichler et al. (2023) Benchmarks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2"/>
                  </a:ext>
                </a:extLst>
              </a:tr>
              <a:tr h="424543">
                <a:tc>
                  <a:txBody>
                    <a:bodyPr/>
                    <a:lstStyle/>
                    <a:p>
                      <a:pPr marL="0" indent="0">
                        <a:buNone/>
                      </a:pPr>
                      <a:r>
                        <a:rPr lang="en-US" sz="800" dirty="0">
                          <a:solidFill>
                            <a:srgbClr val="F8FAFC"/>
                          </a:solidFill>
                        </a:rPr>
                        <a:t>Visual-Content Alignment (VCAS)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0EA5E9"/>
                          </a:solidFill>
                        </a:rPr>
                        <a:t>≥ 0.65 Cosine</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CLIP ViT-B/32 Image-Text Cosine Sim</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Radford et al. (CLIP ICML 2021)</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3"/>
                  </a:ext>
                </a:extLst>
              </a:tr>
              <a:tr h="424543">
                <a:tc>
                  <a:txBody>
                    <a:bodyPr/>
                    <a:lstStyle/>
                    <a:p>
                      <a:pPr marL="0" indent="0">
                        <a:buNone/>
                      </a:pPr>
                      <a:r>
                        <a:rPr lang="en-US" sz="800" dirty="0">
                          <a:solidFill>
                            <a:srgbClr val="F8FAFC"/>
                          </a:solidFill>
                        </a:rPr>
                        <a:t>Analytics Accuracy (AA)</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0EA5E9"/>
                          </a:solidFill>
                        </a:rPr>
                        <a:t>MAPE ≤ 25%</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Predicted vs Actual Campaign Data</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Grand View Research (2024)</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4"/>
                  </a:ext>
                </a:extLst>
              </a:tr>
              <a:tr h="424543">
                <a:tc>
                  <a:txBody>
                    <a:bodyPr/>
                    <a:lstStyle/>
                    <a:p>
                      <a:pPr marL="0" indent="0">
                        <a:buNone/>
                      </a:pPr>
                      <a:r>
                        <a:rPr lang="en-US" sz="800" dirty="0">
                          <a:solidFill>
                            <a:srgbClr val="F8FAFC"/>
                          </a:solidFill>
                        </a:rPr>
                        <a:t>Schema Validation Error Rate (SVER)</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8B5CF6"/>
                          </a:solidFill>
                        </a:rPr>
                        <a:t>&lt; 5%</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Automated Logging over 20 Runs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Pydantic v2 Exception Logging</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5"/>
                  </a:ext>
                </a:extLst>
              </a:tr>
              <a:tr h="424543">
                <a:tc>
                  <a:txBody>
                    <a:bodyPr/>
                    <a:lstStyle/>
                    <a:p>
                      <a:pPr marL="0" indent="0">
                        <a:buNone/>
                      </a:pPr>
                      <a:r>
                        <a:rPr lang="en-US" sz="800" dirty="0">
                          <a:solidFill>
                            <a:srgbClr val="F8FAFC"/>
                          </a:solidFill>
                        </a:rPr>
                        <a:t>Pipeline Execution Time (PET)</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8B5CF6"/>
                          </a:solidFill>
                        </a:rPr>
                        <a:t>≤ 900 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Wall-Clock End-to-End Execution</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Asyncio.gather Concurrency Optimization</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COMMERCIAL VALUE // MEASURABLE GAINS</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Quantifiable Business Value &amp; Enterprise ROI</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25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Transforming marketing from a high-friction cost center into a predictable, capital-efficient, and continuously improving growth engine.</a:t>
            </a:r>
            <a:endParaRPr lang="en-US" sz="1050" dirty="0"/>
          </a:p>
        </p:txBody>
      </p:sp>
      <p:sp>
        <p:nvSpPr>
          <p:cNvPr id="11" name="Shape 9"/>
          <p:cNvSpPr/>
          <p:nvPr/>
        </p:nvSpPr>
        <p:spPr>
          <a:xfrm>
            <a:off x="548640" y="1645920"/>
            <a:ext cx="3977640" cy="1371600"/>
          </a:xfrm>
          <a:prstGeom prst="roundRect">
            <a:avLst>
              <a:gd name="adj" fmla="val 5333"/>
            </a:avLst>
          </a:prstGeom>
          <a:solidFill>
            <a:srgbClr val="131D31"/>
          </a:solidFill>
          <a:ln w="12700">
            <a:solidFill>
              <a:srgbClr val="233554"/>
            </a:solidFill>
            <a:prstDash val="solid"/>
          </a:ln>
        </p:spPr>
      </p:sp>
      <p:sp>
        <p:nvSpPr>
          <p:cNvPr id="12" name="Shape 10"/>
          <p:cNvSpPr/>
          <p:nvPr/>
        </p:nvSpPr>
        <p:spPr>
          <a:xfrm>
            <a:off x="548640" y="1645920"/>
            <a:ext cx="54864" cy="1371600"/>
          </a:xfrm>
          <a:prstGeom prst="rect">
            <a:avLst/>
          </a:prstGeom>
          <a:solidFill>
            <a:srgbClr val="10B981"/>
          </a:solidFill>
          <a:ln w="12700">
            <a:solidFill>
              <a:srgbClr val="333333"/>
            </a:solidFill>
            <a:prstDash val="solid"/>
          </a:ln>
        </p:spPr>
      </p:sp>
      <p:sp>
        <p:nvSpPr>
          <p:cNvPr id="13" name="Text 11"/>
          <p:cNvSpPr/>
          <p:nvPr/>
        </p:nvSpPr>
        <p:spPr>
          <a:xfrm>
            <a:off x="731520" y="1783080"/>
            <a:ext cx="1097280" cy="548640"/>
          </a:xfrm>
          <a:prstGeom prst="rect">
            <a:avLst/>
          </a:prstGeom>
          <a:noFill/>
          <a:ln/>
        </p:spPr>
        <p:txBody>
          <a:bodyPr wrap="square" rtlCol="0" anchor="ctr"/>
          <a:lstStyle/>
          <a:p>
            <a:pPr marL="0" indent="0">
              <a:buNone/>
            </a:pPr>
            <a:r>
              <a:rPr lang="en-US" sz="2800" b="1" dirty="0">
                <a:solidFill>
                  <a:srgbClr val="10B981"/>
                </a:solidFill>
                <a:latin typeface="Arial" pitchFamily="34" charset="0"/>
                <a:ea typeface="Arial" pitchFamily="34" charset="-122"/>
                <a:cs typeface="Arial" pitchFamily="34" charset="-120"/>
              </a:rPr>
              <a:t>10x</a:t>
            </a:r>
            <a:endParaRPr lang="en-US" sz="2800" dirty="0"/>
          </a:p>
        </p:txBody>
      </p:sp>
      <p:sp>
        <p:nvSpPr>
          <p:cNvPr id="14" name="Text 12"/>
          <p:cNvSpPr/>
          <p:nvPr/>
        </p:nvSpPr>
        <p:spPr>
          <a:xfrm>
            <a:off x="1874520" y="1783080"/>
            <a:ext cx="2468880" cy="27432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Operational Velocity</a:t>
            </a:r>
            <a:endParaRPr lang="en-US" sz="1200" dirty="0"/>
          </a:p>
        </p:txBody>
      </p:sp>
      <p:sp>
        <p:nvSpPr>
          <p:cNvPr id="15" name="Text 13"/>
          <p:cNvSpPr/>
          <p:nvPr/>
        </p:nvSpPr>
        <p:spPr>
          <a:xfrm>
            <a:off x="1874520" y="2084832"/>
            <a:ext cx="2468880" cy="82296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Compresses campaign launch cycle from 10–14 days to under 15 minutes of compute time.</a:t>
            </a:r>
            <a:endParaRPr lang="en-US" sz="850" dirty="0"/>
          </a:p>
        </p:txBody>
      </p:sp>
      <p:sp>
        <p:nvSpPr>
          <p:cNvPr id="16" name="Shape 14"/>
          <p:cNvSpPr/>
          <p:nvPr/>
        </p:nvSpPr>
        <p:spPr>
          <a:xfrm>
            <a:off x="4709160" y="1645920"/>
            <a:ext cx="3977640" cy="1371600"/>
          </a:xfrm>
          <a:prstGeom prst="roundRect">
            <a:avLst>
              <a:gd name="adj" fmla="val 5333"/>
            </a:avLst>
          </a:prstGeom>
          <a:solidFill>
            <a:srgbClr val="131D31"/>
          </a:solidFill>
          <a:ln w="12700">
            <a:solidFill>
              <a:srgbClr val="233554"/>
            </a:solidFill>
            <a:prstDash val="solid"/>
          </a:ln>
        </p:spPr>
      </p:sp>
      <p:sp>
        <p:nvSpPr>
          <p:cNvPr id="17" name="Shape 15"/>
          <p:cNvSpPr/>
          <p:nvPr/>
        </p:nvSpPr>
        <p:spPr>
          <a:xfrm>
            <a:off x="4709160" y="1645920"/>
            <a:ext cx="54864" cy="1371600"/>
          </a:xfrm>
          <a:prstGeom prst="rect">
            <a:avLst/>
          </a:prstGeom>
          <a:solidFill>
            <a:srgbClr val="0EA5E9"/>
          </a:solidFill>
          <a:ln w="12700">
            <a:solidFill>
              <a:srgbClr val="333333"/>
            </a:solidFill>
            <a:prstDash val="solid"/>
          </a:ln>
        </p:spPr>
      </p:sp>
      <p:sp>
        <p:nvSpPr>
          <p:cNvPr id="18" name="Text 16"/>
          <p:cNvSpPr/>
          <p:nvPr/>
        </p:nvSpPr>
        <p:spPr>
          <a:xfrm>
            <a:off x="4892040" y="1783080"/>
            <a:ext cx="1097280" cy="548640"/>
          </a:xfrm>
          <a:prstGeom prst="rect">
            <a:avLst/>
          </a:prstGeom>
          <a:noFill/>
          <a:ln/>
        </p:spPr>
        <p:txBody>
          <a:bodyPr wrap="square" rtlCol="0" anchor="ctr"/>
          <a:lstStyle/>
          <a:p>
            <a:pPr marL="0" indent="0">
              <a:buNone/>
            </a:pPr>
            <a:r>
              <a:rPr lang="en-US" sz="2800" b="1" dirty="0">
                <a:solidFill>
                  <a:srgbClr val="0EA5E9"/>
                </a:solidFill>
                <a:latin typeface="Arial" pitchFamily="34" charset="0"/>
                <a:ea typeface="Arial" pitchFamily="34" charset="-122"/>
                <a:cs typeface="Arial" pitchFamily="34" charset="-120"/>
              </a:rPr>
              <a:t>60%+</a:t>
            </a:r>
            <a:endParaRPr lang="en-US" sz="2800" dirty="0"/>
          </a:p>
        </p:txBody>
      </p:sp>
      <p:sp>
        <p:nvSpPr>
          <p:cNvPr id="19" name="Text 17"/>
          <p:cNvSpPr/>
          <p:nvPr/>
        </p:nvSpPr>
        <p:spPr>
          <a:xfrm>
            <a:off x="6035040" y="1783080"/>
            <a:ext cx="2468880" cy="27432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Cost Reduction</a:t>
            </a:r>
            <a:endParaRPr lang="en-US" sz="1200" dirty="0"/>
          </a:p>
        </p:txBody>
      </p:sp>
      <p:sp>
        <p:nvSpPr>
          <p:cNvPr id="20" name="Text 18"/>
          <p:cNvSpPr/>
          <p:nvPr/>
        </p:nvSpPr>
        <p:spPr>
          <a:xfrm>
            <a:off x="6035040" y="2084832"/>
            <a:ext cx="2468880" cy="82296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Dramatically cuts overhead on repetitive copywriting, manual formatting, and third-party fees.</a:t>
            </a:r>
            <a:endParaRPr lang="en-US" sz="850" dirty="0"/>
          </a:p>
        </p:txBody>
      </p:sp>
      <p:sp>
        <p:nvSpPr>
          <p:cNvPr id="21" name="Shape 19"/>
          <p:cNvSpPr/>
          <p:nvPr/>
        </p:nvSpPr>
        <p:spPr>
          <a:xfrm>
            <a:off x="548640" y="3154680"/>
            <a:ext cx="3977640" cy="1371600"/>
          </a:xfrm>
          <a:prstGeom prst="roundRect">
            <a:avLst>
              <a:gd name="adj" fmla="val 5333"/>
            </a:avLst>
          </a:prstGeom>
          <a:solidFill>
            <a:srgbClr val="131D31"/>
          </a:solidFill>
          <a:ln w="12700">
            <a:solidFill>
              <a:srgbClr val="233554"/>
            </a:solidFill>
            <a:prstDash val="solid"/>
          </a:ln>
        </p:spPr>
      </p:sp>
      <p:sp>
        <p:nvSpPr>
          <p:cNvPr id="22" name="Shape 20"/>
          <p:cNvSpPr/>
          <p:nvPr/>
        </p:nvSpPr>
        <p:spPr>
          <a:xfrm>
            <a:off x="548640" y="3154680"/>
            <a:ext cx="54864" cy="1371600"/>
          </a:xfrm>
          <a:prstGeom prst="rect">
            <a:avLst/>
          </a:prstGeom>
          <a:solidFill>
            <a:srgbClr val="8B5CF6"/>
          </a:solidFill>
          <a:ln w="12700">
            <a:solidFill>
              <a:srgbClr val="333333"/>
            </a:solidFill>
            <a:prstDash val="solid"/>
          </a:ln>
        </p:spPr>
      </p:sp>
      <p:sp>
        <p:nvSpPr>
          <p:cNvPr id="23" name="Text 21"/>
          <p:cNvSpPr/>
          <p:nvPr/>
        </p:nvSpPr>
        <p:spPr>
          <a:xfrm>
            <a:off x="731520" y="3291840"/>
            <a:ext cx="1097280" cy="548640"/>
          </a:xfrm>
          <a:prstGeom prst="rect">
            <a:avLst/>
          </a:prstGeom>
          <a:noFill/>
          <a:ln/>
        </p:spPr>
        <p:txBody>
          <a:bodyPr wrap="square" rtlCol="0" anchor="ctr"/>
          <a:lstStyle/>
          <a:p>
            <a:pPr marL="0" indent="0">
              <a:buNone/>
            </a:pPr>
            <a:r>
              <a:rPr lang="en-US" sz="2800" b="1" dirty="0">
                <a:solidFill>
                  <a:srgbClr val="8B5CF6"/>
                </a:solidFill>
                <a:latin typeface="Arial" pitchFamily="34" charset="0"/>
                <a:ea typeface="Arial" pitchFamily="34" charset="-122"/>
                <a:cs typeface="Arial" pitchFamily="34" charset="-120"/>
              </a:rPr>
              <a:t>24/7</a:t>
            </a:r>
            <a:endParaRPr lang="en-US" sz="2800" dirty="0"/>
          </a:p>
        </p:txBody>
      </p:sp>
      <p:sp>
        <p:nvSpPr>
          <p:cNvPr id="24" name="Text 22"/>
          <p:cNvSpPr/>
          <p:nvPr/>
        </p:nvSpPr>
        <p:spPr>
          <a:xfrm>
            <a:off x="1874520" y="3291840"/>
            <a:ext cx="2468880" cy="27432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Continuous Optimization</a:t>
            </a:r>
            <a:endParaRPr lang="en-US" sz="1200" dirty="0"/>
          </a:p>
        </p:txBody>
      </p:sp>
      <p:sp>
        <p:nvSpPr>
          <p:cNvPr id="25" name="Text 23"/>
          <p:cNvSpPr/>
          <p:nvPr/>
        </p:nvSpPr>
        <p:spPr>
          <a:xfrm>
            <a:off x="1874520" y="3593592"/>
            <a:ext cx="2468880" cy="82296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Autonomous RL bidding and budget shifts capture high-performing ad windows overnight.</a:t>
            </a:r>
            <a:endParaRPr lang="en-US" sz="850" dirty="0"/>
          </a:p>
        </p:txBody>
      </p:sp>
      <p:sp>
        <p:nvSpPr>
          <p:cNvPr id="26" name="Shape 24"/>
          <p:cNvSpPr/>
          <p:nvPr/>
        </p:nvSpPr>
        <p:spPr>
          <a:xfrm>
            <a:off x="4709160" y="3154680"/>
            <a:ext cx="3977640" cy="1371600"/>
          </a:xfrm>
          <a:prstGeom prst="roundRect">
            <a:avLst>
              <a:gd name="adj" fmla="val 5333"/>
            </a:avLst>
          </a:prstGeom>
          <a:solidFill>
            <a:srgbClr val="131D31"/>
          </a:solidFill>
          <a:ln w="12700">
            <a:solidFill>
              <a:srgbClr val="233554"/>
            </a:solidFill>
            <a:prstDash val="solid"/>
          </a:ln>
        </p:spPr>
      </p:sp>
      <p:sp>
        <p:nvSpPr>
          <p:cNvPr id="27" name="Shape 25"/>
          <p:cNvSpPr/>
          <p:nvPr/>
        </p:nvSpPr>
        <p:spPr>
          <a:xfrm>
            <a:off x="4709160" y="3154680"/>
            <a:ext cx="54864" cy="1371600"/>
          </a:xfrm>
          <a:prstGeom prst="rect">
            <a:avLst/>
          </a:prstGeom>
          <a:solidFill>
            <a:srgbClr val="F59E0B"/>
          </a:solidFill>
          <a:ln w="12700">
            <a:solidFill>
              <a:srgbClr val="333333"/>
            </a:solidFill>
            <a:prstDash val="solid"/>
          </a:ln>
        </p:spPr>
      </p:sp>
      <p:sp>
        <p:nvSpPr>
          <p:cNvPr id="28" name="Text 26"/>
          <p:cNvSpPr/>
          <p:nvPr/>
        </p:nvSpPr>
        <p:spPr>
          <a:xfrm>
            <a:off x="4892040" y="3291840"/>
            <a:ext cx="1097280" cy="548640"/>
          </a:xfrm>
          <a:prstGeom prst="rect">
            <a:avLst/>
          </a:prstGeom>
          <a:noFill/>
          <a:ln/>
        </p:spPr>
        <p:txBody>
          <a:bodyPr wrap="square" rtlCol="0" anchor="ctr"/>
          <a:lstStyle/>
          <a:p>
            <a:pPr marL="0" indent="0">
              <a:buNone/>
            </a:pPr>
            <a:r>
              <a:rPr lang="en-US" sz="2800" b="1" dirty="0">
                <a:solidFill>
                  <a:srgbClr val="F59E0B"/>
                </a:solidFill>
                <a:latin typeface="Arial" pitchFamily="34" charset="0"/>
                <a:ea typeface="Arial" pitchFamily="34" charset="-122"/>
                <a:cs typeface="Arial" pitchFamily="34" charset="-120"/>
              </a:rPr>
              <a:t>100%</a:t>
            </a:r>
            <a:endParaRPr lang="en-US" sz="2800" dirty="0"/>
          </a:p>
        </p:txBody>
      </p:sp>
      <p:sp>
        <p:nvSpPr>
          <p:cNvPr id="29" name="Text 27"/>
          <p:cNvSpPr/>
          <p:nvPr/>
        </p:nvSpPr>
        <p:spPr>
          <a:xfrm>
            <a:off x="6035040" y="3291840"/>
            <a:ext cx="2468880" cy="274320"/>
          </a:xfrm>
          <a:prstGeom prst="rect">
            <a:avLst/>
          </a:prstGeom>
          <a:noFill/>
          <a:ln/>
        </p:spPr>
        <p:txBody>
          <a:bodyPr wrap="square" rtlCol="0" anchor="ctr"/>
          <a:lstStyle/>
          <a:p>
            <a:pPr marL="0" indent="0">
              <a:buNone/>
            </a:pPr>
            <a:r>
              <a:rPr lang="en-US" sz="1200" b="1" dirty="0">
                <a:solidFill>
                  <a:srgbClr val="F8FAFC"/>
                </a:solidFill>
                <a:latin typeface="Arial" pitchFamily="34" charset="0"/>
                <a:ea typeface="Arial" pitchFamily="34" charset="-122"/>
                <a:cs typeface="Arial" pitchFamily="34" charset="-120"/>
              </a:rPr>
              <a:t>Brand Governance</a:t>
            </a:r>
            <a:endParaRPr lang="en-US" sz="1200" dirty="0"/>
          </a:p>
        </p:txBody>
      </p:sp>
      <p:sp>
        <p:nvSpPr>
          <p:cNvPr id="30" name="Text 28"/>
          <p:cNvSpPr/>
          <p:nvPr/>
        </p:nvSpPr>
        <p:spPr>
          <a:xfrm>
            <a:off x="6035040" y="3593592"/>
            <a:ext cx="2468880" cy="82296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Immutable context injection guarantees strict brand voice adherence across all channels.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MARKET ADOPTION // VERTICAL ICP FIT</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Multi-Vertical Market Application &amp; ICP Fit</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26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The Product Classifier Agent adapts funnel frameworks and creative tokens dynamically across major commercial verticals.</a:t>
            </a:r>
            <a:endParaRPr lang="en-US" sz="1050" dirty="0"/>
          </a:p>
        </p:txBody>
      </p:sp>
      <p:sp>
        <p:nvSpPr>
          <p:cNvPr id="11" name="Shape 9"/>
          <p:cNvSpPr/>
          <p:nvPr/>
        </p:nvSpPr>
        <p:spPr>
          <a:xfrm>
            <a:off x="548640" y="1645920"/>
            <a:ext cx="1874520" cy="2971800"/>
          </a:xfrm>
          <a:prstGeom prst="roundRect">
            <a:avLst>
              <a:gd name="adj" fmla="val 3902"/>
            </a:avLst>
          </a:prstGeom>
          <a:solidFill>
            <a:srgbClr val="131D31"/>
          </a:solidFill>
          <a:ln w="12700">
            <a:solidFill>
              <a:srgbClr val="233554"/>
            </a:solidFill>
            <a:prstDash val="solid"/>
          </a:ln>
        </p:spPr>
      </p:sp>
      <p:sp>
        <p:nvSpPr>
          <p:cNvPr id="12" name="Shape 10"/>
          <p:cNvSpPr/>
          <p:nvPr/>
        </p:nvSpPr>
        <p:spPr>
          <a:xfrm>
            <a:off x="548640" y="1645920"/>
            <a:ext cx="1874520" cy="36576"/>
          </a:xfrm>
          <a:prstGeom prst="rect">
            <a:avLst/>
          </a:prstGeom>
          <a:solidFill>
            <a:srgbClr val="10B981"/>
          </a:solidFill>
          <a:ln w="12700">
            <a:solidFill>
              <a:srgbClr val="333333"/>
            </a:solidFill>
            <a:prstDash val="solid"/>
          </a:ln>
        </p:spPr>
      </p:sp>
      <p:sp>
        <p:nvSpPr>
          <p:cNvPr id="13" name="Shape 11"/>
          <p:cNvSpPr/>
          <p:nvPr/>
        </p:nvSpPr>
        <p:spPr>
          <a:xfrm>
            <a:off x="640080" y="1783080"/>
            <a:ext cx="1691640" cy="201168"/>
          </a:xfrm>
          <a:prstGeom prst="roundRect">
            <a:avLst>
              <a:gd name="adj" fmla="val 22727"/>
            </a:avLst>
          </a:prstGeom>
          <a:solidFill>
            <a:srgbClr val="1E293B"/>
          </a:solidFill>
          <a:ln w="10160">
            <a:solidFill>
              <a:srgbClr val="10B981"/>
            </a:solidFill>
            <a:prstDash val="solid"/>
          </a:ln>
        </p:spPr>
      </p:sp>
      <p:sp>
        <p:nvSpPr>
          <p:cNvPr id="14" name="Text 12"/>
          <p:cNvSpPr/>
          <p:nvPr/>
        </p:nvSpPr>
        <p:spPr>
          <a:xfrm>
            <a:off x="640080" y="1801368"/>
            <a:ext cx="1691640" cy="164592"/>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HIGH VOLUME</a:t>
            </a:r>
            <a:endParaRPr lang="en-US" sz="800" dirty="0"/>
          </a:p>
        </p:txBody>
      </p:sp>
      <p:sp>
        <p:nvSpPr>
          <p:cNvPr id="15" name="Text 13"/>
          <p:cNvSpPr/>
          <p:nvPr/>
        </p:nvSpPr>
        <p:spPr>
          <a:xfrm>
            <a:off x="6400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E-Commerce &amp; DTC</a:t>
            </a:r>
            <a:endParaRPr lang="en-US" sz="1050" dirty="0"/>
          </a:p>
        </p:txBody>
      </p:sp>
      <p:sp>
        <p:nvSpPr>
          <p:cNvPr id="16" name="Text 14"/>
          <p:cNvSpPr/>
          <p:nvPr/>
        </p:nvSpPr>
        <p:spPr>
          <a:xfrm>
            <a:off x="6400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Multi-variant creative testing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Catalog ad scaling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Meta/TikTok video prompt engine</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Dynamic ROAS bidding</a:t>
            </a:r>
            <a:endParaRPr lang="en-US" sz="800" dirty="0"/>
          </a:p>
        </p:txBody>
      </p:sp>
      <p:sp>
        <p:nvSpPr>
          <p:cNvPr id="17" name="Shape 15"/>
          <p:cNvSpPr/>
          <p:nvPr/>
        </p:nvSpPr>
        <p:spPr>
          <a:xfrm>
            <a:off x="2606040" y="1645920"/>
            <a:ext cx="1874520" cy="2971800"/>
          </a:xfrm>
          <a:prstGeom prst="roundRect">
            <a:avLst>
              <a:gd name="adj" fmla="val 3902"/>
            </a:avLst>
          </a:prstGeom>
          <a:solidFill>
            <a:srgbClr val="131D31"/>
          </a:solidFill>
          <a:ln w="12700">
            <a:solidFill>
              <a:srgbClr val="233554"/>
            </a:solidFill>
            <a:prstDash val="solid"/>
          </a:ln>
        </p:spPr>
      </p:sp>
      <p:sp>
        <p:nvSpPr>
          <p:cNvPr id="18" name="Shape 16"/>
          <p:cNvSpPr/>
          <p:nvPr/>
        </p:nvSpPr>
        <p:spPr>
          <a:xfrm>
            <a:off x="2606040" y="1645920"/>
            <a:ext cx="1874520" cy="36576"/>
          </a:xfrm>
          <a:prstGeom prst="rect">
            <a:avLst/>
          </a:prstGeom>
          <a:solidFill>
            <a:srgbClr val="0EA5E9"/>
          </a:solidFill>
          <a:ln w="12700">
            <a:solidFill>
              <a:srgbClr val="333333"/>
            </a:solidFill>
            <a:prstDash val="solid"/>
          </a:ln>
        </p:spPr>
      </p:sp>
      <p:sp>
        <p:nvSpPr>
          <p:cNvPr id="19" name="Shape 17"/>
          <p:cNvSpPr/>
          <p:nvPr/>
        </p:nvSpPr>
        <p:spPr>
          <a:xfrm>
            <a:off x="2697480" y="1783080"/>
            <a:ext cx="1691640" cy="201168"/>
          </a:xfrm>
          <a:prstGeom prst="roundRect">
            <a:avLst>
              <a:gd name="adj" fmla="val 22727"/>
            </a:avLst>
          </a:prstGeom>
          <a:solidFill>
            <a:srgbClr val="1E293B"/>
          </a:solidFill>
          <a:ln w="10160">
            <a:solidFill>
              <a:srgbClr val="0EA5E9"/>
            </a:solidFill>
            <a:prstDash val="solid"/>
          </a:ln>
        </p:spPr>
      </p:sp>
      <p:sp>
        <p:nvSpPr>
          <p:cNvPr id="20" name="Text 18"/>
          <p:cNvSpPr/>
          <p:nvPr/>
        </p:nvSpPr>
        <p:spPr>
          <a:xfrm>
            <a:off x="2697480" y="1801368"/>
            <a:ext cx="1691640" cy="164592"/>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HIGH LTV</a:t>
            </a:r>
            <a:endParaRPr lang="en-US" sz="800" dirty="0"/>
          </a:p>
        </p:txBody>
      </p:sp>
      <p:sp>
        <p:nvSpPr>
          <p:cNvPr id="21" name="Text 19"/>
          <p:cNvSpPr/>
          <p:nvPr/>
        </p:nvSpPr>
        <p:spPr>
          <a:xfrm>
            <a:off x="26974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B2B SaaS &amp; Tech</a:t>
            </a:r>
            <a:endParaRPr lang="en-US" sz="1050" dirty="0"/>
          </a:p>
        </p:txBody>
      </p:sp>
      <p:sp>
        <p:nvSpPr>
          <p:cNvPr id="22" name="Text 20"/>
          <p:cNvSpPr/>
          <p:nvPr/>
        </p:nvSpPr>
        <p:spPr>
          <a:xfrm>
            <a:off x="26974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ICP LinkedIn thought leadership</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Multi-stage lead nurture sequences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High-intent Google Search RSAs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Competitor battlecards</a:t>
            </a:r>
            <a:endParaRPr lang="en-US" sz="800" dirty="0"/>
          </a:p>
        </p:txBody>
      </p:sp>
      <p:sp>
        <p:nvSpPr>
          <p:cNvPr id="23" name="Shape 21"/>
          <p:cNvSpPr/>
          <p:nvPr/>
        </p:nvSpPr>
        <p:spPr>
          <a:xfrm>
            <a:off x="4663440" y="1645920"/>
            <a:ext cx="1874520" cy="2971800"/>
          </a:xfrm>
          <a:prstGeom prst="roundRect">
            <a:avLst>
              <a:gd name="adj" fmla="val 3902"/>
            </a:avLst>
          </a:prstGeom>
          <a:solidFill>
            <a:srgbClr val="131D31"/>
          </a:solidFill>
          <a:ln w="12700">
            <a:solidFill>
              <a:srgbClr val="233554"/>
            </a:solidFill>
            <a:prstDash val="solid"/>
          </a:ln>
        </p:spPr>
      </p:sp>
      <p:sp>
        <p:nvSpPr>
          <p:cNvPr id="24" name="Shape 22"/>
          <p:cNvSpPr/>
          <p:nvPr/>
        </p:nvSpPr>
        <p:spPr>
          <a:xfrm>
            <a:off x="4663440" y="1645920"/>
            <a:ext cx="1874520" cy="36576"/>
          </a:xfrm>
          <a:prstGeom prst="rect">
            <a:avLst/>
          </a:prstGeom>
          <a:solidFill>
            <a:srgbClr val="8B5CF6"/>
          </a:solidFill>
          <a:ln w="12700">
            <a:solidFill>
              <a:srgbClr val="333333"/>
            </a:solidFill>
            <a:prstDash val="solid"/>
          </a:ln>
        </p:spPr>
      </p:sp>
      <p:sp>
        <p:nvSpPr>
          <p:cNvPr id="25" name="Shape 23"/>
          <p:cNvSpPr/>
          <p:nvPr/>
        </p:nvSpPr>
        <p:spPr>
          <a:xfrm>
            <a:off x="4754880" y="1783080"/>
            <a:ext cx="1691640" cy="201168"/>
          </a:xfrm>
          <a:prstGeom prst="roundRect">
            <a:avLst>
              <a:gd name="adj" fmla="val 22727"/>
            </a:avLst>
          </a:prstGeom>
          <a:solidFill>
            <a:srgbClr val="1E293B"/>
          </a:solidFill>
          <a:ln w="10160">
            <a:solidFill>
              <a:srgbClr val="8B5CF6"/>
            </a:solidFill>
            <a:prstDash val="solid"/>
          </a:ln>
        </p:spPr>
      </p:sp>
      <p:sp>
        <p:nvSpPr>
          <p:cNvPr id="26" name="Text 24"/>
          <p:cNvSpPr/>
          <p:nvPr/>
        </p:nvSpPr>
        <p:spPr>
          <a:xfrm>
            <a:off x="4754880" y="1801368"/>
            <a:ext cx="1691640" cy="164592"/>
          </a:xfrm>
          <a:prstGeom prst="rect">
            <a:avLst/>
          </a:prstGeom>
          <a:noFill/>
          <a:ln/>
        </p:spPr>
        <p:txBody>
          <a:bodyPr wrap="square" rtlCol="0" anchor="ctr"/>
          <a:lstStyle/>
          <a:p>
            <a:pPr marL="0" indent="0" algn="ctr">
              <a:buNone/>
            </a:pPr>
            <a:r>
              <a:rPr lang="en-US" sz="800" b="1" dirty="0">
                <a:solidFill>
                  <a:srgbClr val="8B5CF6"/>
                </a:solidFill>
                <a:latin typeface="Arial" pitchFamily="34" charset="0"/>
                <a:ea typeface="Arial" pitchFamily="34" charset="-122"/>
                <a:cs typeface="Arial" pitchFamily="34" charset="-120"/>
              </a:rPr>
              <a:t>FORCE MULTIPLIER</a:t>
            </a:r>
            <a:endParaRPr lang="en-US" sz="800" dirty="0"/>
          </a:p>
        </p:txBody>
      </p:sp>
      <p:sp>
        <p:nvSpPr>
          <p:cNvPr id="27" name="Text 25"/>
          <p:cNvSpPr/>
          <p:nvPr/>
        </p:nvSpPr>
        <p:spPr>
          <a:xfrm>
            <a:off x="47548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Digital Agencies</a:t>
            </a:r>
            <a:endParaRPr lang="en-US" sz="1050" dirty="0"/>
          </a:p>
        </p:txBody>
      </p:sp>
      <p:sp>
        <p:nvSpPr>
          <p:cNvPr id="28" name="Text 26"/>
          <p:cNvSpPr/>
          <p:nvPr/>
        </p:nvSpPr>
        <p:spPr>
          <a:xfrm>
            <a:off x="47548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Multi-client workspaces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10x throughput per strategist</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White-label pre-flight decks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Automated performance reports</a:t>
            </a:r>
            <a:endParaRPr lang="en-US" sz="800" dirty="0"/>
          </a:p>
        </p:txBody>
      </p:sp>
      <p:sp>
        <p:nvSpPr>
          <p:cNvPr id="29" name="Shape 27"/>
          <p:cNvSpPr/>
          <p:nvPr/>
        </p:nvSpPr>
        <p:spPr>
          <a:xfrm>
            <a:off x="6720840" y="1645920"/>
            <a:ext cx="1874520" cy="2971800"/>
          </a:xfrm>
          <a:prstGeom prst="roundRect">
            <a:avLst>
              <a:gd name="adj" fmla="val 3902"/>
            </a:avLst>
          </a:prstGeom>
          <a:solidFill>
            <a:srgbClr val="131D31"/>
          </a:solidFill>
          <a:ln w="12700">
            <a:solidFill>
              <a:srgbClr val="233554"/>
            </a:solidFill>
            <a:prstDash val="solid"/>
          </a:ln>
        </p:spPr>
      </p:sp>
      <p:sp>
        <p:nvSpPr>
          <p:cNvPr id="30" name="Shape 28"/>
          <p:cNvSpPr/>
          <p:nvPr/>
        </p:nvSpPr>
        <p:spPr>
          <a:xfrm>
            <a:off x="6720840" y="1645920"/>
            <a:ext cx="1874520" cy="36576"/>
          </a:xfrm>
          <a:prstGeom prst="rect">
            <a:avLst/>
          </a:prstGeom>
          <a:solidFill>
            <a:srgbClr val="F59E0B"/>
          </a:solidFill>
          <a:ln w="12700">
            <a:solidFill>
              <a:srgbClr val="333333"/>
            </a:solidFill>
            <a:prstDash val="solid"/>
          </a:ln>
        </p:spPr>
      </p:sp>
      <p:sp>
        <p:nvSpPr>
          <p:cNvPr id="31" name="Shape 29"/>
          <p:cNvSpPr/>
          <p:nvPr/>
        </p:nvSpPr>
        <p:spPr>
          <a:xfrm>
            <a:off x="6812280" y="1783080"/>
            <a:ext cx="1691640" cy="201168"/>
          </a:xfrm>
          <a:prstGeom prst="roundRect">
            <a:avLst>
              <a:gd name="adj" fmla="val 22727"/>
            </a:avLst>
          </a:prstGeom>
          <a:solidFill>
            <a:srgbClr val="1E293B"/>
          </a:solidFill>
          <a:ln w="10160">
            <a:solidFill>
              <a:srgbClr val="F59E0B"/>
            </a:solidFill>
            <a:prstDash val="solid"/>
          </a:ln>
        </p:spPr>
      </p:sp>
      <p:sp>
        <p:nvSpPr>
          <p:cNvPr id="32" name="Text 30"/>
          <p:cNvSpPr/>
          <p:nvPr/>
        </p:nvSpPr>
        <p:spPr>
          <a:xfrm>
            <a:off x="6812280" y="1801368"/>
            <a:ext cx="1691640" cy="164592"/>
          </a:xfrm>
          <a:prstGeom prst="rect">
            <a:avLst/>
          </a:prstGeom>
          <a:noFill/>
          <a:ln/>
        </p:spPr>
        <p:txBody>
          <a:bodyPr wrap="square" rtlCol="0" anchor="ctr"/>
          <a:lstStyle/>
          <a:p>
            <a:pPr marL="0" indent="0" algn="ctr">
              <a:buNone/>
            </a:pPr>
            <a:r>
              <a:rPr lang="en-US" sz="800" b="1" dirty="0">
                <a:solidFill>
                  <a:srgbClr val="F59E0B"/>
                </a:solidFill>
                <a:latin typeface="Arial" pitchFamily="34" charset="0"/>
                <a:ea typeface="Arial" pitchFamily="34" charset="-122"/>
                <a:cs typeface="Arial" pitchFamily="34" charset="-120"/>
              </a:rPr>
              <a:t>HIGH TRUST</a:t>
            </a:r>
            <a:endParaRPr lang="en-US" sz="800" dirty="0"/>
          </a:p>
        </p:txBody>
      </p:sp>
      <p:sp>
        <p:nvSpPr>
          <p:cNvPr id="33" name="Text 31"/>
          <p:cNvSpPr/>
          <p:nvPr/>
        </p:nvSpPr>
        <p:spPr>
          <a:xfrm>
            <a:off x="6812280" y="2057400"/>
            <a:ext cx="1691640" cy="320040"/>
          </a:xfrm>
          <a:prstGeom prst="rect">
            <a:avLst/>
          </a:prstGeom>
          <a:noFill/>
          <a:ln/>
        </p:spPr>
        <p:txBody>
          <a:bodyPr wrap="square" rtlCol="0" anchor="ctr"/>
          <a:lstStyle/>
          <a:p>
            <a:pPr marL="0" indent="0">
              <a:buNone/>
            </a:pPr>
            <a:r>
              <a:rPr lang="en-US" sz="1050" b="1" dirty="0">
                <a:solidFill>
                  <a:srgbClr val="F8FAFC"/>
                </a:solidFill>
                <a:latin typeface="Arial" pitchFamily="34" charset="0"/>
                <a:ea typeface="Arial" pitchFamily="34" charset="-122"/>
                <a:cs typeface="Arial" pitchFamily="34" charset="-120"/>
              </a:rPr>
              <a:t>Real Estate &amp; FinTech</a:t>
            </a:r>
            <a:endParaRPr lang="en-US" sz="1050" dirty="0"/>
          </a:p>
        </p:txBody>
      </p:sp>
      <p:sp>
        <p:nvSpPr>
          <p:cNvPr id="34" name="Text 32"/>
          <p:cNvSpPr/>
          <p:nvPr/>
        </p:nvSpPr>
        <p:spPr>
          <a:xfrm>
            <a:off x="6812280" y="2423160"/>
            <a:ext cx="1691640" cy="201168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High-ticket lead acquisition</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Trust-building compliance copy</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Geo-targeted ad positioning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Full audit trails &amp; privacy</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COMPETITIVE ADVANTAGE // MARKET POSITIONING</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Why ADPilot Pro Wins: The Competitive Edge</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27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How ADPilot Pro fundamentally surpasses traditional marketing agencies and disconnected single-point AI chatbots.</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297180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95300">
                <a:tc>
                  <a:txBody>
                    <a:bodyPr/>
                    <a:lstStyle/>
                    <a:p>
                      <a:pPr marL="0" indent="0">
                        <a:buNone/>
                      </a:pPr>
                      <a:r>
                        <a:rPr lang="en-US" sz="850" b="1" dirty="0">
                          <a:solidFill>
                            <a:srgbClr val="F8FAFC"/>
                          </a:solidFill>
                        </a:rPr>
                        <a:t>Capability Dimension</a:t>
                      </a:r>
                      <a:endParaRPr lang="en-US" sz="85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E293B"/>
                    </a:solidFill>
                  </a:tcPr>
                </a:tc>
                <a:tc>
                  <a:txBody>
                    <a:bodyPr/>
                    <a:lstStyle/>
                    <a:p>
                      <a:pPr marL="0" indent="0">
                        <a:buNone/>
                      </a:pPr>
                      <a:r>
                        <a:rPr lang="en-US" sz="850" b="1" dirty="0">
                          <a:solidFill>
                            <a:srgbClr val="F43F5E"/>
                          </a:solidFill>
                        </a:rPr>
                        <a:t>Traditional Agency</a:t>
                      </a:r>
                      <a:endParaRPr lang="en-US" sz="85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E293B"/>
                    </a:solidFill>
                  </a:tcPr>
                </a:tc>
                <a:tc>
                  <a:txBody>
                    <a:bodyPr/>
                    <a:lstStyle/>
                    <a:p>
                      <a:pPr marL="0" indent="0">
                        <a:buNone/>
                      </a:pPr>
                      <a:r>
                        <a:rPr lang="en-US" sz="850" b="1" dirty="0">
                          <a:solidFill>
                            <a:srgbClr val="F59E0B"/>
                          </a:solidFill>
                        </a:rPr>
                        <a:t>Disconnected AI Tools</a:t>
                      </a:r>
                      <a:endParaRPr lang="en-US" sz="85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E293B"/>
                    </a:solidFill>
                  </a:tcPr>
                </a:tc>
                <a:tc>
                  <a:txBody>
                    <a:bodyPr/>
                    <a:lstStyle/>
                    <a:p>
                      <a:pPr marL="0" indent="0">
                        <a:buNone/>
                      </a:pPr>
                      <a:r>
                        <a:rPr lang="en-US" sz="900" b="1" dirty="0">
                          <a:solidFill>
                            <a:srgbClr val="10B981"/>
                          </a:solidFill>
                        </a:rPr>
                        <a:t>ADPILOT PRO</a:t>
                      </a:r>
                      <a:endParaRPr lang="en-US" sz="9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064E3B"/>
                    </a:solidFill>
                  </a:tcPr>
                </a:tc>
                <a:extLst>
                  <a:ext uri="{0D108BD9-81ED-4DB2-BD59-A6C34878D82A}">
                    <a16:rowId xmlns:a16="http://schemas.microsoft.com/office/drawing/2014/main" val="10000"/>
                  </a:ext>
                </a:extLst>
              </a:tr>
              <a:tr h="495300">
                <a:tc>
                  <a:txBody>
                    <a:bodyPr/>
                    <a:lstStyle/>
                    <a:p>
                      <a:pPr marL="0" indent="0">
                        <a:buNone/>
                      </a:pPr>
                      <a:r>
                        <a:rPr lang="en-US" sz="800" b="1" dirty="0">
                          <a:solidFill>
                            <a:srgbClr val="F8FAFC"/>
                          </a:solidFill>
                        </a:rPr>
                        <a:t>Workflow Integration</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Manual &amp; slow (10–14 days)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Isolated single-step tools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34D399"/>
                          </a:solidFill>
                        </a:rPr>
                        <a:t>Unified 18-Stage DAG (&lt;15m)</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1"/>
                  </a:ext>
                </a:extLst>
              </a:tr>
              <a:tr h="495300">
                <a:tc>
                  <a:txBody>
                    <a:bodyPr/>
                    <a:lstStyle/>
                    <a:p>
                      <a:pPr marL="0" indent="0">
                        <a:buNone/>
                      </a:pPr>
                      <a:r>
                        <a:rPr lang="en-US" sz="800" b="1" dirty="0">
                          <a:solidFill>
                            <a:srgbClr val="F8FAFC"/>
                          </a:solidFill>
                        </a:rPr>
                        <a:t>Context Propagation</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Frequent miscommunication</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Manual copy-pasting, context drift</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34D399"/>
                          </a:solidFill>
                        </a:rPr>
                        <a:t>Immutable Schema Context</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2"/>
                  </a:ext>
                </a:extLst>
              </a:tr>
              <a:tr h="495300">
                <a:tc>
                  <a:txBody>
                    <a:bodyPr/>
                    <a:lstStyle/>
                    <a:p>
                      <a:pPr marL="0" indent="0">
                        <a:buNone/>
                      </a:pPr>
                      <a:r>
                        <a:rPr lang="en-US" sz="800" b="1" dirty="0">
                          <a:solidFill>
                            <a:srgbClr val="F8FAFC"/>
                          </a:solidFill>
                        </a:rPr>
                        <a:t>Pre-Flight Scoring</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Subjective guesswork</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None (post-launch only)</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34D399"/>
                          </a:solidFill>
                        </a:rPr>
                        <a:t>CLIP-ViT &amp; Rubric Evaluation</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3"/>
                  </a:ext>
                </a:extLst>
              </a:tr>
              <a:tr h="495300">
                <a:tc>
                  <a:txBody>
                    <a:bodyPr/>
                    <a:lstStyle/>
                    <a:p>
                      <a:pPr marL="0" indent="0">
                        <a:buNone/>
                      </a:pPr>
                      <a:r>
                        <a:rPr lang="en-US" sz="800" b="1" dirty="0">
                          <a:solidFill>
                            <a:srgbClr val="F8FAFC"/>
                          </a:solidFill>
                        </a:rPr>
                        <a:t>Optimization Loop</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Delayed weekly human reviews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No feedback or RL loop</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34D399"/>
                          </a:solidFill>
                        </a:rPr>
                        <a:t>PPO Reinforcement Learning</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4"/>
                  </a:ext>
                </a:extLst>
              </a:tr>
              <a:tr h="495300">
                <a:tc>
                  <a:txBody>
                    <a:bodyPr/>
                    <a:lstStyle/>
                    <a:p>
                      <a:pPr marL="0" indent="0">
                        <a:buNone/>
                      </a:pPr>
                      <a:r>
                        <a:rPr lang="en-US" sz="800" b="1" dirty="0">
                          <a:solidFill>
                            <a:srgbClr val="F8FAFC"/>
                          </a:solidFill>
                        </a:rPr>
                        <a:t>Cost &amp; Scalability</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Linear cost with headcount</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dirty="0">
                          <a:solidFill>
                            <a:srgbClr val="94A3B8"/>
                          </a:solidFill>
                        </a:rPr>
                        <a:t>Multiple SaaS subscriptions</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tc>
                  <a:txBody>
                    <a:bodyPr/>
                    <a:lstStyle/>
                    <a:p>
                      <a:pPr marL="0" indent="0">
                        <a:buNone/>
                      </a:pPr>
                      <a:r>
                        <a:rPr lang="en-US" sz="800" b="1" dirty="0">
                          <a:solidFill>
                            <a:srgbClr val="34D399"/>
                          </a:solidFill>
                        </a:rPr>
                        <a:t>High margin, infinite SaaS scale</a:t>
                      </a:r>
                      <a:endParaRPr lang="en-US" sz="800" dirty="0"/>
                    </a:p>
                  </a:txBody>
                  <a:tcPr>
                    <a:lnL w="12700" cap="flat" cmpd="sng" algn="ctr">
                      <a:solidFill>
                        <a:srgbClr val="233554"/>
                      </a:solidFill>
                      <a:prstDash val="solid"/>
                      <a:round/>
                      <a:headEnd type="none" w="med" len="med"/>
                      <a:tailEnd type="none" w="med" len="med"/>
                    </a:lnL>
                    <a:lnR w="12700" cap="flat" cmpd="sng" algn="ctr">
                      <a:solidFill>
                        <a:srgbClr val="233554"/>
                      </a:solidFill>
                      <a:prstDash val="solid"/>
                      <a:round/>
                      <a:headEnd type="none" w="med" len="med"/>
                      <a:tailEnd type="none" w="med" len="med"/>
                    </a:lnR>
                    <a:lnT w="12700" cap="flat" cmpd="sng" algn="ctr">
                      <a:solidFill>
                        <a:srgbClr val="233554"/>
                      </a:solidFill>
                      <a:prstDash val="solid"/>
                      <a:round/>
                      <a:headEnd type="none" w="med" len="med"/>
                      <a:tailEnd type="none" w="med" len="med"/>
                    </a:lnT>
                    <a:lnB w="12700" cap="flat" cmpd="sng" algn="ctr">
                      <a:solidFill>
                        <a:srgbClr val="233554"/>
                      </a:solidFill>
                      <a:prstDash val="solid"/>
                      <a:round/>
                      <a:headEnd type="none" w="med" len="med"/>
                      <a:tailEnd type="none" w="med" len="med"/>
                    </a:lnB>
                    <a:solidFill>
                      <a:srgbClr val="131D3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BUSINESS MODEL // REVENUE ARCHITECTURE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Scalable Commercial Architecture &amp; Monetization</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28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High-margin recurring SaaS tiers paired with platform API consumption for enterprise scale.</a:t>
            </a:r>
            <a:endParaRPr lang="en-US" sz="1050" dirty="0"/>
          </a:p>
        </p:txBody>
      </p:sp>
      <p:sp>
        <p:nvSpPr>
          <p:cNvPr id="11" name="Shape 9"/>
          <p:cNvSpPr/>
          <p:nvPr/>
        </p:nvSpPr>
        <p:spPr>
          <a:xfrm>
            <a:off x="548640" y="1645920"/>
            <a:ext cx="2560320" cy="2971800"/>
          </a:xfrm>
          <a:prstGeom prst="roundRect">
            <a:avLst>
              <a:gd name="adj" fmla="val 2857"/>
            </a:avLst>
          </a:prstGeom>
          <a:solidFill>
            <a:srgbClr val="131D31"/>
          </a:solidFill>
          <a:ln w="12700">
            <a:solidFill>
              <a:srgbClr val="233554"/>
            </a:solidFill>
            <a:prstDash val="solid"/>
          </a:ln>
        </p:spPr>
      </p:sp>
      <p:sp>
        <p:nvSpPr>
          <p:cNvPr id="12" name="Shape 10"/>
          <p:cNvSpPr/>
          <p:nvPr/>
        </p:nvSpPr>
        <p:spPr>
          <a:xfrm>
            <a:off x="685800" y="1783080"/>
            <a:ext cx="2286000" cy="228600"/>
          </a:xfrm>
          <a:prstGeom prst="roundRect">
            <a:avLst>
              <a:gd name="adj" fmla="val 20000"/>
            </a:avLst>
          </a:prstGeom>
          <a:solidFill>
            <a:srgbClr val="1E293B"/>
          </a:solidFill>
          <a:ln w="10160">
            <a:solidFill>
              <a:srgbClr val="0EA5E9"/>
            </a:solidFill>
            <a:prstDash val="solid"/>
          </a:ln>
        </p:spPr>
      </p:sp>
      <p:sp>
        <p:nvSpPr>
          <p:cNvPr id="13" name="Text 11"/>
          <p:cNvSpPr/>
          <p:nvPr/>
        </p:nvSpPr>
        <p:spPr>
          <a:xfrm>
            <a:off x="685800" y="1801368"/>
            <a:ext cx="228600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GROWTH SAAS</a:t>
            </a:r>
            <a:endParaRPr lang="en-US" sz="800" dirty="0"/>
          </a:p>
        </p:txBody>
      </p:sp>
      <p:sp>
        <p:nvSpPr>
          <p:cNvPr id="14" name="Text 12"/>
          <p:cNvSpPr/>
          <p:nvPr/>
        </p:nvSpPr>
        <p:spPr>
          <a:xfrm>
            <a:off x="685800" y="2057400"/>
            <a:ext cx="2286000" cy="41148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$499 / mo</a:t>
            </a:r>
            <a:endParaRPr lang="en-US" sz="2000" dirty="0"/>
          </a:p>
        </p:txBody>
      </p:sp>
      <p:sp>
        <p:nvSpPr>
          <p:cNvPr id="15" name="Text 13"/>
          <p:cNvSpPr/>
          <p:nvPr/>
        </p:nvSpPr>
        <p:spPr>
          <a:xfrm>
            <a:off x="685800" y="2468880"/>
            <a:ext cx="2286000" cy="228600"/>
          </a:xfrm>
          <a:prstGeom prst="rect">
            <a:avLst/>
          </a:prstGeom>
          <a:noFill/>
          <a:ln/>
        </p:spPr>
        <p:txBody>
          <a:bodyPr wrap="square" rtlCol="0" anchor="ctr"/>
          <a:lstStyle/>
          <a:p>
            <a:pPr marL="0" indent="0">
              <a:buNone/>
            </a:pPr>
            <a:r>
              <a:rPr lang="en-US" sz="850" b="1" dirty="0">
                <a:solidFill>
                  <a:srgbClr val="0EA5E9"/>
                </a:solidFill>
                <a:latin typeface="Arial" pitchFamily="34" charset="0"/>
                <a:ea typeface="Arial" pitchFamily="34" charset="-122"/>
                <a:cs typeface="Arial" pitchFamily="34" charset="-120"/>
              </a:rPr>
              <a:t>SMBs &amp; DTC Brands</a:t>
            </a:r>
            <a:endParaRPr lang="en-US" sz="850" dirty="0"/>
          </a:p>
        </p:txBody>
      </p:sp>
      <p:sp>
        <p:nvSpPr>
          <p:cNvPr id="16" name="Text 14"/>
          <p:cNvSpPr/>
          <p:nvPr/>
        </p:nvSpPr>
        <p:spPr>
          <a:xfrm>
            <a:off x="685800" y="2743200"/>
            <a:ext cx="2286000" cy="1737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Full 16-Agent Pipeline</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20 Campaigns / Month</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Automated DALL·E 3 Visuals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Standard Pre-Flight Scoring</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Email &amp; Chat Support</a:t>
            </a:r>
            <a:endParaRPr lang="en-US" sz="800" dirty="0"/>
          </a:p>
        </p:txBody>
      </p:sp>
      <p:sp>
        <p:nvSpPr>
          <p:cNvPr id="17" name="Shape 15"/>
          <p:cNvSpPr/>
          <p:nvPr/>
        </p:nvSpPr>
        <p:spPr>
          <a:xfrm>
            <a:off x="3291840" y="1645920"/>
            <a:ext cx="2560320" cy="2971800"/>
          </a:xfrm>
          <a:prstGeom prst="roundRect">
            <a:avLst>
              <a:gd name="adj" fmla="val 2857"/>
            </a:avLst>
          </a:prstGeom>
          <a:solidFill>
            <a:srgbClr val="131D31"/>
          </a:solidFill>
          <a:ln w="12700">
            <a:solidFill>
              <a:srgbClr val="10B981"/>
            </a:solidFill>
            <a:prstDash val="solid"/>
          </a:ln>
        </p:spPr>
      </p:sp>
      <p:sp>
        <p:nvSpPr>
          <p:cNvPr id="18" name="Shape 16"/>
          <p:cNvSpPr/>
          <p:nvPr/>
        </p:nvSpPr>
        <p:spPr>
          <a:xfrm>
            <a:off x="3429000" y="1783080"/>
            <a:ext cx="2286000" cy="228600"/>
          </a:xfrm>
          <a:prstGeom prst="roundRect">
            <a:avLst>
              <a:gd name="adj" fmla="val 20000"/>
            </a:avLst>
          </a:prstGeom>
          <a:solidFill>
            <a:srgbClr val="1E293B"/>
          </a:solidFill>
          <a:ln w="10160">
            <a:solidFill>
              <a:srgbClr val="10B981"/>
            </a:solidFill>
            <a:prstDash val="solid"/>
          </a:ln>
        </p:spPr>
      </p:sp>
      <p:sp>
        <p:nvSpPr>
          <p:cNvPr id="19" name="Text 17"/>
          <p:cNvSpPr/>
          <p:nvPr/>
        </p:nvSpPr>
        <p:spPr>
          <a:xfrm>
            <a:off x="3429000" y="1801368"/>
            <a:ext cx="228600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AGENCY PRO</a:t>
            </a:r>
            <a:endParaRPr lang="en-US" sz="800" dirty="0"/>
          </a:p>
        </p:txBody>
      </p:sp>
      <p:sp>
        <p:nvSpPr>
          <p:cNvPr id="20" name="Text 18"/>
          <p:cNvSpPr/>
          <p:nvPr/>
        </p:nvSpPr>
        <p:spPr>
          <a:xfrm>
            <a:off x="3429000" y="2057400"/>
            <a:ext cx="2286000" cy="41148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$1,499 / mo</a:t>
            </a:r>
            <a:endParaRPr lang="en-US" sz="2000" dirty="0"/>
          </a:p>
        </p:txBody>
      </p:sp>
      <p:sp>
        <p:nvSpPr>
          <p:cNvPr id="21" name="Text 19"/>
          <p:cNvSpPr/>
          <p:nvPr/>
        </p:nvSpPr>
        <p:spPr>
          <a:xfrm>
            <a:off x="3429000" y="2468880"/>
            <a:ext cx="2286000" cy="228600"/>
          </a:xfrm>
          <a:prstGeom prst="rect">
            <a:avLst/>
          </a:prstGeom>
          <a:noFill/>
          <a:ln/>
        </p:spPr>
        <p:txBody>
          <a:bodyPr wrap="square" rtlCol="0" anchor="ctr"/>
          <a:lstStyle/>
          <a:p>
            <a:pPr marL="0" indent="0">
              <a:buNone/>
            </a:pPr>
            <a:r>
              <a:rPr lang="en-US" sz="850" b="1" dirty="0">
                <a:solidFill>
                  <a:srgbClr val="10B981"/>
                </a:solidFill>
                <a:latin typeface="Arial" pitchFamily="34" charset="0"/>
                <a:ea typeface="Arial" pitchFamily="34" charset="-122"/>
                <a:cs typeface="Arial" pitchFamily="34" charset="-120"/>
              </a:rPr>
              <a:t>Digital Marketing Agencies</a:t>
            </a:r>
            <a:endParaRPr lang="en-US" sz="850" dirty="0"/>
          </a:p>
        </p:txBody>
      </p:sp>
      <p:sp>
        <p:nvSpPr>
          <p:cNvPr id="22" name="Text 20"/>
          <p:cNvSpPr/>
          <p:nvPr/>
        </p:nvSpPr>
        <p:spPr>
          <a:xfrm>
            <a:off x="3429000" y="2743200"/>
            <a:ext cx="2286000" cy="1737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Multi-Client Workspaces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Unlimited Campaigns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Custom Brand Voice Profiles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White-Label PDF Export</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Dedicated Account Manager</a:t>
            </a:r>
            <a:endParaRPr lang="en-US" sz="800" dirty="0"/>
          </a:p>
        </p:txBody>
      </p:sp>
      <p:sp>
        <p:nvSpPr>
          <p:cNvPr id="23" name="Shape 21"/>
          <p:cNvSpPr/>
          <p:nvPr/>
        </p:nvSpPr>
        <p:spPr>
          <a:xfrm>
            <a:off x="6035040" y="1645920"/>
            <a:ext cx="2560320" cy="2971800"/>
          </a:xfrm>
          <a:prstGeom prst="roundRect">
            <a:avLst>
              <a:gd name="adj" fmla="val 2857"/>
            </a:avLst>
          </a:prstGeom>
          <a:solidFill>
            <a:srgbClr val="131D31"/>
          </a:solidFill>
          <a:ln w="12700">
            <a:solidFill>
              <a:srgbClr val="233554"/>
            </a:solidFill>
            <a:prstDash val="solid"/>
          </a:ln>
        </p:spPr>
      </p:sp>
      <p:sp>
        <p:nvSpPr>
          <p:cNvPr id="24" name="Shape 22"/>
          <p:cNvSpPr/>
          <p:nvPr/>
        </p:nvSpPr>
        <p:spPr>
          <a:xfrm>
            <a:off x="6172200" y="1783080"/>
            <a:ext cx="2286000" cy="228600"/>
          </a:xfrm>
          <a:prstGeom prst="roundRect">
            <a:avLst>
              <a:gd name="adj" fmla="val 20000"/>
            </a:avLst>
          </a:prstGeom>
          <a:solidFill>
            <a:srgbClr val="1E293B"/>
          </a:solidFill>
          <a:ln w="10160">
            <a:solidFill>
              <a:srgbClr val="6366F1"/>
            </a:solidFill>
            <a:prstDash val="solid"/>
          </a:ln>
        </p:spPr>
      </p:sp>
      <p:sp>
        <p:nvSpPr>
          <p:cNvPr id="25" name="Text 23"/>
          <p:cNvSpPr/>
          <p:nvPr/>
        </p:nvSpPr>
        <p:spPr>
          <a:xfrm>
            <a:off x="6172200" y="1801368"/>
            <a:ext cx="2286000" cy="192024"/>
          </a:xfrm>
          <a:prstGeom prst="rect">
            <a:avLst/>
          </a:prstGeom>
          <a:noFill/>
          <a:ln/>
        </p:spPr>
        <p:txBody>
          <a:bodyPr wrap="square" rtlCol="0" anchor="ctr"/>
          <a:lstStyle/>
          <a:p>
            <a:pPr marL="0" indent="0" algn="ctr">
              <a:buNone/>
            </a:pPr>
            <a:r>
              <a:rPr lang="en-US" sz="800" b="1" dirty="0">
                <a:solidFill>
                  <a:srgbClr val="6366F1"/>
                </a:solidFill>
                <a:latin typeface="Arial" pitchFamily="34" charset="0"/>
                <a:ea typeface="Arial" pitchFamily="34" charset="-122"/>
                <a:cs typeface="Arial" pitchFamily="34" charset="-120"/>
              </a:rPr>
              <a:t>ENTERPRISE CUSTOM</a:t>
            </a:r>
            <a:endParaRPr lang="en-US" sz="800" dirty="0"/>
          </a:p>
        </p:txBody>
      </p:sp>
      <p:sp>
        <p:nvSpPr>
          <p:cNvPr id="26" name="Text 24"/>
          <p:cNvSpPr/>
          <p:nvPr/>
        </p:nvSpPr>
        <p:spPr>
          <a:xfrm>
            <a:off x="6172200" y="2057400"/>
            <a:ext cx="2286000" cy="41148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$5,000+ / mo</a:t>
            </a:r>
            <a:endParaRPr lang="en-US" sz="2000" dirty="0"/>
          </a:p>
        </p:txBody>
      </p:sp>
      <p:sp>
        <p:nvSpPr>
          <p:cNvPr id="27" name="Text 25"/>
          <p:cNvSpPr/>
          <p:nvPr/>
        </p:nvSpPr>
        <p:spPr>
          <a:xfrm>
            <a:off x="6172200" y="2468880"/>
            <a:ext cx="2286000" cy="228600"/>
          </a:xfrm>
          <a:prstGeom prst="rect">
            <a:avLst/>
          </a:prstGeom>
          <a:noFill/>
          <a:ln/>
        </p:spPr>
        <p:txBody>
          <a:bodyPr wrap="square" rtlCol="0" anchor="ctr"/>
          <a:lstStyle/>
          <a:p>
            <a:pPr marL="0" indent="0">
              <a:buNone/>
            </a:pPr>
            <a:r>
              <a:rPr lang="en-US" sz="850" b="1" dirty="0">
                <a:solidFill>
                  <a:srgbClr val="6366F1"/>
                </a:solidFill>
                <a:latin typeface="Arial" pitchFamily="34" charset="0"/>
                <a:ea typeface="Arial" pitchFamily="34" charset="-122"/>
                <a:cs typeface="Arial" pitchFamily="34" charset="-120"/>
              </a:rPr>
              <a:t>Large Enterprises &amp; Scaleups</a:t>
            </a:r>
            <a:endParaRPr lang="en-US" sz="850" dirty="0"/>
          </a:p>
        </p:txBody>
      </p:sp>
      <p:sp>
        <p:nvSpPr>
          <p:cNvPr id="28" name="Text 26"/>
          <p:cNvSpPr/>
          <p:nvPr/>
        </p:nvSpPr>
        <p:spPr>
          <a:xfrm>
            <a:off x="6172200" y="2743200"/>
            <a:ext cx="2286000" cy="1737360"/>
          </a:xfrm>
          <a:prstGeom prst="rect">
            <a:avLst/>
          </a:prstGeom>
          <a:noFill/>
          <a:ln/>
        </p:spPr>
        <p:txBody>
          <a:bodyPr wrap="square" rtlCol="0" anchor="ctr"/>
          <a:lstStyle/>
          <a:p>
            <a:pPr marL="0" indent="0">
              <a:buNone/>
            </a:pPr>
            <a:r>
              <a:rPr lang="en-US" sz="800" dirty="0">
                <a:solidFill>
                  <a:srgbClr val="94A3B8"/>
                </a:solidFill>
                <a:latin typeface="Arial" pitchFamily="34" charset="0"/>
                <a:ea typeface="Arial" pitchFamily="34" charset="-122"/>
                <a:cs typeface="Arial" pitchFamily="34" charset="-120"/>
              </a:rPr>
              <a:t>• Dedicated VPC Deployment</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Custom Ad Network API Sync</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Fine-Tuned Domain LLMs</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Private Qdrant Vector Memory</a:t>
            </a:r>
            <a:endParaRPr lang="en-US" sz="800" dirty="0"/>
          </a:p>
          <a:p>
            <a:pPr marL="0" indent="0">
              <a:buNone/>
            </a:pPr>
            <a:r>
              <a:rPr lang="en-US" sz="800" dirty="0">
                <a:solidFill>
                  <a:srgbClr val="94A3B8"/>
                </a:solidFill>
                <a:latin typeface="Arial" pitchFamily="34" charset="0"/>
                <a:ea typeface="Arial" pitchFamily="34" charset="-122"/>
                <a:cs typeface="Arial" pitchFamily="34" charset="-120"/>
              </a:rPr>
              <a:t>• 99.9% SLA &amp; Custom Security</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ENTERPRISE TRUST // SECURITY ARCHITECTURE</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Enterprise Security, Data Privacy &amp; Compliance</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29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Enterprise-grade security controls ensuring data isolation, proprietary knowledge protection, and zero LLM training leakage.</a:t>
            </a:r>
            <a:endParaRPr lang="en-US" sz="1050" dirty="0"/>
          </a:p>
        </p:txBody>
      </p:sp>
      <p:sp>
        <p:nvSpPr>
          <p:cNvPr id="11" name="Shape 9"/>
          <p:cNvSpPr/>
          <p:nvPr/>
        </p:nvSpPr>
        <p:spPr>
          <a:xfrm>
            <a:off x="548640" y="1645920"/>
            <a:ext cx="2560320" cy="2971800"/>
          </a:xfrm>
          <a:prstGeom prst="roundRect">
            <a:avLst>
              <a:gd name="adj" fmla="val 2857"/>
            </a:avLst>
          </a:prstGeom>
          <a:solidFill>
            <a:srgbClr val="131D31"/>
          </a:solidFill>
          <a:ln w="12700">
            <a:solidFill>
              <a:srgbClr val="233554"/>
            </a:solidFill>
            <a:prstDash val="solid"/>
          </a:ln>
        </p:spPr>
      </p:sp>
      <p:sp>
        <p:nvSpPr>
          <p:cNvPr id="12" name="Shape 10"/>
          <p:cNvSpPr/>
          <p:nvPr/>
        </p:nvSpPr>
        <p:spPr>
          <a:xfrm>
            <a:off x="685800" y="1783080"/>
            <a:ext cx="2286000" cy="228600"/>
          </a:xfrm>
          <a:prstGeom prst="roundRect">
            <a:avLst>
              <a:gd name="adj" fmla="val 20000"/>
            </a:avLst>
          </a:prstGeom>
          <a:solidFill>
            <a:srgbClr val="1E293B"/>
          </a:solidFill>
          <a:ln w="10160">
            <a:solidFill>
              <a:srgbClr val="10B981"/>
            </a:solidFill>
            <a:prstDash val="solid"/>
          </a:ln>
        </p:spPr>
      </p:sp>
      <p:sp>
        <p:nvSpPr>
          <p:cNvPr id="13" name="Text 11"/>
          <p:cNvSpPr/>
          <p:nvPr/>
        </p:nvSpPr>
        <p:spPr>
          <a:xfrm>
            <a:off x="685800" y="1801368"/>
            <a:ext cx="228600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ZERO DATA RETENTION</a:t>
            </a:r>
            <a:endParaRPr lang="en-US" sz="800" dirty="0"/>
          </a:p>
        </p:txBody>
      </p:sp>
      <p:sp>
        <p:nvSpPr>
          <p:cNvPr id="14" name="Text 12"/>
          <p:cNvSpPr/>
          <p:nvPr/>
        </p:nvSpPr>
        <p:spPr>
          <a:xfrm>
            <a:off x="685800" y="2103120"/>
            <a:ext cx="228600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Enterprise LLM Privacy</a:t>
            </a:r>
            <a:endParaRPr lang="en-US" sz="1150" dirty="0"/>
          </a:p>
        </p:txBody>
      </p:sp>
      <p:sp>
        <p:nvSpPr>
          <p:cNvPr id="15" name="Text 13"/>
          <p:cNvSpPr/>
          <p:nvPr/>
        </p:nvSpPr>
        <p:spPr>
          <a:xfrm>
            <a:off x="685800" y="2514600"/>
            <a:ext cx="228600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Zero-retention enterprise API endpoints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Proprietary company data never used to train public models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Ephemeral processing buffers</a:t>
            </a:r>
            <a:endParaRPr lang="en-US" sz="850" dirty="0"/>
          </a:p>
        </p:txBody>
      </p:sp>
      <p:sp>
        <p:nvSpPr>
          <p:cNvPr id="16" name="Shape 14"/>
          <p:cNvSpPr/>
          <p:nvPr/>
        </p:nvSpPr>
        <p:spPr>
          <a:xfrm>
            <a:off x="3291840" y="1645920"/>
            <a:ext cx="2560320" cy="2971800"/>
          </a:xfrm>
          <a:prstGeom prst="roundRect">
            <a:avLst>
              <a:gd name="adj" fmla="val 2857"/>
            </a:avLst>
          </a:prstGeom>
          <a:solidFill>
            <a:srgbClr val="131D31"/>
          </a:solidFill>
          <a:ln w="12700">
            <a:solidFill>
              <a:srgbClr val="233554"/>
            </a:solidFill>
            <a:prstDash val="solid"/>
          </a:ln>
        </p:spPr>
      </p:sp>
      <p:sp>
        <p:nvSpPr>
          <p:cNvPr id="17" name="Shape 15"/>
          <p:cNvSpPr/>
          <p:nvPr/>
        </p:nvSpPr>
        <p:spPr>
          <a:xfrm>
            <a:off x="3429000" y="1783080"/>
            <a:ext cx="2286000" cy="228600"/>
          </a:xfrm>
          <a:prstGeom prst="roundRect">
            <a:avLst>
              <a:gd name="adj" fmla="val 20000"/>
            </a:avLst>
          </a:prstGeom>
          <a:solidFill>
            <a:srgbClr val="1E293B"/>
          </a:solidFill>
          <a:ln w="10160">
            <a:solidFill>
              <a:srgbClr val="0EA5E9"/>
            </a:solidFill>
            <a:prstDash val="solid"/>
          </a:ln>
        </p:spPr>
      </p:sp>
      <p:sp>
        <p:nvSpPr>
          <p:cNvPr id="18" name="Text 16"/>
          <p:cNvSpPr/>
          <p:nvPr/>
        </p:nvSpPr>
        <p:spPr>
          <a:xfrm>
            <a:off x="3429000" y="1801368"/>
            <a:ext cx="228600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TENANT ISOLATION</a:t>
            </a:r>
            <a:endParaRPr lang="en-US" sz="800" dirty="0"/>
          </a:p>
        </p:txBody>
      </p:sp>
      <p:sp>
        <p:nvSpPr>
          <p:cNvPr id="19" name="Text 17"/>
          <p:cNvSpPr/>
          <p:nvPr/>
        </p:nvSpPr>
        <p:spPr>
          <a:xfrm>
            <a:off x="3429000" y="2103120"/>
            <a:ext cx="228600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Dedicated VPC Storage</a:t>
            </a:r>
            <a:endParaRPr lang="en-US" sz="1150" dirty="0"/>
          </a:p>
        </p:txBody>
      </p:sp>
      <p:sp>
        <p:nvSpPr>
          <p:cNvPr id="20" name="Text 18"/>
          <p:cNvSpPr/>
          <p:nvPr/>
        </p:nvSpPr>
        <p:spPr>
          <a:xfrm>
            <a:off x="3429000" y="2514600"/>
            <a:ext cx="228600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Multi-tenant database isolation (PostgreSQL schemas)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Isolated Qdrant vector collections per organization</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Role-based access control (RBAC)</a:t>
            </a:r>
            <a:endParaRPr lang="en-US" sz="850" dirty="0"/>
          </a:p>
        </p:txBody>
      </p:sp>
      <p:sp>
        <p:nvSpPr>
          <p:cNvPr id="21" name="Shape 19"/>
          <p:cNvSpPr/>
          <p:nvPr/>
        </p:nvSpPr>
        <p:spPr>
          <a:xfrm>
            <a:off x="6035040" y="1645920"/>
            <a:ext cx="2560320" cy="2971800"/>
          </a:xfrm>
          <a:prstGeom prst="roundRect">
            <a:avLst>
              <a:gd name="adj" fmla="val 2857"/>
            </a:avLst>
          </a:prstGeom>
          <a:solidFill>
            <a:srgbClr val="131D31"/>
          </a:solidFill>
          <a:ln w="12700">
            <a:solidFill>
              <a:srgbClr val="233554"/>
            </a:solidFill>
            <a:prstDash val="solid"/>
          </a:ln>
        </p:spPr>
      </p:sp>
      <p:sp>
        <p:nvSpPr>
          <p:cNvPr id="22" name="Shape 20"/>
          <p:cNvSpPr/>
          <p:nvPr/>
        </p:nvSpPr>
        <p:spPr>
          <a:xfrm>
            <a:off x="6172200" y="1783080"/>
            <a:ext cx="2286000" cy="228600"/>
          </a:xfrm>
          <a:prstGeom prst="roundRect">
            <a:avLst>
              <a:gd name="adj" fmla="val 20000"/>
            </a:avLst>
          </a:prstGeom>
          <a:solidFill>
            <a:srgbClr val="1E293B"/>
          </a:solidFill>
          <a:ln w="10160">
            <a:solidFill>
              <a:srgbClr val="6366F1"/>
            </a:solidFill>
            <a:prstDash val="solid"/>
          </a:ln>
        </p:spPr>
      </p:sp>
      <p:sp>
        <p:nvSpPr>
          <p:cNvPr id="23" name="Text 21"/>
          <p:cNvSpPr/>
          <p:nvPr/>
        </p:nvSpPr>
        <p:spPr>
          <a:xfrm>
            <a:off x="6172200" y="1801368"/>
            <a:ext cx="2286000" cy="192024"/>
          </a:xfrm>
          <a:prstGeom prst="rect">
            <a:avLst/>
          </a:prstGeom>
          <a:noFill/>
          <a:ln/>
        </p:spPr>
        <p:txBody>
          <a:bodyPr wrap="square" rtlCol="0" anchor="ctr"/>
          <a:lstStyle/>
          <a:p>
            <a:pPr marL="0" indent="0" algn="ctr">
              <a:buNone/>
            </a:pPr>
            <a:r>
              <a:rPr lang="en-US" sz="800" b="1" dirty="0">
                <a:solidFill>
                  <a:srgbClr val="6366F1"/>
                </a:solidFill>
                <a:latin typeface="Arial" pitchFamily="34" charset="0"/>
                <a:ea typeface="Arial" pitchFamily="34" charset="-122"/>
                <a:cs typeface="Arial" pitchFamily="34" charset="-120"/>
              </a:rPr>
              <a:t>AUDIT &amp; COMPLIANCE</a:t>
            </a:r>
            <a:endParaRPr lang="en-US" sz="800" dirty="0"/>
          </a:p>
        </p:txBody>
      </p:sp>
      <p:sp>
        <p:nvSpPr>
          <p:cNvPr id="24" name="Text 22"/>
          <p:cNvSpPr/>
          <p:nvPr/>
        </p:nvSpPr>
        <p:spPr>
          <a:xfrm>
            <a:off x="6172200" y="2103120"/>
            <a:ext cx="2286000" cy="320040"/>
          </a:xfrm>
          <a:prstGeom prst="rect">
            <a:avLst/>
          </a:prstGeom>
          <a:noFill/>
          <a:ln/>
        </p:spPr>
        <p:txBody>
          <a:bodyPr wrap="square" rtlCol="0" anchor="ctr"/>
          <a:lstStyle/>
          <a:p>
            <a:pPr marL="0" indent="0">
              <a:buNone/>
            </a:pPr>
            <a:r>
              <a:rPr lang="en-US" sz="1150" b="1" dirty="0">
                <a:solidFill>
                  <a:srgbClr val="F8FAFC"/>
                </a:solidFill>
                <a:latin typeface="Arial" pitchFamily="34" charset="0"/>
                <a:ea typeface="Arial" pitchFamily="34" charset="-122"/>
                <a:cs typeface="Arial" pitchFamily="34" charset="-120"/>
              </a:rPr>
              <a:t>Cryptographic Audit Trails</a:t>
            </a:r>
            <a:endParaRPr lang="en-US" sz="1150" dirty="0"/>
          </a:p>
        </p:txBody>
      </p:sp>
      <p:sp>
        <p:nvSpPr>
          <p:cNvPr id="25" name="Text 23"/>
          <p:cNvSpPr/>
          <p:nvPr/>
        </p:nvSpPr>
        <p:spPr>
          <a:xfrm>
            <a:off x="6172200" y="2514600"/>
            <a:ext cx="2286000" cy="192024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Append-only cryptographic audit logs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JWT Bearer token authentication</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Complete change logging on every human approval</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47857">
              <a:alpha val="12000"/>
            </a:srgbClr>
          </a:solidFill>
          <a:ln w="12700">
            <a:solidFill>
              <a:srgbClr val="333333"/>
            </a:solidFill>
            <a:prstDash val="solid"/>
          </a:ln>
        </p:spPr>
      </p:sp>
      <p:sp>
        <p:nvSpPr>
          <p:cNvPr id="3" name="Shape 1"/>
          <p:cNvSpPr/>
          <p:nvPr/>
        </p:nvSpPr>
        <p:spPr>
          <a:xfrm>
            <a:off x="6858000" y="3200400"/>
            <a:ext cx="4572000" cy="4572000"/>
          </a:xfrm>
          <a:prstGeom prst="ellipse">
            <a:avLst/>
          </a:prstGeom>
          <a:solidFill>
            <a:srgbClr val="6366F1">
              <a:alpha val="8000"/>
            </a:srgbClr>
          </a:solidFill>
          <a:ln w="12700">
            <a:solidFill>
              <a:srgbClr val="333333"/>
            </a:solidFill>
            <a:prstDash val="solid"/>
          </a:ln>
        </p:spPr>
      </p:sp>
      <p:sp>
        <p:nvSpPr>
          <p:cNvPr id="4" name="Text 2"/>
          <p:cNvSpPr/>
          <p:nvPr/>
        </p:nvSpPr>
        <p:spPr>
          <a:xfrm>
            <a:off x="548640" y="292608"/>
            <a:ext cx="6858000" cy="228600"/>
          </a:xfrm>
          <a:prstGeom prst="rect">
            <a:avLst/>
          </a:prstGeom>
          <a:noFill/>
          <a:ln/>
        </p:spPr>
        <p:txBody>
          <a:bodyPr wrap="square" rtlCol="0" anchor="ctr"/>
          <a:lstStyle/>
          <a:p>
            <a:pPr marL="0" indent="0">
              <a:buNone/>
            </a:pPr>
            <a:r>
              <a:rPr lang="en-US" sz="900" b="1" kern="0" spc="200" dirty="0">
                <a:solidFill>
                  <a:srgbClr val="10B981"/>
                </a:solidFill>
                <a:latin typeface="Arial" pitchFamily="34" charset="0"/>
                <a:ea typeface="Arial" pitchFamily="34" charset="-122"/>
                <a:cs typeface="Arial" pitchFamily="34" charset="-120"/>
              </a:rPr>
              <a:t>STRATEGIC ROADMAP // THREE-PHASE HORIZON</a:t>
            </a:r>
            <a:endParaRPr lang="en-US" sz="900" dirty="0"/>
          </a:p>
        </p:txBody>
      </p:sp>
      <p:sp>
        <p:nvSpPr>
          <p:cNvPr id="5" name="Text 3"/>
          <p:cNvSpPr/>
          <p:nvPr/>
        </p:nvSpPr>
        <p:spPr>
          <a:xfrm>
            <a:off x="548640" y="512064"/>
            <a:ext cx="8046720" cy="502920"/>
          </a:xfrm>
          <a:prstGeom prst="rect">
            <a:avLst/>
          </a:prstGeom>
          <a:noFill/>
          <a:ln/>
        </p:spPr>
        <p:txBody>
          <a:bodyPr wrap="square" rtlCol="0" anchor="ctr"/>
          <a:lstStyle/>
          <a:p>
            <a:pPr marL="0" indent="0">
              <a:buNone/>
            </a:pPr>
            <a:r>
              <a:rPr lang="en-US" sz="2000" b="1" dirty="0">
                <a:solidFill>
                  <a:srgbClr val="F8FAFC"/>
                </a:solidFill>
                <a:latin typeface="Arial" pitchFamily="34" charset="0"/>
                <a:ea typeface="Arial" pitchFamily="34" charset="-122"/>
                <a:cs typeface="Arial" pitchFamily="34" charset="-120"/>
              </a:rPr>
              <a:t>Strategic Product Roadmap &amp; Scale Horizon</a:t>
            </a:r>
            <a:endParaRPr lang="en-US" sz="2000" dirty="0"/>
          </a:p>
        </p:txBody>
      </p:sp>
      <p:sp>
        <p:nvSpPr>
          <p:cNvPr id="6" name="Shape 4"/>
          <p:cNvSpPr/>
          <p:nvPr/>
        </p:nvSpPr>
        <p:spPr>
          <a:xfrm>
            <a:off x="548640" y="1051560"/>
            <a:ext cx="8046720" cy="18288"/>
          </a:xfrm>
          <a:prstGeom prst="rect">
            <a:avLst/>
          </a:prstGeom>
          <a:solidFill>
            <a:srgbClr val="233554"/>
          </a:solidFill>
          <a:ln w="12700">
            <a:solidFill>
              <a:srgbClr val="333333"/>
            </a:solidFill>
            <a:prstDash val="solid"/>
          </a:ln>
        </p:spPr>
      </p:sp>
      <p:sp>
        <p:nvSpPr>
          <p:cNvPr id="7" name="Shape 5"/>
          <p:cNvSpPr/>
          <p:nvPr/>
        </p:nvSpPr>
        <p:spPr>
          <a:xfrm>
            <a:off x="548640" y="1051560"/>
            <a:ext cx="731520" cy="18288"/>
          </a:xfrm>
          <a:prstGeom prst="rect">
            <a:avLst/>
          </a:prstGeom>
          <a:solidFill>
            <a:srgbClr val="10B981"/>
          </a:solidFill>
          <a:ln w="12700">
            <a:solidFill>
              <a:srgbClr val="333333"/>
            </a:solidFill>
            <a:prstDash val="solid"/>
          </a:ln>
        </p:spPr>
      </p:sp>
      <p:sp>
        <p:nvSpPr>
          <p:cNvPr id="8" name="Text 6"/>
          <p:cNvSpPr/>
          <p:nvPr/>
        </p:nvSpPr>
        <p:spPr>
          <a:xfrm>
            <a:off x="548640" y="4846320"/>
            <a:ext cx="5486400" cy="201168"/>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ADPILOT PRO • AUTONOMOUS MARKETING OPERATING SYSTEM</a:t>
            </a:r>
            <a:endParaRPr lang="en-US" sz="800" dirty="0"/>
          </a:p>
        </p:txBody>
      </p:sp>
      <p:sp>
        <p:nvSpPr>
          <p:cNvPr id="9" name="Text 7"/>
          <p:cNvSpPr/>
          <p:nvPr/>
        </p:nvSpPr>
        <p:spPr>
          <a:xfrm>
            <a:off x="6858000" y="4846320"/>
            <a:ext cx="1737360" cy="201168"/>
          </a:xfrm>
          <a:prstGeom prst="rect">
            <a:avLst/>
          </a:prstGeom>
          <a:noFill/>
          <a:ln/>
        </p:spPr>
        <p:txBody>
          <a:bodyPr wrap="square" rtlCol="0" anchor="ctr"/>
          <a:lstStyle/>
          <a:p>
            <a:pPr marL="0" indent="0" algn="r">
              <a:buNone/>
            </a:pPr>
            <a:r>
              <a:rPr lang="en-US" sz="850" b="1" dirty="0">
                <a:solidFill>
                  <a:srgbClr val="10B981"/>
                </a:solidFill>
                <a:latin typeface="Arial" pitchFamily="34" charset="0"/>
                <a:ea typeface="Arial" pitchFamily="34" charset="-122"/>
                <a:cs typeface="Arial" pitchFamily="34" charset="-120"/>
              </a:rPr>
              <a:t>SLIDE 30 / 32</a:t>
            </a:r>
            <a:endParaRPr lang="en-US" sz="850" dirty="0"/>
          </a:p>
        </p:txBody>
      </p:sp>
      <p:sp>
        <p:nvSpPr>
          <p:cNvPr id="10" name="Text 8"/>
          <p:cNvSpPr/>
          <p:nvPr/>
        </p:nvSpPr>
        <p:spPr>
          <a:xfrm>
            <a:off x="548640" y="1143000"/>
            <a:ext cx="8046720" cy="36576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A clear, milestone-driven development trajectory taking ADPilot Pro from validated core architecture to fully autonomous multi-channel execution.</a:t>
            </a:r>
            <a:endParaRPr lang="en-US" sz="1050" dirty="0"/>
          </a:p>
        </p:txBody>
      </p:sp>
      <p:sp>
        <p:nvSpPr>
          <p:cNvPr id="11" name="Shape 9"/>
          <p:cNvSpPr/>
          <p:nvPr/>
        </p:nvSpPr>
        <p:spPr>
          <a:xfrm>
            <a:off x="548640" y="1645920"/>
            <a:ext cx="2560320" cy="2971800"/>
          </a:xfrm>
          <a:prstGeom prst="roundRect">
            <a:avLst>
              <a:gd name="adj" fmla="val 2857"/>
            </a:avLst>
          </a:prstGeom>
          <a:solidFill>
            <a:srgbClr val="131D31"/>
          </a:solidFill>
          <a:ln w="12700">
            <a:solidFill>
              <a:srgbClr val="233554"/>
            </a:solidFill>
            <a:prstDash val="solid"/>
          </a:ln>
        </p:spPr>
      </p:sp>
      <p:sp>
        <p:nvSpPr>
          <p:cNvPr id="12" name="Shape 10"/>
          <p:cNvSpPr/>
          <p:nvPr/>
        </p:nvSpPr>
        <p:spPr>
          <a:xfrm>
            <a:off x="548640" y="1645920"/>
            <a:ext cx="2560320" cy="45720"/>
          </a:xfrm>
          <a:prstGeom prst="rect">
            <a:avLst/>
          </a:prstGeom>
          <a:solidFill>
            <a:srgbClr val="10B981"/>
          </a:solidFill>
          <a:ln w="12700">
            <a:solidFill>
              <a:srgbClr val="333333"/>
            </a:solidFill>
            <a:prstDash val="solid"/>
          </a:ln>
        </p:spPr>
      </p:sp>
      <p:sp>
        <p:nvSpPr>
          <p:cNvPr id="13" name="Shape 11"/>
          <p:cNvSpPr/>
          <p:nvPr/>
        </p:nvSpPr>
        <p:spPr>
          <a:xfrm>
            <a:off x="685800" y="1783080"/>
            <a:ext cx="2286000" cy="228600"/>
          </a:xfrm>
          <a:prstGeom prst="roundRect">
            <a:avLst>
              <a:gd name="adj" fmla="val 20000"/>
            </a:avLst>
          </a:prstGeom>
          <a:solidFill>
            <a:srgbClr val="1E293B"/>
          </a:solidFill>
          <a:ln w="10160">
            <a:solidFill>
              <a:srgbClr val="10B981"/>
            </a:solidFill>
            <a:prstDash val="solid"/>
          </a:ln>
        </p:spPr>
      </p:sp>
      <p:sp>
        <p:nvSpPr>
          <p:cNvPr id="14" name="Text 12"/>
          <p:cNvSpPr/>
          <p:nvPr/>
        </p:nvSpPr>
        <p:spPr>
          <a:xfrm>
            <a:off x="685800" y="1801368"/>
            <a:ext cx="228600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IMPLEMENTED</a:t>
            </a:r>
            <a:endParaRPr lang="en-US" sz="800" dirty="0"/>
          </a:p>
        </p:txBody>
      </p:sp>
      <p:sp>
        <p:nvSpPr>
          <p:cNvPr id="15" name="Text 13"/>
          <p:cNvSpPr/>
          <p:nvPr/>
        </p:nvSpPr>
        <p:spPr>
          <a:xfrm>
            <a:off x="685800" y="2057400"/>
            <a:ext cx="2286000" cy="320040"/>
          </a:xfrm>
          <a:prstGeom prst="rect">
            <a:avLst/>
          </a:prstGeom>
          <a:noFill/>
          <a:ln/>
        </p:spPr>
        <p:txBody>
          <a:bodyPr wrap="square" rtlCol="0" anchor="ctr"/>
          <a:lstStyle/>
          <a:p>
            <a:pPr marL="0" indent="0">
              <a:buNone/>
            </a:pPr>
            <a:r>
              <a:rPr lang="en-US" sz="1100" b="1" dirty="0">
                <a:solidFill>
                  <a:srgbClr val="F8FAFC"/>
                </a:solidFill>
                <a:latin typeface="Arial" pitchFamily="34" charset="0"/>
                <a:ea typeface="Arial" pitchFamily="34" charset="-122"/>
                <a:cs typeface="Arial" pitchFamily="34" charset="-120"/>
              </a:rPr>
              <a:t>PHASE 1: FOUNDATION</a:t>
            </a:r>
            <a:endParaRPr lang="en-US" sz="1100" dirty="0"/>
          </a:p>
        </p:txBody>
      </p:sp>
      <p:sp>
        <p:nvSpPr>
          <p:cNvPr id="16" name="Text 14"/>
          <p:cNvSpPr/>
          <p:nvPr/>
        </p:nvSpPr>
        <p:spPr>
          <a:xfrm>
            <a:off x="685800" y="2423160"/>
            <a:ext cx="2286000" cy="201168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16-agent DAG logic &amp; BaseAgent</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Pydantic v2 typed contracts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GPT-4o strategy, copy &amp; analytics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Synthetic SerpAPI &amp; DALL·E 3 briefs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Automated rubric validation tests</a:t>
            </a:r>
            <a:endParaRPr lang="en-US" sz="850" dirty="0"/>
          </a:p>
        </p:txBody>
      </p:sp>
      <p:sp>
        <p:nvSpPr>
          <p:cNvPr id="17" name="Shape 15"/>
          <p:cNvSpPr/>
          <p:nvPr/>
        </p:nvSpPr>
        <p:spPr>
          <a:xfrm>
            <a:off x="3291840" y="1645920"/>
            <a:ext cx="2560320" cy="2971800"/>
          </a:xfrm>
          <a:prstGeom prst="roundRect">
            <a:avLst>
              <a:gd name="adj" fmla="val 2857"/>
            </a:avLst>
          </a:prstGeom>
          <a:solidFill>
            <a:srgbClr val="131D31"/>
          </a:solidFill>
          <a:ln w="12700">
            <a:solidFill>
              <a:srgbClr val="233554"/>
            </a:solidFill>
            <a:prstDash val="solid"/>
          </a:ln>
        </p:spPr>
      </p:sp>
      <p:sp>
        <p:nvSpPr>
          <p:cNvPr id="18" name="Shape 16"/>
          <p:cNvSpPr/>
          <p:nvPr/>
        </p:nvSpPr>
        <p:spPr>
          <a:xfrm>
            <a:off x="3291840" y="1645920"/>
            <a:ext cx="2560320" cy="45720"/>
          </a:xfrm>
          <a:prstGeom prst="rect">
            <a:avLst/>
          </a:prstGeom>
          <a:solidFill>
            <a:srgbClr val="0EA5E9"/>
          </a:solidFill>
          <a:ln w="12700">
            <a:solidFill>
              <a:srgbClr val="333333"/>
            </a:solidFill>
            <a:prstDash val="solid"/>
          </a:ln>
        </p:spPr>
      </p:sp>
      <p:sp>
        <p:nvSpPr>
          <p:cNvPr id="19" name="Shape 17"/>
          <p:cNvSpPr/>
          <p:nvPr/>
        </p:nvSpPr>
        <p:spPr>
          <a:xfrm>
            <a:off x="3429000" y="1783080"/>
            <a:ext cx="2286000" cy="228600"/>
          </a:xfrm>
          <a:prstGeom prst="roundRect">
            <a:avLst>
              <a:gd name="adj" fmla="val 20000"/>
            </a:avLst>
          </a:prstGeom>
          <a:solidFill>
            <a:srgbClr val="1E293B"/>
          </a:solidFill>
          <a:ln w="10160">
            <a:solidFill>
              <a:srgbClr val="0EA5E9"/>
            </a:solidFill>
            <a:prstDash val="solid"/>
          </a:ln>
        </p:spPr>
      </p:sp>
      <p:sp>
        <p:nvSpPr>
          <p:cNvPr id="20" name="Text 18"/>
          <p:cNvSpPr/>
          <p:nvPr/>
        </p:nvSpPr>
        <p:spPr>
          <a:xfrm>
            <a:off x="3429000" y="1801368"/>
            <a:ext cx="228600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IN PROGRESS / PROTOTYPE</a:t>
            </a:r>
            <a:endParaRPr lang="en-US" sz="800" dirty="0"/>
          </a:p>
        </p:txBody>
      </p:sp>
      <p:sp>
        <p:nvSpPr>
          <p:cNvPr id="21" name="Text 19"/>
          <p:cNvSpPr/>
          <p:nvPr/>
        </p:nvSpPr>
        <p:spPr>
          <a:xfrm>
            <a:off x="3429000" y="2057400"/>
            <a:ext cx="2286000" cy="320040"/>
          </a:xfrm>
          <a:prstGeom prst="rect">
            <a:avLst/>
          </a:prstGeom>
          <a:noFill/>
          <a:ln/>
        </p:spPr>
        <p:txBody>
          <a:bodyPr wrap="square" rtlCol="0" anchor="ctr"/>
          <a:lstStyle/>
          <a:p>
            <a:pPr marL="0" indent="0">
              <a:buNone/>
            </a:pPr>
            <a:r>
              <a:rPr lang="en-US" sz="1100" b="1" dirty="0">
                <a:solidFill>
                  <a:srgbClr val="F8FAFC"/>
                </a:solidFill>
                <a:latin typeface="Arial" pitchFamily="34" charset="0"/>
                <a:ea typeface="Arial" pitchFamily="34" charset="-122"/>
                <a:cs typeface="Arial" pitchFamily="34" charset="-120"/>
              </a:rPr>
              <a:t>PHASE 2: PLATFORM</a:t>
            </a:r>
            <a:endParaRPr lang="en-US" sz="1100" dirty="0"/>
          </a:p>
        </p:txBody>
      </p:sp>
      <p:sp>
        <p:nvSpPr>
          <p:cNvPr id="22" name="Text 20"/>
          <p:cNvSpPr/>
          <p:nvPr/>
        </p:nvSpPr>
        <p:spPr>
          <a:xfrm>
            <a:off x="3429000" y="2423160"/>
            <a:ext cx="2286000" cy="201168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FastAPI REST gateway &amp; WebSockets</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React 18 single-page dashboard</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Live DALL·E 3 &amp; Cloudinary CDN</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PostgreSQL &amp; MongoDB persistence</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Redis task queue &amp; Celery workers</a:t>
            </a:r>
            <a:endParaRPr lang="en-US" sz="850" dirty="0"/>
          </a:p>
        </p:txBody>
      </p:sp>
      <p:sp>
        <p:nvSpPr>
          <p:cNvPr id="23" name="Shape 21"/>
          <p:cNvSpPr/>
          <p:nvPr/>
        </p:nvSpPr>
        <p:spPr>
          <a:xfrm>
            <a:off x="6035040" y="1645920"/>
            <a:ext cx="2560320" cy="2971800"/>
          </a:xfrm>
          <a:prstGeom prst="roundRect">
            <a:avLst>
              <a:gd name="adj" fmla="val 2857"/>
            </a:avLst>
          </a:prstGeom>
          <a:solidFill>
            <a:srgbClr val="131D31"/>
          </a:solidFill>
          <a:ln w="12700">
            <a:solidFill>
              <a:srgbClr val="233554"/>
            </a:solidFill>
            <a:prstDash val="solid"/>
          </a:ln>
        </p:spPr>
      </p:sp>
      <p:sp>
        <p:nvSpPr>
          <p:cNvPr id="24" name="Shape 22"/>
          <p:cNvSpPr/>
          <p:nvPr/>
        </p:nvSpPr>
        <p:spPr>
          <a:xfrm>
            <a:off x="6035040" y="1645920"/>
            <a:ext cx="2560320" cy="45720"/>
          </a:xfrm>
          <a:prstGeom prst="rect">
            <a:avLst/>
          </a:prstGeom>
          <a:solidFill>
            <a:srgbClr val="8B5CF6"/>
          </a:solidFill>
          <a:ln w="12700">
            <a:solidFill>
              <a:srgbClr val="333333"/>
            </a:solidFill>
            <a:prstDash val="solid"/>
          </a:ln>
        </p:spPr>
      </p:sp>
      <p:sp>
        <p:nvSpPr>
          <p:cNvPr id="25" name="Shape 23"/>
          <p:cNvSpPr/>
          <p:nvPr/>
        </p:nvSpPr>
        <p:spPr>
          <a:xfrm>
            <a:off x="6172200" y="1783080"/>
            <a:ext cx="2286000" cy="228600"/>
          </a:xfrm>
          <a:prstGeom prst="roundRect">
            <a:avLst>
              <a:gd name="adj" fmla="val 20000"/>
            </a:avLst>
          </a:prstGeom>
          <a:solidFill>
            <a:srgbClr val="1E293B"/>
          </a:solidFill>
          <a:ln w="10160">
            <a:solidFill>
              <a:srgbClr val="8B5CF6"/>
            </a:solidFill>
            <a:prstDash val="solid"/>
          </a:ln>
        </p:spPr>
      </p:sp>
      <p:sp>
        <p:nvSpPr>
          <p:cNvPr id="26" name="Text 24"/>
          <p:cNvSpPr/>
          <p:nvPr/>
        </p:nvSpPr>
        <p:spPr>
          <a:xfrm>
            <a:off x="6172200" y="1801368"/>
            <a:ext cx="2286000" cy="192024"/>
          </a:xfrm>
          <a:prstGeom prst="rect">
            <a:avLst/>
          </a:prstGeom>
          <a:noFill/>
          <a:ln/>
        </p:spPr>
        <p:txBody>
          <a:bodyPr wrap="square" rtlCol="0" anchor="ctr"/>
          <a:lstStyle/>
          <a:p>
            <a:pPr marL="0" indent="0" algn="ctr">
              <a:buNone/>
            </a:pPr>
            <a:r>
              <a:rPr lang="en-US" sz="800" b="1" dirty="0">
                <a:solidFill>
                  <a:srgbClr val="8B5CF6"/>
                </a:solidFill>
                <a:latin typeface="Arial" pitchFamily="34" charset="0"/>
                <a:ea typeface="Arial" pitchFamily="34" charset="-122"/>
                <a:cs typeface="Arial" pitchFamily="34" charset="-120"/>
              </a:rPr>
              <a:t>PLANNED ROADMAP</a:t>
            </a:r>
            <a:endParaRPr lang="en-US" sz="800" dirty="0"/>
          </a:p>
        </p:txBody>
      </p:sp>
      <p:sp>
        <p:nvSpPr>
          <p:cNvPr id="27" name="Text 25"/>
          <p:cNvSpPr/>
          <p:nvPr/>
        </p:nvSpPr>
        <p:spPr>
          <a:xfrm>
            <a:off x="6172200" y="2057400"/>
            <a:ext cx="2286000" cy="320040"/>
          </a:xfrm>
          <a:prstGeom prst="rect">
            <a:avLst/>
          </a:prstGeom>
          <a:noFill/>
          <a:ln/>
        </p:spPr>
        <p:txBody>
          <a:bodyPr wrap="square" rtlCol="0" anchor="ctr"/>
          <a:lstStyle/>
          <a:p>
            <a:pPr marL="0" indent="0">
              <a:buNone/>
            </a:pPr>
            <a:r>
              <a:rPr lang="en-US" sz="1100" b="1" dirty="0">
                <a:solidFill>
                  <a:srgbClr val="F8FAFC"/>
                </a:solidFill>
                <a:latin typeface="Arial" pitchFamily="34" charset="0"/>
                <a:ea typeface="Arial" pitchFamily="34" charset="-122"/>
                <a:cs typeface="Arial" pitchFamily="34" charset="-120"/>
              </a:rPr>
              <a:t>PHASE 3: SCALE &amp; RL OPS</a:t>
            </a:r>
            <a:endParaRPr lang="en-US" sz="1100" dirty="0"/>
          </a:p>
        </p:txBody>
      </p:sp>
      <p:sp>
        <p:nvSpPr>
          <p:cNvPr id="28" name="Text 26"/>
          <p:cNvSpPr/>
          <p:nvPr/>
        </p:nvSpPr>
        <p:spPr>
          <a:xfrm>
            <a:off x="6172200" y="2423160"/>
            <a:ext cx="2286000" cy="201168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Direct Meta &amp; Google Ads API bidding</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Live continuous PPO policy adaptation</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Multi-modal AI video ad generation</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Enterprise multi-tenant isolation</a:t>
            </a:r>
            <a:endParaRPr lang="en-US" sz="850" dirty="0"/>
          </a:p>
          <a:p>
            <a:pPr marL="0" indent="0">
              <a:buNone/>
            </a:pPr>
            <a:r>
              <a:rPr lang="en-US" sz="850" dirty="0">
                <a:solidFill>
                  <a:srgbClr val="94A3B8"/>
                </a:solidFill>
                <a:latin typeface="Arial" pitchFamily="34" charset="0"/>
                <a:ea typeface="Arial" pitchFamily="34" charset="-122"/>
                <a:cs typeface="Arial" pitchFamily="34" charset="-120"/>
              </a:rPr>
              <a:t>• Autonomous cross-channel budget sync</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1371600" y="457200"/>
            <a:ext cx="6400800" cy="4114800"/>
          </a:xfrm>
          <a:prstGeom prst="ellipse">
            <a:avLst/>
          </a:prstGeom>
          <a:solidFill>
            <a:srgbClr val="047857">
              <a:alpha val="18000"/>
            </a:srgbClr>
          </a:solidFill>
          <a:ln w="12700">
            <a:solidFill>
              <a:srgbClr val="333333"/>
            </a:solidFill>
            <a:prstDash val="solid"/>
          </a:ln>
        </p:spPr>
      </p:sp>
      <p:sp>
        <p:nvSpPr>
          <p:cNvPr id="3" name="Shape 1"/>
          <p:cNvSpPr/>
          <p:nvPr/>
        </p:nvSpPr>
        <p:spPr>
          <a:xfrm>
            <a:off x="3200400" y="457200"/>
            <a:ext cx="2743200" cy="320040"/>
          </a:xfrm>
          <a:prstGeom prst="roundRect">
            <a:avLst>
              <a:gd name="adj" fmla="val 14286"/>
            </a:avLst>
          </a:prstGeom>
          <a:solidFill>
            <a:srgbClr val="064E3B"/>
          </a:solidFill>
          <a:ln w="10160">
            <a:solidFill>
              <a:srgbClr val="10B981"/>
            </a:solidFill>
            <a:prstDash val="solid"/>
          </a:ln>
        </p:spPr>
      </p:sp>
      <p:sp>
        <p:nvSpPr>
          <p:cNvPr id="4" name="Text 2"/>
          <p:cNvSpPr/>
          <p:nvPr/>
        </p:nvSpPr>
        <p:spPr>
          <a:xfrm>
            <a:off x="3200400" y="475488"/>
            <a:ext cx="2743200" cy="28346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THE AUTONOMOUS MARKETING FUTURE</a:t>
            </a:r>
            <a:endParaRPr lang="en-US" sz="800" dirty="0"/>
          </a:p>
        </p:txBody>
      </p:sp>
      <p:sp>
        <p:nvSpPr>
          <p:cNvPr id="5" name="Text 3"/>
          <p:cNvSpPr/>
          <p:nvPr/>
        </p:nvSpPr>
        <p:spPr>
          <a:xfrm>
            <a:off x="548640" y="868680"/>
            <a:ext cx="8046720" cy="731520"/>
          </a:xfrm>
          <a:prstGeom prst="rect">
            <a:avLst/>
          </a:prstGeom>
          <a:noFill/>
          <a:ln/>
        </p:spPr>
        <p:txBody>
          <a:bodyPr wrap="square" rtlCol="0" anchor="ctr"/>
          <a:lstStyle/>
          <a:p>
            <a:pPr marL="0" indent="0" algn="ctr">
              <a:buNone/>
            </a:pPr>
            <a:r>
              <a:rPr lang="en-US" sz="4200" b="1" kern="0" spc="400" dirty="0">
                <a:solidFill>
                  <a:srgbClr val="F8FAFC"/>
                </a:solidFill>
                <a:latin typeface="Arial" pitchFamily="34" charset="0"/>
                <a:ea typeface="Arial" pitchFamily="34" charset="-122"/>
                <a:cs typeface="Arial" pitchFamily="34" charset="-120"/>
              </a:rPr>
              <a:t>ADPILOT PRO</a:t>
            </a:r>
            <a:endParaRPr lang="en-US" sz="4200" dirty="0"/>
          </a:p>
        </p:txBody>
      </p:sp>
      <p:sp>
        <p:nvSpPr>
          <p:cNvPr id="6" name="Text 4"/>
          <p:cNvSpPr/>
          <p:nvPr/>
        </p:nvSpPr>
        <p:spPr>
          <a:xfrm>
            <a:off x="548640" y="1645920"/>
            <a:ext cx="8046720" cy="411480"/>
          </a:xfrm>
          <a:prstGeom prst="rect">
            <a:avLst/>
          </a:prstGeom>
          <a:noFill/>
          <a:ln/>
        </p:spPr>
        <p:txBody>
          <a:bodyPr wrap="square" rtlCol="0" anchor="ctr"/>
          <a:lstStyle/>
          <a:p>
            <a:pPr marL="0" indent="0" algn="ctr">
              <a:buNone/>
            </a:pPr>
            <a:r>
              <a:rPr lang="en-US" sz="1500" b="1" dirty="0">
                <a:solidFill>
                  <a:srgbClr val="34D399"/>
                </a:solidFill>
                <a:latin typeface="Arial" pitchFamily="34" charset="0"/>
                <a:ea typeface="Arial" pitchFamily="34" charset="-122"/>
                <a:cs typeface="Arial" pitchFamily="34" charset="-120"/>
              </a:rPr>
              <a:t>One Business Objective. Sixteen Specialized Agents. Continuous Intelligence.</a:t>
            </a:r>
            <a:endParaRPr lang="en-US" sz="1500" dirty="0"/>
          </a:p>
        </p:txBody>
      </p:sp>
      <p:sp>
        <p:nvSpPr>
          <p:cNvPr id="7" name="Text 5"/>
          <p:cNvSpPr/>
          <p:nvPr/>
        </p:nvSpPr>
        <p:spPr>
          <a:xfrm>
            <a:off x="1371600" y="2148840"/>
            <a:ext cx="6400800" cy="640080"/>
          </a:xfrm>
          <a:prstGeom prst="rect">
            <a:avLst/>
          </a:prstGeom>
          <a:noFill/>
          <a:ln/>
        </p:spPr>
        <p:txBody>
          <a:bodyPr wrap="square" rtlCol="0" anchor="ctr"/>
          <a:lstStyle/>
          <a:p>
            <a:pPr marL="0" indent="0" algn="ctr">
              <a:buNone/>
            </a:pPr>
            <a:r>
              <a:rPr lang="en-US" sz="1150" dirty="0">
                <a:solidFill>
                  <a:srgbClr val="CBD5E1"/>
                </a:solidFill>
                <a:latin typeface="Arial" pitchFamily="34" charset="0"/>
                <a:ea typeface="Arial" pitchFamily="34" charset="-122"/>
                <a:cs typeface="Arial" pitchFamily="34" charset="-120"/>
              </a:rPr>
              <a:t>Transform your marketing workflow from a slow, manual cost center into an intelligent, measurable, and continuously improving growth engine.</a:t>
            </a:r>
            <a:endParaRPr lang="en-US" sz="1150" dirty="0"/>
          </a:p>
        </p:txBody>
      </p:sp>
      <p:sp>
        <p:nvSpPr>
          <p:cNvPr id="8" name="Shape 6"/>
          <p:cNvSpPr/>
          <p:nvPr/>
        </p:nvSpPr>
        <p:spPr>
          <a:xfrm>
            <a:off x="731520" y="2971800"/>
            <a:ext cx="2377440" cy="1554480"/>
          </a:xfrm>
          <a:prstGeom prst="roundRect">
            <a:avLst>
              <a:gd name="adj" fmla="val 4706"/>
            </a:avLst>
          </a:prstGeom>
          <a:solidFill>
            <a:srgbClr val="131D31"/>
          </a:solidFill>
          <a:ln w="12700">
            <a:solidFill>
              <a:srgbClr val="10B981"/>
            </a:solidFill>
            <a:prstDash val="solid"/>
          </a:ln>
        </p:spPr>
      </p:sp>
      <p:sp>
        <p:nvSpPr>
          <p:cNvPr id="9" name="Text 7"/>
          <p:cNvSpPr/>
          <p:nvPr/>
        </p:nvSpPr>
        <p:spPr>
          <a:xfrm>
            <a:off x="822960" y="3108960"/>
            <a:ext cx="2194560" cy="274320"/>
          </a:xfrm>
          <a:prstGeom prst="rect">
            <a:avLst/>
          </a:prstGeom>
          <a:noFill/>
          <a:ln/>
        </p:spPr>
        <p:txBody>
          <a:bodyPr wrap="square" rtlCol="0" anchor="ctr"/>
          <a:lstStyle/>
          <a:p>
            <a:pPr marL="0" indent="0" algn="ctr">
              <a:buNone/>
            </a:pPr>
            <a:r>
              <a:rPr lang="en-US" sz="1100" b="1" dirty="0">
                <a:solidFill>
                  <a:srgbClr val="10B981"/>
                </a:solidFill>
                <a:latin typeface="Arial" pitchFamily="34" charset="0"/>
                <a:ea typeface="Arial" pitchFamily="34" charset="-122"/>
                <a:cs typeface="Arial" pitchFamily="34" charset="-120"/>
              </a:rPr>
              <a:t>SCHEDULE DEMO</a:t>
            </a:r>
            <a:endParaRPr lang="en-US" sz="1100" dirty="0"/>
          </a:p>
        </p:txBody>
      </p:sp>
      <p:sp>
        <p:nvSpPr>
          <p:cNvPr id="10" name="Text 8"/>
          <p:cNvSpPr/>
          <p:nvPr/>
        </p:nvSpPr>
        <p:spPr>
          <a:xfrm>
            <a:off x="822960" y="3429000"/>
            <a:ext cx="2194560" cy="91440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Experience live multi-agent campaign generation tailored to your brand.</a:t>
            </a:r>
            <a:endParaRPr lang="en-US" sz="850" dirty="0"/>
          </a:p>
        </p:txBody>
      </p:sp>
      <p:sp>
        <p:nvSpPr>
          <p:cNvPr id="11" name="Shape 9"/>
          <p:cNvSpPr/>
          <p:nvPr/>
        </p:nvSpPr>
        <p:spPr>
          <a:xfrm>
            <a:off x="3383280" y="2971800"/>
            <a:ext cx="2377440" cy="1554480"/>
          </a:xfrm>
          <a:prstGeom prst="roundRect">
            <a:avLst>
              <a:gd name="adj" fmla="val 4706"/>
            </a:avLst>
          </a:prstGeom>
          <a:solidFill>
            <a:srgbClr val="131D31"/>
          </a:solidFill>
          <a:ln w="12700">
            <a:solidFill>
              <a:srgbClr val="0EA5E9"/>
            </a:solidFill>
            <a:prstDash val="solid"/>
          </a:ln>
        </p:spPr>
      </p:sp>
      <p:sp>
        <p:nvSpPr>
          <p:cNvPr id="12" name="Text 10"/>
          <p:cNvSpPr/>
          <p:nvPr/>
        </p:nvSpPr>
        <p:spPr>
          <a:xfrm>
            <a:off x="3474720" y="3108960"/>
            <a:ext cx="2194560" cy="274320"/>
          </a:xfrm>
          <a:prstGeom prst="rect">
            <a:avLst/>
          </a:prstGeom>
          <a:noFill/>
          <a:ln/>
        </p:spPr>
        <p:txBody>
          <a:bodyPr wrap="square" rtlCol="0" anchor="ctr"/>
          <a:lstStyle/>
          <a:p>
            <a:pPr marL="0" indent="0" algn="ctr">
              <a:buNone/>
            </a:pPr>
            <a:r>
              <a:rPr lang="en-US" sz="1100" b="1" dirty="0">
                <a:solidFill>
                  <a:srgbClr val="0EA5E9"/>
                </a:solidFill>
                <a:latin typeface="Arial" pitchFamily="34" charset="0"/>
                <a:ea typeface="Arial" pitchFamily="34" charset="-122"/>
                <a:cs typeface="Arial" pitchFamily="34" charset="-120"/>
              </a:rPr>
              <a:t>PILOT DEPLOYMENT</a:t>
            </a:r>
            <a:endParaRPr lang="en-US" sz="1100" dirty="0"/>
          </a:p>
        </p:txBody>
      </p:sp>
      <p:sp>
        <p:nvSpPr>
          <p:cNvPr id="13" name="Text 11"/>
          <p:cNvSpPr/>
          <p:nvPr/>
        </p:nvSpPr>
        <p:spPr>
          <a:xfrm>
            <a:off x="3474720" y="3429000"/>
            <a:ext cx="2194560" cy="91440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Deploy ADPilot Pro in your marketing team for a 30-day performance trial.</a:t>
            </a:r>
            <a:endParaRPr lang="en-US" sz="850" dirty="0"/>
          </a:p>
        </p:txBody>
      </p:sp>
      <p:sp>
        <p:nvSpPr>
          <p:cNvPr id="14" name="Shape 12"/>
          <p:cNvSpPr/>
          <p:nvPr/>
        </p:nvSpPr>
        <p:spPr>
          <a:xfrm>
            <a:off x="6035040" y="2971800"/>
            <a:ext cx="2377440" cy="1554480"/>
          </a:xfrm>
          <a:prstGeom prst="roundRect">
            <a:avLst>
              <a:gd name="adj" fmla="val 4706"/>
            </a:avLst>
          </a:prstGeom>
          <a:solidFill>
            <a:srgbClr val="131D31"/>
          </a:solidFill>
          <a:ln w="12700">
            <a:solidFill>
              <a:srgbClr val="6366F1"/>
            </a:solidFill>
            <a:prstDash val="solid"/>
          </a:ln>
        </p:spPr>
      </p:sp>
      <p:sp>
        <p:nvSpPr>
          <p:cNvPr id="15" name="Text 13"/>
          <p:cNvSpPr/>
          <p:nvPr/>
        </p:nvSpPr>
        <p:spPr>
          <a:xfrm>
            <a:off x="6126480" y="3108960"/>
            <a:ext cx="2194560" cy="274320"/>
          </a:xfrm>
          <a:prstGeom prst="rect">
            <a:avLst/>
          </a:prstGeom>
          <a:noFill/>
          <a:ln/>
        </p:spPr>
        <p:txBody>
          <a:bodyPr wrap="square" rtlCol="0" anchor="ctr"/>
          <a:lstStyle/>
          <a:p>
            <a:pPr marL="0" indent="0" algn="ctr">
              <a:buNone/>
            </a:pPr>
            <a:r>
              <a:rPr lang="en-US" sz="1100" b="1" dirty="0">
                <a:solidFill>
                  <a:srgbClr val="6366F1"/>
                </a:solidFill>
                <a:latin typeface="Arial" pitchFamily="34" charset="0"/>
                <a:ea typeface="Arial" pitchFamily="34" charset="-122"/>
                <a:cs typeface="Arial" pitchFamily="34" charset="-120"/>
              </a:rPr>
              <a:t>PARTNER / INVEST</a:t>
            </a:r>
            <a:endParaRPr lang="en-US" sz="1100" dirty="0"/>
          </a:p>
        </p:txBody>
      </p:sp>
      <p:sp>
        <p:nvSpPr>
          <p:cNvPr id="16" name="Text 14"/>
          <p:cNvSpPr/>
          <p:nvPr/>
        </p:nvSpPr>
        <p:spPr>
          <a:xfrm>
            <a:off x="6126480" y="3429000"/>
            <a:ext cx="2194560" cy="914400"/>
          </a:xfrm>
          <a:prstGeom prst="rect">
            <a:avLst/>
          </a:prstGeom>
          <a:noFill/>
          <a:ln/>
        </p:spPr>
        <p:txBody>
          <a:bodyPr wrap="square" rtlCol="0" anchor="ctr"/>
          <a:lstStyle/>
          <a:p>
            <a:pPr marL="0" indent="0" algn="ctr">
              <a:buNone/>
            </a:pPr>
            <a:r>
              <a:rPr lang="en-US" sz="850" dirty="0">
                <a:solidFill>
                  <a:srgbClr val="94A3B8"/>
                </a:solidFill>
                <a:latin typeface="Arial" pitchFamily="34" charset="0"/>
                <a:ea typeface="Arial" pitchFamily="34" charset="-122"/>
                <a:cs typeface="Arial" pitchFamily="34" charset="-120"/>
              </a:rPr>
              <a:t>Join us in scaling the next generation of autonomous enterprise marketing.</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F1D"/>
        </a:solidFill>
        <a:effectLst/>
      </p:bgPr>
    </p:bg>
    <p:spTree>
      <p:nvGrpSpPr>
        <p:cNvPr id="1" name=""/>
        <p:cNvGrpSpPr/>
        <p:nvPr/>
      </p:nvGrpSpPr>
      <p:grpSpPr>
        <a:xfrm>
          <a:off x="0" y="0"/>
          <a:ext cx="0" cy="0"/>
          <a:chOff x="0" y="0"/>
          <a:chExt cx="0" cy="0"/>
        </a:xfrm>
      </p:grpSpPr>
      <p:sp>
        <p:nvSpPr>
          <p:cNvPr id="2" name="Shape 0"/>
          <p:cNvSpPr/>
          <p:nvPr/>
        </p:nvSpPr>
        <p:spPr>
          <a:xfrm>
            <a:off x="3200400" y="320040"/>
            <a:ext cx="2743200" cy="274320"/>
          </a:xfrm>
          <a:prstGeom prst="roundRect">
            <a:avLst>
              <a:gd name="adj" fmla="val 16667"/>
            </a:avLst>
          </a:prstGeom>
          <a:solidFill>
            <a:srgbClr val="064E3B"/>
          </a:solidFill>
          <a:ln w="10160">
            <a:solidFill>
              <a:srgbClr val="10B981"/>
            </a:solidFill>
            <a:prstDash val="solid"/>
          </a:ln>
        </p:spPr>
      </p:sp>
      <p:sp>
        <p:nvSpPr>
          <p:cNvPr id="3" name="Text 1"/>
          <p:cNvSpPr/>
          <p:nvPr/>
        </p:nvSpPr>
        <p:spPr>
          <a:xfrm>
            <a:off x="3200400" y="338328"/>
            <a:ext cx="2743200" cy="23774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CAPSTONE DEFENSE // JUNE 2026</a:t>
            </a:r>
            <a:endParaRPr lang="en-US" sz="800" dirty="0"/>
          </a:p>
        </p:txBody>
      </p:sp>
      <p:sp>
        <p:nvSpPr>
          <p:cNvPr id="4" name="Text 2"/>
          <p:cNvSpPr/>
          <p:nvPr/>
        </p:nvSpPr>
        <p:spPr>
          <a:xfrm>
            <a:off x="548640" y="676656"/>
            <a:ext cx="8046720" cy="411480"/>
          </a:xfrm>
          <a:prstGeom prst="rect">
            <a:avLst/>
          </a:prstGeom>
          <a:noFill/>
          <a:ln/>
        </p:spPr>
        <p:txBody>
          <a:bodyPr wrap="square" rtlCol="0" anchor="ctr"/>
          <a:lstStyle/>
          <a:p>
            <a:pPr marL="0" indent="0" algn="ctr">
              <a:buNone/>
            </a:pPr>
            <a:r>
              <a:rPr lang="en-US" sz="1800" b="1" dirty="0">
                <a:solidFill>
                  <a:srgbClr val="F8FAFC"/>
                </a:solidFill>
                <a:latin typeface="Arial" pitchFamily="34" charset="0"/>
                <a:ea typeface="Arial" pitchFamily="34" charset="-122"/>
                <a:cs typeface="Arial" pitchFamily="34" charset="-120"/>
              </a:rPr>
              <a:t>Academic Rigor &amp; National Institutional Backing</a:t>
            </a:r>
            <a:endParaRPr lang="en-US" sz="1800" dirty="0"/>
          </a:p>
        </p:txBody>
      </p:sp>
      <p:pic>
        <p:nvPicPr>
          <p:cNvPr id="6" name="Image 1" descr="C:\Users\Admin\Desktop\Adpilot Progect\presentation_assets\logo_digilians.jpg"/>
          <p:cNvPicPr>
            <a:picLocks noChangeAspect="1"/>
          </p:cNvPicPr>
          <p:nvPr/>
        </p:nvPicPr>
        <p:blipFill>
          <a:blip r:embed="rId3"/>
          <a:stretch>
            <a:fillRect/>
          </a:stretch>
        </p:blipFill>
        <p:spPr>
          <a:xfrm>
            <a:off x="137160" y="68580"/>
            <a:ext cx="594360" cy="5943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Image 2" descr="C:\Users\Admin\Desktop\Adpilot Progect\presentation_assets\logo_mcit.png"/>
          <p:cNvPicPr>
            <a:picLocks noChangeAspect="1"/>
          </p:cNvPicPr>
          <p:nvPr/>
        </p:nvPicPr>
        <p:blipFill>
          <a:blip r:embed="rId4"/>
          <a:stretch>
            <a:fillRect/>
          </a:stretch>
        </p:blipFill>
        <p:spPr>
          <a:xfrm>
            <a:off x="827532" y="73152"/>
            <a:ext cx="1097280" cy="4480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Image 3" descr="C:\Users\Admin\Desktop\Adpilot Progect\presentation_assets\logo_mtc.png"/>
          <p:cNvPicPr>
            <a:picLocks noChangeAspect="1"/>
          </p:cNvPicPr>
          <p:nvPr/>
        </p:nvPicPr>
        <p:blipFill>
          <a:blip r:embed="rId5"/>
          <a:stretch>
            <a:fillRect/>
          </a:stretch>
        </p:blipFill>
        <p:spPr>
          <a:xfrm>
            <a:off x="7676388" y="91440"/>
            <a:ext cx="640080" cy="5943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Image 4" descr="C:\Users\Admin\Desktop\Adpilot Progect\presentation_assets\logo_military_academy.png"/>
          <p:cNvPicPr>
            <a:picLocks noChangeAspect="1"/>
          </p:cNvPicPr>
          <p:nvPr/>
        </p:nvPicPr>
        <p:blipFill>
          <a:blip r:embed="rId6"/>
          <a:stretch>
            <a:fillRect/>
          </a:stretch>
        </p:blipFill>
        <p:spPr>
          <a:xfrm>
            <a:off x="8522208" y="57150"/>
            <a:ext cx="621792" cy="5943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Shape 3"/>
          <p:cNvSpPr/>
          <p:nvPr/>
        </p:nvSpPr>
        <p:spPr>
          <a:xfrm>
            <a:off x="548640" y="1965960"/>
            <a:ext cx="3931920" cy="2514600"/>
          </a:xfrm>
          <a:prstGeom prst="roundRect">
            <a:avLst>
              <a:gd name="adj" fmla="val 2909"/>
            </a:avLst>
          </a:prstGeom>
          <a:solidFill>
            <a:srgbClr val="131D31"/>
          </a:solidFill>
          <a:ln w="12700">
            <a:solidFill>
              <a:srgbClr val="233554"/>
            </a:solidFill>
            <a:prstDash val="solid"/>
          </a:ln>
        </p:spPr>
        <p:txBody>
          <a:bodyPr/>
          <a:lstStyle/>
          <a:p>
            <a:endParaRPr lang="en-US" dirty="0"/>
          </a:p>
        </p:txBody>
      </p:sp>
      <p:sp>
        <p:nvSpPr>
          <p:cNvPr id="11" name="Shape 4"/>
          <p:cNvSpPr/>
          <p:nvPr/>
        </p:nvSpPr>
        <p:spPr>
          <a:xfrm>
            <a:off x="731520" y="2103120"/>
            <a:ext cx="2011680" cy="228600"/>
          </a:xfrm>
          <a:prstGeom prst="roundRect">
            <a:avLst>
              <a:gd name="adj" fmla="val 20000"/>
            </a:avLst>
          </a:prstGeom>
          <a:solidFill>
            <a:srgbClr val="064E3B"/>
          </a:solidFill>
          <a:ln w="10160">
            <a:solidFill>
              <a:srgbClr val="10B981"/>
            </a:solidFill>
            <a:prstDash val="solid"/>
          </a:ln>
        </p:spPr>
      </p:sp>
      <p:sp>
        <p:nvSpPr>
          <p:cNvPr id="12" name="Text 5"/>
          <p:cNvSpPr/>
          <p:nvPr/>
        </p:nvSpPr>
        <p:spPr>
          <a:xfrm>
            <a:off x="731520" y="2121408"/>
            <a:ext cx="2011680" cy="192024"/>
          </a:xfrm>
          <a:prstGeom prst="rect">
            <a:avLst/>
          </a:prstGeom>
          <a:noFill/>
          <a:ln/>
        </p:spPr>
        <p:txBody>
          <a:bodyPr wrap="square" rtlCol="0" anchor="ctr"/>
          <a:lstStyle/>
          <a:p>
            <a:pPr marL="0" indent="0" algn="ctr">
              <a:buNone/>
            </a:pPr>
            <a:r>
              <a:rPr lang="en-US" sz="800" b="1" dirty="0">
                <a:solidFill>
                  <a:srgbClr val="10B981"/>
                </a:solidFill>
                <a:latin typeface="Arial" pitchFamily="34" charset="0"/>
                <a:ea typeface="Arial" pitchFamily="34" charset="-122"/>
                <a:cs typeface="Arial" pitchFamily="34" charset="-120"/>
              </a:rPr>
              <a:t>CORE ENGINEERING TEAM</a:t>
            </a:r>
            <a:endParaRPr lang="en-US" sz="800" dirty="0"/>
          </a:p>
        </p:txBody>
      </p:sp>
      <p:sp>
        <p:nvSpPr>
          <p:cNvPr id="13" name="Text 6"/>
          <p:cNvSpPr/>
          <p:nvPr/>
        </p:nvSpPr>
        <p:spPr>
          <a:xfrm>
            <a:off x="731520" y="2423160"/>
            <a:ext cx="35661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Mohamed Abd Elsalam Mohamed Gharieb</a:t>
            </a:r>
            <a:endParaRPr lang="en-US" sz="850" dirty="0"/>
          </a:p>
        </p:txBody>
      </p:sp>
      <p:sp>
        <p:nvSpPr>
          <p:cNvPr id="14" name="Text 7"/>
          <p:cNvSpPr/>
          <p:nvPr/>
        </p:nvSpPr>
        <p:spPr>
          <a:xfrm>
            <a:off x="731520" y="2587752"/>
            <a:ext cx="3566160" cy="182880"/>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Team Lead • Master Orchestrator &amp; Strategy Engine</a:t>
            </a:r>
            <a:endParaRPr lang="en-US" sz="750" dirty="0"/>
          </a:p>
        </p:txBody>
      </p:sp>
      <p:sp>
        <p:nvSpPr>
          <p:cNvPr id="15" name="Text 8"/>
          <p:cNvSpPr/>
          <p:nvPr/>
        </p:nvSpPr>
        <p:spPr>
          <a:xfrm>
            <a:off x="731520" y="2807208"/>
            <a:ext cx="35661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Ahmed Awni</a:t>
            </a:r>
            <a:endParaRPr lang="en-US" sz="850" dirty="0"/>
          </a:p>
        </p:txBody>
      </p:sp>
      <p:sp>
        <p:nvSpPr>
          <p:cNvPr id="16" name="Text 9"/>
          <p:cNvSpPr/>
          <p:nvPr/>
        </p:nvSpPr>
        <p:spPr>
          <a:xfrm>
            <a:off x="731520" y="2971800"/>
            <a:ext cx="3566160" cy="182880"/>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AI Engineer • Research Agent &amp; Market Intelligence</a:t>
            </a:r>
            <a:endParaRPr lang="en-US" sz="750" dirty="0"/>
          </a:p>
        </p:txBody>
      </p:sp>
      <p:sp>
        <p:nvSpPr>
          <p:cNvPr id="17" name="Text 10"/>
          <p:cNvSpPr/>
          <p:nvPr/>
        </p:nvSpPr>
        <p:spPr>
          <a:xfrm>
            <a:off x="731520" y="3191256"/>
            <a:ext cx="35661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Mohamed Sleem</a:t>
            </a:r>
            <a:endParaRPr lang="en-US" sz="850" dirty="0"/>
          </a:p>
        </p:txBody>
      </p:sp>
      <p:sp>
        <p:nvSpPr>
          <p:cNvPr id="18" name="Text 11"/>
          <p:cNvSpPr/>
          <p:nvPr/>
        </p:nvSpPr>
        <p:spPr>
          <a:xfrm>
            <a:off x="731520" y="3355848"/>
            <a:ext cx="3566160" cy="182880"/>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AI Engineer • Content Agent &amp; Multi-Format Copywriting</a:t>
            </a:r>
            <a:endParaRPr lang="en-US" sz="750" dirty="0"/>
          </a:p>
        </p:txBody>
      </p:sp>
      <p:sp>
        <p:nvSpPr>
          <p:cNvPr id="19" name="Text 12"/>
          <p:cNvSpPr/>
          <p:nvPr/>
        </p:nvSpPr>
        <p:spPr>
          <a:xfrm>
            <a:off x="731520" y="3575304"/>
            <a:ext cx="3566160" cy="182880"/>
          </a:xfrm>
          <a:prstGeom prst="rect">
            <a:avLst/>
          </a:prstGeom>
          <a:noFill/>
          <a:ln/>
        </p:spPr>
        <p:txBody>
          <a:bodyPr wrap="square" rtlCol="0" anchor="ctr"/>
          <a:lstStyle/>
          <a:p>
            <a:r>
              <a:rPr lang="en-US" sz="850" b="1" dirty="0">
                <a:solidFill>
                  <a:srgbClr val="F8FAFC"/>
                </a:solidFill>
                <a:latin typeface="Arial" pitchFamily="34" charset="0"/>
                <a:ea typeface="Arial" pitchFamily="34" charset="-122"/>
                <a:cs typeface="Arial" pitchFamily="34" charset="-120"/>
              </a:rPr>
              <a:t>Mohamed</a:t>
            </a:r>
            <a:r>
              <a:rPr lang="ar-EG" sz="850" b="1" dirty="0">
                <a:solidFill>
                  <a:srgbClr val="F8FAFC"/>
                </a:solidFill>
                <a:latin typeface="Arial" pitchFamily="34" charset="0"/>
                <a:ea typeface="Arial" pitchFamily="34" charset="-122"/>
                <a:cs typeface="Arial" pitchFamily="34" charset="-120"/>
              </a:rPr>
              <a:t> </a:t>
            </a:r>
            <a:r>
              <a:rPr lang="en-US" sz="850" b="1" dirty="0">
                <a:solidFill>
                  <a:srgbClr val="F8FAFC"/>
                </a:solidFill>
                <a:latin typeface="Arial" pitchFamily="34" charset="0"/>
                <a:ea typeface="Arial" pitchFamily="34" charset="-122"/>
                <a:cs typeface="Arial" pitchFamily="34" charset="-120"/>
              </a:rPr>
              <a:t>Khaled</a:t>
            </a:r>
            <a:endParaRPr lang="en-US" sz="850" dirty="0"/>
          </a:p>
        </p:txBody>
      </p:sp>
      <p:sp>
        <p:nvSpPr>
          <p:cNvPr id="20" name="Text 13"/>
          <p:cNvSpPr/>
          <p:nvPr/>
        </p:nvSpPr>
        <p:spPr>
          <a:xfrm>
            <a:off x="731520" y="3739896"/>
            <a:ext cx="3566160" cy="182880"/>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ML Engineer • Predictive Analytics &amp; Scoring Rubrics</a:t>
            </a:r>
            <a:endParaRPr lang="en-US" sz="750" dirty="0"/>
          </a:p>
        </p:txBody>
      </p:sp>
      <p:sp>
        <p:nvSpPr>
          <p:cNvPr id="21" name="Text 14"/>
          <p:cNvSpPr/>
          <p:nvPr/>
        </p:nvSpPr>
        <p:spPr>
          <a:xfrm>
            <a:off x="731520" y="3959352"/>
            <a:ext cx="3566160" cy="182880"/>
          </a:xfrm>
          <a:prstGeom prst="rect">
            <a:avLst/>
          </a:prstGeom>
          <a:noFill/>
          <a:ln/>
        </p:spPr>
        <p:txBody>
          <a:bodyPr wrap="square" rtlCol="0" anchor="ctr"/>
          <a:lstStyle/>
          <a:p>
            <a:pPr marL="0" indent="0">
              <a:buNone/>
            </a:pPr>
            <a:r>
              <a:rPr lang="en-US" sz="850" b="1" dirty="0">
                <a:solidFill>
                  <a:srgbClr val="F8FAFC"/>
                </a:solidFill>
                <a:latin typeface="Arial" pitchFamily="34" charset="0"/>
                <a:ea typeface="Arial" pitchFamily="34" charset="-122"/>
                <a:cs typeface="Arial" pitchFamily="34" charset="-120"/>
              </a:rPr>
              <a:t>Karem Tarek</a:t>
            </a:r>
            <a:endParaRPr lang="en-US" sz="850" dirty="0"/>
          </a:p>
        </p:txBody>
      </p:sp>
      <p:sp>
        <p:nvSpPr>
          <p:cNvPr id="22" name="Text 15"/>
          <p:cNvSpPr/>
          <p:nvPr/>
        </p:nvSpPr>
        <p:spPr>
          <a:xfrm>
            <a:off x="731520" y="4123944"/>
            <a:ext cx="3566160" cy="182880"/>
          </a:xfrm>
          <a:prstGeom prst="rect">
            <a:avLst/>
          </a:prstGeom>
          <a:noFill/>
          <a:ln/>
        </p:spPr>
        <p:txBody>
          <a:bodyPr wrap="square" rtlCol="0" anchor="ctr"/>
          <a:lstStyle/>
          <a:p>
            <a:pPr marL="0" indent="0">
              <a:buNone/>
            </a:pPr>
            <a:r>
              <a:rPr lang="en-US" sz="750" dirty="0">
                <a:solidFill>
                  <a:srgbClr val="34D399"/>
                </a:solidFill>
                <a:latin typeface="Arial" pitchFamily="34" charset="0"/>
                <a:ea typeface="Arial" pitchFamily="34" charset="-122"/>
                <a:cs typeface="Arial" pitchFamily="34" charset="-120"/>
              </a:rPr>
              <a:t>AI Engineer • Design Agent &amp; DALL·E 3 Prompt Engine</a:t>
            </a:r>
            <a:endParaRPr lang="en-US" sz="750" dirty="0"/>
          </a:p>
        </p:txBody>
      </p:sp>
      <p:sp>
        <p:nvSpPr>
          <p:cNvPr id="23" name="Shape 16"/>
          <p:cNvSpPr/>
          <p:nvPr/>
        </p:nvSpPr>
        <p:spPr>
          <a:xfrm>
            <a:off x="4663440" y="1965960"/>
            <a:ext cx="3931920" cy="2514600"/>
          </a:xfrm>
          <a:prstGeom prst="roundRect">
            <a:avLst>
              <a:gd name="adj" fmla="val 2909"/>
            </a:avLst>
          </a:prstGeom>
          <a:solidFill>
            <a:srgbClr val="131D31"/>
          </a:solidFill>
          <a:ln w="12700">
            <a:solidFill>
              <a:srgbClr val="233554"/>
            </a:solidFill>
            <a:prstDash val="solid"/>
          </a:ln>
        </p:spPr>
      </p:sp>
      <p:sp>
        <p:nvSpPr>
          <p:cNvPr id="24" name="Shape 17"/>
          <p:cNvSpPr/>
          <p:nvPr/>
        </p:nvSpPr>
        <p:spPr>
          <a:xfrm>
            <a:off x="4846320" y="2103120"/>
            <a:ext cx="2194560" cy="228600"/>
          </a:xfrm>
          <a:prstGeom prst="roundRect">
            <a:avLst>
              <a:gd name="adj" fmla="val 20000"/>
            </a:avLst>
          </a:prstGeom>
          <a:solidFill>
            <a:srgbClr val="0C2B40"/>
          </a:solidFill>
          <a:ln w="10160">
            <a:solidFill>
              <a:srgbClr val="0EA5E9"/>
            </a:solidFill>
            <a:prstDash val="solid"/>
          </a:ln>
        </p:spPr>
      </p:sp>
      <p:sp>
        <p:nvSpPr>
          <p:cNvPr id="25" name="Text 18"/>
          <p:cNvSpPr/>
          <p:nvPr/>
        </p:nvSpPr>
        <p:spPr>
          <a:xfrm>
            <a:off x="4846320" y="2121408"/>
            <a:ext cx="2194560" cy="192024"/>
          </a:xfrm>
          <a:prstGeom prst="rect">
            <a:avLst/>
          </a:prstGeom>
          <a:noFill/>
          <a:ln/>
        </p:spPr>
        <p:txBody>
          <a:bodyPr wrap="square" rtlCol="0" anchor="ctr"/>
          <a:lstStyle/>
          <a:p>
            <a:pPr marL="0" indent="0" algn="ctr">
              <a:buNone/>
            </a:pPr>
            <a:r>
              <a:rPr lang="en-US" sz="800" b="1" dirty="0">
                <a:solidFill>
                  <a:srgbClr val="0EA5E9"/>
                </a:solidFill>
                <a:latin typeface="Arial" pitchFamily="34" charset="0"/>
                <a:ea typeface="Arial" pitchFamily="34" charset="-122"/>
                <a:cs typeface="Arial" pitchFamily="34" charset="-120"/>
              </a:rPr>
              <a:t>INSTITUTIONAL SUPERVISION</a:t>
            </a:r>
            <a:endParaRPr lang="en-US" sz="800" dirty="0"/>
          </a:p>
        </p:txBody>
      </p:sp>
      <p:sp>
        <p:nvSpPr>
          <p:cNvPr id="26" name="Text 19"/>
          <p:cNvSpPr/>
          <p:nvPr/>
        </p:nvSpPr>
        <p:spPr>
          <a:xfrm>
            <a:off x="4846320" y="2468880"/>
            <a:ext cx="3566160" cy="1280160"/>
          </a:xfrm>
          <a:prstGeom prst="rect">
            <a:avLst/>
          </a:prstGeom>
          <a:noFill/>
          <a:ln/>
        </p:spPr>
        <p:txBody>
          <a:bodyPr wrap="square" rtlCol="0" anchor="ctr"/>
          <a:lstStyle/>
          <a:p>
            <a:pPr marL="0" indent="0">
              <a:buNone/>
            </a:pPr>
            <a:r>
              <a:rPr lang="en-US" sz="850" dirty="0">
                <a:solidFill>
                  <a:srgbClr val="CBD5E1"/>
                </a:solidFill>
                <a:latin typeface="Arial" pitchFamily="34" charset="0"/>
                <a:ea typeface="Arial" pitchFamily="34" charset="-122"/>
                <a:cs typeface="Arial" pitchFamily="34" charset="-120"/>
              </a:rPr>
              <a:t>Program: Digital Pioneers Initiative (DiGiLiANS)</a:t>
            </a:r>
            <a:endParaRPr lang="en-US" sz="850" dirty="0"/>
          </a:p>
          <a:p>
            <a:pPr marL="0" indent="0">
              <a:buNone/>
            </a:pPr>
            <a:r>
              <a:rPr lang="en-US" sz="850" dirty="0">
                <a:solidFill>
                  <a:srgbClr val="CBD5E1"/>
                </a:solidFill>
                <a:latin typeface="Arial" pitchFamily="34" charset="0"/>
                <a:ea typeface="Arial" pitchFamily="34" charset="-122"/>
                <a:cs typeface="Arial" pitchFamily="34" charset="-120"/>
              </a:rPr>
              <a:t>Track: Artificial Intelligence &amp; Data Science (AI)</a:t>
            </a:r>
            <a:endParaRPr lang="en-US" sz="850" dirty="0"/>
          </a:p>
          <a:p>
            <a:pPr marL="0" indent="0">
              <a:buNone/>
            </a:pPr>
            <a:r>
              <a:rPr lang="en-US" sz="850" dirty="0">
                <a:solidFill>
                  <a:srgbClr val="CBD5E1"/>
                </a:solidFill>
                <a:latin typeface="Arial" pitchFamily="34" charset="0"/>
                <a:ea typeface="Arial" pitchFamily="34" charset="-122"/>
                <a:cs typeface="Arial" pitchFamily="34" charset="-120"/>
              </a:rPr>
              <a:t>Supervision: Academic Director &amp; Technical Advisors</a:t>
            </a:r>
            <a:endParaRPr lang="en-US" sz="850" dirty="0"/>
          </a:p>
          <a:p>
            <a:pPr marL="0" indent="0">
              <a:buNone/>
            </a:pPr>
            <a:r>
              <a:rPr lang="en-US" sz="850" dirty="0">
                <a:solidFill>
                  <a:srgbClr val="CBD5E1"/>
                </a:solidFill>
                <a:latin typeface="Arial" pitchFamily="34" charset="0"/>
                <a:ea typeface="Arial" pitchFamily="34" charset="-122"/>
                <a:cs typeface="Arial" pitchFamily="34" charset="-120"/>
              </a:rPr>
              <a:t>Institutions: Ministry of Communications and Information Technology (MCIT) &amp; Military Technical College (MTC)</a:t>
            </a:r>
            <a:endParaRPr lang="en-US" sz="850" dirty="0"/>
          </a:p>
          <a:p>
            <a:pPr marL="0" indent="0">
              <a:buNone/>
            </a:pPr>
            <a:r>
              <a:rPr lang="en-US" sz="850" dirty="0">
                <a:solidFill>
                  <a:srgbClr val="CBD5E1"/>
                </a:solidFill>
                <a:latin typeface="Arial" pitchFamily="34" charset="0"/>
                <a:ea typeface="Arial" pitchFamily="34" charset="-122"/>
                <a:cs typeface="Arial" pitchFamily="34" charset="-120"/>
              </a:rPr>
              <a:t>Date: June 2026</a:t>
            </a:r>
            <a:endParaRPr lang="en-US" sz="850" dirty="0"/>
          </a:p>
        </p:txBody>
      </p:sp>
      <p:sp>
        <p:nvSpPr>
          <p:cNvPr id="27" name="Text 20"/>
          <p:cNvSpPr/>
          <p:nvPr/>
        </p:nvSpPr>
        <p:spPr>
          <a:xfrm>
            <a:off x="4846320" y="3840480"/>
            <a:ext cx="3566160" cy="59436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We sincerely thank MCIT Egypt, the Egyptian Military Academy, and the Military Technical College for their dedicated support.</a:t>
            </a:r>
            <a:endParaRPr lang="en-US" sz="800" dirty="0"/>
          </a:p>
        </p:txBody>
      </p:sp>
      <p:sp>
        <p:nvSpPr>
          <p:cNvPr id="28" name="Text 21"/>
          <p:cNvSpPr/>
          <p:nvPr/>
        </p:nvSpPr>
        <p:spPr>
          <a:xfrm>
            <a:off x="548640" y="4800600"/>
            <a:ext cx="8046720" cy="228600"/>
          </a:xfrm>
          <a:prstGeom prst="rect">
            <a:avLst/>
          </a:prstGeom>
          <a:noFill/>
          <a:ln/>
        </p:spPr>
        <p:txBody>
          <a:bodyPr wrap="square" rtlCol="0" anchor="ctr"/>
          <a:lstStyle/>
          <a:p>
            <a:pPr marL="0" indent="0" algn="ctr">
              <a:buNone/>
            </a:pPr>
            <a:r>
              <a:rPr lang="en-US" sz="850" b="1" dirty="0">
                <a:solidFill>
                  <a:srgbClr val="10B981"/>
                </a:solidFill>
                <a:latin typeface="Arial" pitchFamily="34" charset="0"/>
                <a:ea typeface="Arial" pitchFamily="34" charset="-122"/>
                <a:cs typeface="Arial" pitchFamily="34" charset="-120"/>
              </a:rPr>
              <a:t>ADPILOT PRO • DIgiLiANS CAPSTONE DEFENSE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5596</Words>
  <Application>Microsoft Office PowerPoint</Application>
  <PresentationFormat>On-screen Show (16:9)</PresentationFormat>
  <Paragraphs>757</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ADPilot Pro: Executive AI Marketing Operating System</dc:title>
  <dc:subject>Enterprise Autonomous Multi-Agent AI Marketing OS</dc:subject>
  <dc:creator>ADPilot Engineering Team (Gharieb, Awni, Sleem, Khaled, Karem)</dc:creator>
  <cp:lastModifiedBy>Admin</cp:lastModifiedBy>
  <cp:revision>3</cp:revision>
  <dcterms:created xsi:type="dcterms:W3CDTF">2026-08-23T10:19:08Z</dcterms:created>
  <dcterms:modified xsi:type="dcterms:W3CDTF">2026-08-23T11:31:41Z</dcterms:modified>
</cp:coreProperties>
</file>